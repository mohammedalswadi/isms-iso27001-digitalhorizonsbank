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5.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301"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tx>
        <c:rich>
          <a:bodyPr/>
          <a:lstStyle/>
          <a:p>
            <a:pPr>
              <a:defRPr sz="1300" b="0" i="0" u="none" strike="noStrike">
                <a:solidFill>
                  <a:srgbClr val="1F3B57"/>
                </a:solidFill>
                <a:latin typeface="Arial"/>
              </a:defRPr>
            </a:pPr>
            <a:r>
              <a:rPr lang="ar-SA" sz="1300" b="0" i="0" u="none" strike="noStrike">
                <a:solidFill>
                  <a:srgbClr val="1F3B57"/>
                </a:solidFill>
                <a:latin typeface="Arial"/>
              </a:rPr>
              <a:t>توزيع حالة 140 بنداً/ضابطاً</a:t>
            </a:r>
          </a:p>
        </c:rich>
      </c:tx>
      <c:overlay val="0"/>
    </c:title>
    <c:autoTitleDeleted val="0"/>
    <c:plotArea>
      <c:layout/>
      <c:doughnutChart>
        <c:varyColors val="1"/>
        <c:ser>
          <c:idx val="0"/>
          <c:order val="0"/>
          <c:tx>
            <c:strRef>
              <c:f>Sheet1!$B$1</c:f>
              <c:strCache>
                <c:ptCount val="1"/>
                <c:pt idx="0">
                  <c:v>الحالة</c:v>
                </c:pt>
              </c:strCache>
            </c:strRef>
          </c:tx>
          <c:spPr>
            <a:solidFill>
              <a:schemeClr val="accent1"/>
            </a:solidFill>
            <a:ln w="9525" cap="flat">
              <a:solidFill>
                <a:srgbClr val="F9F9F9"/>
              </a:solidFill>
              <a:prstDash val="solid"/>
              <a:round/>
            </a:ln>
            <a:effectLst/>
          </c:spPr>
          <c:dPt>
            <c:idx val="0"/>
            <c:bubble3D val="0"/>
            <c:spPr>
              <a:solidFill>
                <a:srgbClr val="B3261E"/>
              </a:solidFill>
              <a:effectLst/>
            </c:spPr>
            <c:extLst>
              <c:ext xmlns:c16="http://schemas.microsoft.com/office/drawing/2014/chart" uri="{C3380CC4-5D6E-409C-BE32-E72D297353CC}">
                <c16:uniqueId val="{00000001-4645-4216-BDF0-5994EC487815}"/>
              </c:ext>
            </c:extLst>
          </c:dPt>
          <c:dPt>
            <c:idx val="1"/>
            <c:bubble3D val="0"/>
            <c:spPr>
              <a:solidFill>
                <a:srgbClr val="B08D27"/>
              </a:solidFill>
              <a:effectLst/>
            </c:spPr>
            <c:extLst>
              <c:ext xmlns:c16="http://schemas.microsoft.com/office/drawing/2014/chart" uri="{C3380CC4-5D6E-409C-BE32-E72D297353CC}">
                <c16:uniqueId val="{00000003-4645-4216-BDF0-5994EC487815}"/>
              </c:ext>
            </c:extLst>
          </c:dPt>
          <c:dPt>
            <c:idx val="2"/>
            <c:bubble3D val="0"/>
            <c:spPr>
              <a:solidFill>
                <a:srgbClr val="3A7D44"/>
              </a:solidFill>
              <a:effectLst/>
            </c:spPr>
            <c:extLst>
              <c:ext xmlns:c16="http://schemas.microsoft.com/office/drawing/2014/chart" uri="{C3380CC4-5D6E-409C-BE32-E72D297353CC}">
                <c16:uniqueId val="{00000005-4645-4216-BDF0-5994EC487815}"/>
              </c:ext>
            </c:extLst>
          </c:dPt>
          <c:dPt>
            <c:idx val="3"/>
            <c:bubble3D val="0"/>
            <c:spPr>
              <a:solidFill>
                <a:srgbClr val="6B7280"/>
              </a:solidFill>
              <a:effectLst/>
            </c:spPr>
            <c:extLst>
              <c:ext xmlns:c16="http://schemas.microsoft.com/office/drawing/2014/chart" uri="{C3380CC4-5D6E-409C-BE32-E72D297353CC}">
                <c16:uniqueId val="{00000007-4645-4216-BDF0-5994EC487815}"/>
              </c:ext>
            </c:extLst>
          </c:dPt>
          <c:dLbls>
            <c:dLbl>
              <c:idx val="0"/>
              <c:numFmt formatCode="#"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645-4216-BDF0-5994EC487815}"/>
                </c:ext>
              </c:extLst>
            </c:dLbl>
            <c:dLbl>
              <c:idx val="1"/>
              <c:numFmt formatCode="#"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645-4216-BDF0-5994EC487815}"/>
                </c:ext>
              </c:extLst>
            </c:dLbl>
            <c:dLbl>
              <c:idx val="2"/>
              <c:numFmt formatCode="#"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645-4216-BDF0-5994EC487815}"/>
                </c:ext>
              </c:extLst>
            </c:dLbl>
            <c:dLbl>
              <c:idx val="3"/>
              <c:numFmt formatCode="#"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645-4216-BDF0-5994EC487815}"/>
                </c:ext>
              </c:extLst>
            </c:dLbl>
            <c:numFmt formatCode="#"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غير مطبق (NO)</c:v>
                </c:pt>
                <c:pt idx="1">
                  <c:v>مطبق جزئياً (PARTIAL)</c:v>
                </c:pt>
                <c:pt idx="2">
                  <c:v>مطبق (YES)</c:v>
                </c:pt>
                <c:pt idx="3">
                  <c:v>غير منطبق</c:v>
                </c:pt>
              </c:strCache>
            </c:strRef>
          </c:cat>
          <c:val>
            <c:numRef>
              <c:f>Sheet1!$B$2:$B$5</c:f>
              <c:numCache>
                <c:formatCode>General</c:formatCode>
                <c:ptCount val="4"/>
                <c:pt idx="0">
                  <c:v>59</c:v>
                </c:pt>
                <c:pt idx="1">
                  <c:v>68</c:v>
                </c:pt>
                <c:pt idx="2">
                  <c:v>12</c:v>
                </c:pt>
                <c:pt idx="3">
                  <c:v>1</c:v>
                </c:pt>
              </c:numCache>
            </c:numRef>
          </c:val>
          <c:extLst>
            <c:ext xmlns:c16="http://schemas.microsoft.com/office/drawing/2014/chart" uri="{C3380CC4-5D6E-409C-BE32-E72D297353CC}">
              <c16:uniqueId val="{00000008-4645-4216-BDF0-5994EC487815}"/>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tx>
        <c:rich>
          <a:bodyPr/>
          <a:lstStyle/>
          <a:p>
            <a:pPr>
              <a:defRPr sz="1300" b="0" i="0" u="none" strike="noStrike">
                <a:solidFill>
                  <a:srgbClr val="1F3B57"/>
                </a:solidFill>
                <a:latin typeface="Arial"/>
              </a:defRPr>
            </a:pPr>
            <a:r>
              <a:rPr lang="ar-SA" sz="1300" b="0" i="0" u="none" strike="noStrike">
                <a:solidFill>
                  <a:srgbClr val="1F3B57"/>
                </a:solidFill>
                <a:latin typeface="Arial"/>
              </a:rPr>
              <a:t>توزيع الأصول حسب الفئة</a:t>
            </a:r>
          </a:p>
        </c:rich>
      </c:tx>
      <c:overlay val="0"/>
    </c:title>
    <c:autoTitleDeleted val="0"/>
    <c:plotArea>
      <c:layout/>
      <c:barChart>
        <c:barDir val="col"/>
        <c:grouping val="clustered"/>
        <c:varyColors val="0"/>
        <c:ser>
          <c:idx val="0"/>
          <c:order val="0"/>
          <c:tx>
            <c:strRef>
              <c:f>Sheet1!$B$1</c:f>
              <c:strCache>
                <c:ptCount val="1"/>
                <c:pt idx="0">
                  <c:v>عدد الأصول</c:v>
                </c:pt>
              </c:strCache>
            </c:strRef>
          </c:tx>
          <c:spPr>
            <a:solidFill>
              <a:srgbClr val="1F3B57"/>
            </a:solidFill>
            <a:effectLst/>
          </c:spPr>
          <c:invertIfNegative val="0"/>
          <c:dLbls>
            <c:numFmt formatCode="#,##0" sourceLinked="0"/>
            <c:spPr>
              <a:noFill/>
              <a:ln>
                <a:noFill/>
              </a:ln>
              <a:effectLst/>
            </c:spPr>
            <c:txPr>
              <a:bodyPr/>
              <a:lstStyle/>
              <a:p>
                <a:pPr>
                  <a:defRPr sz="12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تقنية</c:v>
                </c:pt>
                <c:pt idx="1">
                  <c:v>بيانات</c:v>
                </c:pt>
                <c:pt idx="2">
                  <c:v>تطبيق</c:v>
                </c:pt>
                <c:pt idx="3">
                  <c:v>مادي</c:v>
                </c:pt>
                <c:pt idx="4">
                  <c:v>معلومات تقنية</c:v>
                </c:pt>
                <c:pt idx="5">
                  <c:v>بشري</c:v>
                </c:pt>
              </c:strCache>
            </c:strRef>
          </c:cat>
          <c:val>
            <c:numRef>
              <c:f>Sheet1!$B$2:$B$7</c:f>
              <c:numCache>
                <c:formatCode>General</c:formatCode>
                <c:ptCount val="6"/>
                <c:pt idx="0">
                  <c:v>11</c:v>
                </c:pt>
                <c:pt idx="1">
                  <c:v>9</c:v>
                </c:pt>
                <c:pt idx="2">
                  <c:v>9</c:v>
                </c:pt>
                <c:pt idx="3">
                  <c:v>9</c:v>
                </c:pt>
                <c:pt idx="4">
                  <c:v>1</c:v>
                </c:pt>
                <c:pt idx="5">
                  <c:v>1</c:v>
                </c:pt>
              </c:numCache>
            </c:numRef>
          </c:val>
          <c:extLst>
            <c:ext xmlns:c16="http://schemas.microsoft.com/office/drawing/2014/chart" uri="{C3380CC4-5D6E-409C-BE32-E72D297353CC}">
              <c16:uniqueId val="{00000000-9A16-4B25-9CB0-DA2F27B77E2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tx>
        <c:rich>
          <a:bodyPr/>
          <a:lstStyle/>
          <a:p>
            <a:pPr>
              <a:defRPr sz="1300" b="0" i="0" u="none" strike="noStrike">
                <a:solidFill>
                  <a:srgbClr val="1F3B57"/>
                </a:solidFill>
                <a:latin typeface="Arial"/>
              </a:defRPr>
            </a:pPr>
            <a:r>
              <a:rPr lang="ar-SA" sz="1300" b="0" i="0" u="none" strike="noStrike">
                <a:solidFill>
                  <a:srgbClr val="1F3B57"/>
                </a:solidFill>
                <a:latin typeface="Arial"/>
              </a:rPr>
              <a:t>توزيع 15 خطراً حسب المستوى</a:t>
            </a:r>
          </a:p>
        </c:rich>
      </c:tx>
      <c:overlay val="0"/>
    </c:title>
    <c:autoTitleDeleted val="0"/>
    <c:plotArea>
      <c:layout/>
      <c:pieChart>
        <c:varyColors val="1"/>
        <c:ser>
          <c:idx val="0"/>
          <c:order val="0"/>
          <c:tx>
            <c:strRef>
              <c:f>Sheet1!$B$1</c:f>
              <c:strCache>
                <c:ptCount val="1"/>
                <c:pt idx="0">
                  <c:v>المستوى</c:v>
                </c:pt>
              </c:strCache>
            </c:strRef>
          </c:tx>
          <c:spPr>
            <a:solidFill>
              <a:schemeClr val="accent1"/>
            </a:solidFill>
            <a:ln w="9525" cap="flat">
              <a:solidFill>
                <a:srgbClr val="F9F9F9"/>
              </a:solidFill>
              <a:prstDash val="solid"/>
              <a:round/>
            </a:ln>
            <a:effectLst/>
          </c:spPr>
          <c:dPt>
            <c:idx val="0"/>
            <c:bubble3D val="0"/>
            <c:spPr>
              <a:solidFill>
                <a:srgbClr val="B3261E"/>
              </a:solidFill>
              <a:effectLst/>
            </c:spPr>
            <c:extLst>
              <c:ext xmlns:c16="http://schemas.microsoft.com/office/drawing/2014/chart" uri="{C3380CC4-5D6E-409C-BE32-E72D297353CC}">
                <c16:uniqueId val="{00000001-6254-49DE-ADC3-111C3E125047}"/>
              </c:ext>
            </c:extLst>
          </c:dPt>
          <c:dPt>
            <c:idx val="1"/>
            <c:bubble3D val="0"/>
            <c:spPr>
              <a:solidFill>
                <a:srgbClr val="E07B39"/>
              </a:solidFill>
              <a:effectLst/>
            </c:spPr>
            <c:extLst>
              <c:ext xmlns:c16="http://schemas.microsoft.com/office/drawing/2014/chart" uri="{C3380CC4-5D6E-409C-BE32-E72D297353CC}">
                <c16:uniqueId val="{00000003-6254-49DE-ADC3-111C3E125047}"/>
              </c:ext>
            </c:extLst>
          </c:dPt>
          <c:dPt>
            <c:idx val="2"/>
            <c:bubble3D val="0"/>
            <c:spPr>
              <a:solidFill>
                <a:srgbClr val="B08D27"/>
              </a:solidFill>
              <a:effectLst/>
            </c:spPr>
            <c:extLst>
              <c:ext xmlns:c16="http://schemas.microsoft.com/office/drawing/2014/chart" uri="{C3380CC4-5D6E-409C-BE32-E72D297353CC}">
                <c16:uniqueId val="{00000005-6254-49DE-ADC3-111C3E125047}"/>
              </c:ext>
            </c:extLst>
          </c:dPt>
          <c:dLbls>
            <c:dLbl>
              <c:idx val="0"/>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254-49DE-ADC3-111C3E125047}"/>
                </c:ext>
              </c:extLst>
            </c:dLbl>
            <c:dLbl>
              <c:idx val="1"/>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54-49DE-ADC3-111C3E125047}"/>
                </c:ext>
              </c:extLst>
            </c:dLbl>
            <c:dLbl>
              <c:idx val="2"/>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54-49DE-ADC3-111C3E125047}"/>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حرج</c:v>
                </c:pt>
                <c:pt idx="1">
                  <c:v>عالٍ</c:v>
                </c:pt>
                <c:pt idx="2">
                  <c:v>متوسط</c:v>
                </c:pt>
              </c:strCache>
            </c:strRef>
          </c:cat>
          <c:val>
            <c:numRef>
              <c:f>Sheet1!$B$2:$B$4</c:f>
              <c:numCache>
                <c:formatCode>General</c:formatCode>
                <c:ptCount val="3"/>
                <c:pt idx="0">
                  <c:v>2</c:v>
                </c:pt>
                <c:pt idx="1">
                  <c:v>10</c:v>
                </c:pt>
                <c:pt idx="2">
                  <c:v>3</c:v>
                </c:pt>
              </c:numCache>
            </c:numRef>
          </c:val>
          <c:extLst>
            <c:ext xmlns:c16="http://schemas.microsoft.com/office/drawing/2014/chart" uri="{C3380CC4-5D6E-409C-BE32-E72D297353CC}">
              <c16:uniqueId val="{00000006-6254-49DE-ADC3-111C3E12504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tx>
        <c:rich>
          <a:bodyPr/>
          <a:lstStyle/>
          <a:p>
            <a:pPr>
              <a:defRPr sz="1300" b="0" i="0" u="none" strike="noStrike">
                <a:solidFill>
                  <a:srgbClr val="1F3B57"/>
                </a:solidFill>
                <a:latin typeface="Arial"/>
              </a:defRPr>
            </a:pPr>
            <a:r>
              <a:rPr lang="ar-SA" sz="1300" b="0" i="0" u="none" strike="noStrike">
                <a:solidFill>
                  <a:srgbClr val="1F3B57"/>
                </a:solidFill>
                <a:latin typeface="Arial"/>
              </a:rPr>
              <a:t>حالة التطبيق الحالية حسب فئة الضوابط</a:t>
            </a:r>
          </a:p>
        </c:rich>
      </c:tx>
      <c:overlay val="0"/>
    </c:title>
    <c:autoTitleDeleted val="0"/>
    <c:plotArea>
      <c:layout/>
      <c:barChart>
        <c:barDir val="bar"/>
        <c:grouping val="stacked"/>
        <c:varyColors val="0"/>
        <c:ser>
          <c:idx val="0"/>
          <c:order val="0"/>
          <c:tx>
            <c:strRef>
              <c:f>Sheet1!$B$1</c:f>
              <c:strCache>
                <c:ptCount val="1"/>
                <c:pt idx="0">
                  <c:v>مطبق</c:v>
                </c:pt>
              </c:strCache>
            </c:strRef>
          </c:tx>
          <c:spPr>
            <a:solidFill>
              <a:srgbClr val="3A7D44"/>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A.5 تنظيمي (37)</c:v>
                </c:pt>
                <c:pt idx="1">
                  <c:v>A.6 أفراد (8)</c:v>
                </c:pt>
                <c:pt idx="2">
                  <c:v>A.7 مادي (14)</c:v>
                </c:pt>
                <c:pt idx="3">
                  <c:v>A.8 تقني (34)</c:v>
                </c:pt>
              </c:strCache>
            </c:strRef>
          </c:cat>
          <c:val>
            <c:numRef>
              <c:f>Sheet1!$B$2:$B$5</c:f>
              <c:numCache>
                <c:formatCode>General</c:formatCode>
                <c:ptCount val="4"/>
                <c:pt idx="0">
                  <c:v>0</c:v>
                </c:pt>
                <c:pt idx="1">
                  <c:v>1</c:v>
                </c:pt>
                <c:pt idx="2">
                  <c:v>6</c:v>
                </c:pt>
                <c:pt idx="3">
                  <c:v>5</c:v>
                </c:pt>
              </c:numCache>
            </c:numRef>
          </c:val>
          <c:extLst>
            <c:ext xmlns:c16="http://schemas.microsoft.com/office/drawing/2014/chart" uri="{C3380CC4-5D6E-409C-BE32-E72D297353CC}">
              <c16:uniqueId val="{00000000-0462-4D5C-9682-720742383056}"/>
            </c:ext>
          </c:extLst>
        </c:ser>
        <c:ser>
          <c:idx val="1"/>
          <c:order val="1"/>
          <c:tx>
            <c:strRef>
              <c:f>Sheet1!$C$1</c:f>
              <c:strCache>
                <c:ptCount val="1"/>
                <c:pt idx="0">
                  <c:v>غير مطبق حالياً</c:v>
                </c:pt>
              </c:strCache>
            </c:strRef>
          </c:tx>
          <c:spPr>
            <a:solidFill>
              <a:srgbClr val="B3261E"/>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A.5 تنظيمي (37)</c:v>
                </c:pt>
                <c:pt idx="1">
                  <c:v>A.6 أفراد (8)</c:v>
                </c:pt>
                <c:pt idx="2">
                  <c:v>A.7 مادي (14)</c:v>
                </c:pt>
                <c:pt idx="3">
                  <c:v>A.8 تقني (34)</c:v>
                </c:pt>
              </c:strCache>
            </c:strRef>
          </c:cat>
          <c:val>
            <c:numRef>
              <c:f>Sheet1!$C$2:$C$5</c:f>
              <c:numCache>
                <c:formatCode>General</c:formatCode>
                <c:ptCount val="4"/>
                <c:pt idx="0">
                  <c:v>37</c:v>
                </c:pt>
                <c:pt idx="1">
                  <c:v>7</c:v>
                </c:pt>
                <c:pt idx="2">
                  <c:v>8</c:v>
                </c:pt>
                <c:pt idx="3">
                  <c:v>29</c:v>
                </c:pt>
              </c:numCache>
            </c:numRef>
          </c:val>
          <c:extLst>
            <c:ext xmlns:c16="http://schemas.microsoft.com/office/drawing/2014/chart" uri="{C3380CC4-5D6E-409C-BE32-E72D297353CC}">
              <c16:uniqueId val="{00000001-0462-4D5C-9682-720742383056}"/>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3E7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tx>
        <c:rich>
          <a:bodyPr/>
          <a:lstStyle/>
          <a:p>
            <a:pPr>
              <a:defRPr sz="1300" b="0" i="0" u="none" strike="noStrike">
                <a:solidFill>
                  <a:srgbClr val="1F3B57"/>
                </a:solidFill>
                <a:latin typeface="Arial"/>
              </a:defRPr>
            </a:pPr>
            <a:r>
              <a:rPr lang="ar-SA" sz="1300" b="0" i="0" u="none" strike="noStrike">
                <a:solidFill>
                  <a:srgbClr val="1F3B57"/>
                </a:solidFill>
                <a:latin typeface="Arial"/>
              </a:rPr>
              <a:t>توزيع 8 ملاحظات حسب الدرجة</a:t>
            </a:r>
          </a:p>
        </c:rich>
      </c:tx>
      <c:overlay val="0"/>
    </c:title>
    <c:autoTitleDeleted val="0"/>
    <c:plotArea>
      <c:layout/>
      <c:pieChart>
        <c:varyColors val="1"/>
        <c:ser>
          <c:idx val="0"/>
          <c:order val="0"/>
          <c:tx>
            <c:strRef>
              <c:f>Sheet1!$B$1</c:f>
              <c:strCache>
                <c:ptCount val="1"/>
                <c:pt idx="0">
                  <c:v>الملاحظات</c:v>
                </c:pt>
              </c:strCache>
            </c:strRef>
          </c:tx>
          <c:spPr>
            <a:solidFill>
              <a:schemeClr val="accent1"/>
            </a:solidFill>
            <a:ln w="9525" cap="flat">
              <a:solidFill>
                <a:srgbClr val="F9F9F9"/>
              </a:solidFill>
              <a:prstDash val="solid"/>
              <a:round/>
            </a:ln>
            <a:effectLst/>
          </c:spPr>
          <c:dPt>
            <c:idx val="0"/>
            <c:bubble3D val="0"/>
            <c:spPr>
              <a:solidFill>
                <a:srgbClr val="B3261E"/>
              </a:solidFill>
              <a:effectLst/>
            </c:spPr>
            <c:extLst>
              <c:ext xmlns:c16="http://schemas.microsoft.com/office/drawing/2014/chart" uri="{C3380CC4-5D6E-409C-BE32-E72D297353CC}">
                <c16:uniqueId val="{00000001-D0BA-4DB0-A620-598F2F06E0BC}"/>
              </c:ext>
            </c:extLst>
          </c:dPt>
          <c:dPt>
            <c:idx val="1"/>
            <c:bubble3D val="0"/>
            <c:spPr>
              <a:solidFill>
                <a:srgbClr val="B08D27"/>
              </a:solidFill>
              <a:effectLst/>
            </c:spPr>
            <c:extLst>
              <c:ext xmlns:c16="http://schemas.microsoft.com/office/drawing/2014/chart" uri="{C3380CC4-5D6E-409C-BE32-E72D297353CC}">
                <c16:uniqueId val="{00000003-D0BA-4DB0-A620-598F2F06E0BC}"/>
              </c:ext>
            </c:extLst>
          </c:dPt>
          <c:dPt>
            <c:idx val="2"/>
            <c:bubble3D val="0"/>
            <c:spPr>
              <a:solidFill>
                <a:srgbClr val="3A7D44"/>
              </a:solidFill>
              <a:effectLst/>
            </c:spPr>
            <c:extLst>
              <c:ext xmlns:c16="http://schemas.microsoft.com/office/drawing/2014/chart" uri="{C3380CC4-5D6E-409C-BE32-E72D297353CC}">
                <c16:uniqueId val="{00000005-D0BA-4DB0-A620-598F2F06E0BC}"/>
              </c:ext>
            </c:extLst>
          </c:dPt>
          <c:dLbls>
            <c:dLbl>
              <c:idx val="0"/>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0BA-4DB0-A620-598F2F06E0BC}"/>
                </c:ext>
              </c:extLst>
            </c:dLbl>
            <c:dLbl>
              <c:idx val="1"/>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BA-4DB0-A620-598F2F06E0BC}"/>
                </c:ext>
              </c:extLst>
            </c:dLbl>
            <c:dLbl>
              <c:idx val="2"/>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0BA-4DB0-A620-598F2F06E0BC}"/>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كبيرة</c:v>
                </c:pt>
                <c:pt idx="1">
                  <c:v>متوسطة</c:v>
                </c:pt>
                <c:pt idx="2">
                  <c:v>صغيرة</c:v>
                </c:pt>
              </c:strCache>
            </c:strRef>
          </c:cat>
          <c:val>
            <c:numRef>
              <c:f>Sheet1!$B$2:$B$4</c:f>
              <c:numCache>
                <c:formatCode>General</c:formatCode>
                <c:ptCount val="3"/>
                <c:pt idx="0">
                  <c:v>3</c:v>
                </c:pt>
                <c:pt idx="1">
                  <c:v>4</c:v>
                </c:pt>
                <c:pt idx="2">
                  <c:v>1</c:v>
                </c:pt>
              </c:numCache>
            </c:numRef>
          </c:val>
          <c:extLst>
            <c:ext xmlns:c16="http://schemas.microsoft.com/office/drawing/2014/chart" uri="{C3380CC4-5D6E-409C-BE32-E72D297353CC}">
              <c16:uniqueId val="{00000006-D0BA-4DB0-A620-598F2F06E0BC}"/>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089800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3B"/>
        </a:solidFill>
        <a:effectLst/>
      </p:bgPr>
    </p:bg>
    <p:spTree>
      <p:nvGrpSpPr>
        <p:cNvPr id="1" name=""/>
        <p:cNvGrpSpPr/>
        <p:nvPr/>
      </p:nvGrpSpPr>
      <p:grpSpPr>
        <a:xfrm>
          <a:off x="0" y="0"/>
          <a:ext cx="0" cy="0"/>
          <a:chOff x="0" y="0"/>
          <a:chExt cx="0" cy="0"/>
        </a:xfrm>
      </p:grpSpPr>
      <p:sp>
        <p:nvSpPr>
          <p:cNvPr id="2" name="Shape 0"/>
          <p:cNvSpPr/>
          <p:nvPr/>
        </p:nvSpPr>
        <p:spPr>
          <a:xfrm>
            <a:off x="9265615" y="-1463040"/>
            <a:ext cx="4114800" cy="4114800"/>
          </a:xfrm>
          <a:prstGeom prst="ellipse">
            <a:avLst/>
          </a:prstGeom>
          <a:solidFill>
            <a:srgbClr val="1F3B57"/>
          </a:solidFill>
          <a:ln/>
        </p:spPr>
      </p:sp>
      <p:sp>
        <p:nvSpPr>
          <p:cNvPr id="3" name="Shape 1"/>
          <p:cNvSpPr/>
          <p:nvPr/>
        </p:nvSpPr>
        <p:spPr>
          <a:xfrm>
            <a:off x="-1645920" y="4480560"/>
            <a:ext cx="3657600" cy="3657600"/>
          </a:xfrm>
          <a:prstGeom prst="ellipse">
            <a:avLst/>
          </a:prstGeom>
          <a:solidFill>
            <a:srgbClr val="1F3B57"/>
          </a:solidFill>
          <a:ln/>
        </p:spPr>
      </p:sp>
      <p:sp>
        <p:nvSpPr>
          <p:cNvPr id="4" name="Text 2"/>
          <p:cNvSpPr txBox="1"/>
          <p:nvPr/>
        </p:nvSpPr>
        <p:spPr>
          <a:xfrm>
            <a:off x="914400" y="1188720"/>
            <a:ext cx="10362895" cy="365760"/>
          </a:xfrm>
          <a:prstGeom prst="rect">
            <a:avLst/>
          </a:prstGeom>
          <a:noFill/>
          <a:ln/>
        </p:spPr>
        <p:txBody>
          <a:bodyPr wrap="square" lIns="0" tIns="0" rIns="0" bIns="0" rtlCol="0" anchor="ctr"/>
          <a:lstStyle/>
          <a:p>
            <a:pPr marL="0" indent="0" algn="ctr">
              <a:buNone/>
            </a:pPr>
            <a:r>
              <a:rPr lang="en-US" sz="1400" b="1" kern="0" spc="200" dirty="0">
                <a:solidFill>
                  <a:srgbClr val="D9BE6E"/>
                </a:solidFill>
                <a:latin typeface="Arial" pitchFamily="34" charset="0"/>
                <a:ea typeface="Arial" pitchFamily="34" charset="-122"/>
                <a:cs typeface="Arial" pitchFamily="34" charset="-120"/>
              </a:rPr>
              <a:t>مشروع تخرج - مقرر نظام إدارة أمن المعلومات</a:t>
            </a:r>
            <a:endParaRPr lang="en-US" sz="1400" dirty="0"/>
          </a:p>
        </p:txBody>
      </p:sp>
      <p:sp>
        <p:nvSpPr>
          <p:cNvPr id="5" name="Text 3"/>
          <p:cNvSpPr txBox="1"/>
          <p:nvPr/>
        </p:nvSpPr>
        <p:spPr>
          <a:xfrm>
            <a:off x="914400" y="1645920"/>
            <a:ext cx="10362895" cy="146304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تصميم وتطبيق نظام إدارة أمن المعلومات</a:t>
            </a:r>
            <a:endParaRPr lang="en-US" sz="3400" dirty="0"/>
          </a:p>
          <a:p>
            <a:pPr marL="0" indent="0" algn="ctr">
              <a:buNone/>
            </a:pPr>
            <a:r>
              <a:rPr lang="en-US" sz="3400" b="1" dirty="0">
                <a:solidFill>
                  <a:srgbClr val="FFFFFF"/>
                </a:solidFill>
                <a:latin typeface="Arial" pitchFamily="34" charset="0"/>
                <a:ea typeface="Arial" pitchFamily="34" charset="-122"/>
                <a:cs typeface="Arial" pitchFamily="34" charset="-120"/>
              </a:rPr>
              <a:t>وفق المواصفة ISO/IEC 27001:2022</a:t>
            </a:r>
            <a:endParaRPr lang="en-US" sz="3400" dirty="0"/>
          </a:p>
        </p:txBody>
      </p:sp>
      <p:sp>
        <p:nvSpPr>
          <p:cNvPr id="6" name="Text 4"/>
          <p:cNvSpPr txBox="1"/>
          <p:nvPr/>
        </p:nvSpPr>
        <p:spPr>
          <a:xfrm>
            <a:off x="914400" y="3154680"/>
            <a:ext cx="10362895" cy="502920"/>
          </a:xfrm>
          <a:prstGeom prst="rect">
            <a:avLst/>
          </a:prstGeom>
          <a:noFill/>
          <a:ln/>
        </p:spPr>
        <p:txBody>
          <a:bodyPr wrap="square" lIns="0" tIns="0" rIns="0" bIns="0" rtlCol="0" anchor="ctr"/>
          <a:lstStyle/>
          <a:p>
            <a:pPr marL="0" indent="0" algn="ctr">
              <a:buNone/>
            </a:pPr>
            <a:r>
              <a:rPr lang="en-US" sz="2000" b="1" dirty="0">
                <a:solidFill>
                  <a:srgbClr val="CADCFC"/>
                </a:solidFill>
                <a:latin typeface="Arial" pitchFamily="34" charset="0"/>
                <a:ea typeface="Arial" pitchFamily="34" charset="-122"/>
                <a:cs typeface="Arial" pitchFamily="34" charset="-120"/>
              </a:rPr>
              <a:t>دراسة حالة: بنك الآفاق الرقمية</a:t>
            </a:r>
            <a:endParaRPr lang="en-US" sz="2000" dirty="0"/>
          </a:p>
        </p:txBody>
      </p:sp>
      <p:sp>
        <p:nvSpPr>
          <p:cNvPr id="7" name="Shape 5"/>
          <p:cNvSpPr/>
          <p:nvPr/>
        </p:nvSpPr>
        <p:spPr>
          <a:xfrm>
            <a:off x="4724248" y="3886200"/>
            <a:ext cx="2743200" cy="0"/>
          </a:xfrm>
          <a:prstGeom prst="line">
            <a:avLst/>
          </a:prstGeom>
          <a:noFill/>
          <a:ln w="19050">
            <a:solidFill>
              <a:srgbClr val="B08D27"/>
            </a:solidFill>
            <a:prstDash val="solid"/>
          </a:ln>
        </p:spPr>
      </p:sp>
      <p:sp>
        <p:nvSpPr>
          <p:cNvPr id="8" name="Text 6"/>
          <p:cNvSpPr txBox="1"/>
          <p:nvPr/>
        </p:nvSpPr>
        <p:spPr>
          <a:xfrm>
            <a:off x="914400" y="4114800"/>
            <a:ext cx="10362895" cy="320040"/>
          </a:xfrm>
          <a:prstGeom prst="rect">
            <a:avLst/>
          </a:prstGeom>
          <a:noFill/>
          <a:ln/>
        </p:spPr>
        <p:txBody>
          <a:bodyPr wrap="square" lIns="0" tIns="0" rIns="0" bIns="0" rtlCol="0" anchor="ctr"/>
          <a:lstStyle/>
          <a:p>
            <a:pPr marL="0" indent="0" algn="ctr">
              <a:buNone/>
            </a:pPr>
            <a:r>
              <a:rPr lang="en-US" sz="1300" b="1" dirty="0">
                <a:solidFill>
                  <a:srgbClr val="D9BE6E"/>
                </a:solidFill>
                <a:latin typeface="Arial" pitchFamily="34" charset="0"/>
                <a:ea typeface="Arial" pitchFamily="34" charset="-122"/>
                <a:cs typeface="Arial" pitchFamily="34" charset="-120"/>
              </a:rPr>
              <a:t>إعداد فريق العمل</a:t>
            </a:r>
            <a:endParaRPr lang="en-US" sz="1300" dirty="0"/>
          </a:p>
        </p:txBody>
      </p:sp>
      <p:sp>
        <p:nvSpPr>
          <p:cNvPr id="9" name="Text 7"/>
          <p:cNvSpPr txBox="1"/>
          <p:nvPr/>
        </p:nvSpPr>
        <p:spPr>
          <a:xfrm>
            <a:off x="457200" y="4480560"/>
            <a:ext cx="11277295" cy="548640"/>
          </a:xfrm>
          <a:prstGeom prst="rect">
            <a:avLst/>
          </a:prstGeom>
          <a:noFill/>
          <a:ln/>
        </p:spPr>
        <p:txBody>
          <a:bodyPr wrap="square" lIns="0" tIns="0" rIns="0" bIns="0" rtlCol="0" anchor="ctr"/>
          <a:lstStyle/>
          <a:p>
            <a:pPr marL="0" indent="0" algn="ctr" rtl="1">
              <a:buNone/>
            </a:pPr>
            <a:r>
              <a:rPr lang="en-US" sz="1500" dirty="0">
                <a:solidFill>
                  <a:srgbClr val="FFFFFF"/>
                </a:solidFill>
                <a:latin typeface="Arial" pitchFamily="34" charset="0"/>
                <a:ea typeface="Arial" pitchFamily="34" charset="-122"/>
                <a:cs typeface="Arial" pitchFamily="34" charset="-120"/>
              </a:rPr>
              <a:t>محمد </a:t>
            </a:r>
            <a:r>
              <a:rPr lang="en-US" sz="1500" dirty="0" err="1">
                <a:solidFill>
                  <a:srgbClr val="FFFFFF"/>
                </a:solidFill>
                <a:latin typeface="Arial" pitchFamily="34" charset="0"/>
                <a:ea typeface="Arial" pitchFamily="34" charset="-122"/>
                <a:cs typeface="Arial" pitchFamily="34" charset="-120"/>
              </a:rPr>
              <a:t>عبدالله</a:t>
            </a:r>
            <a:r>
              <a:rPr lang="en-US" sz="1500" dirty="0">
                <a:solidFill>
                  <a:srgbClr val="FFFFFF"/>
                </a:solidFill>
                <a:latin typeface="Arial" pitchFamily="34" charset="0"/>
                <a:ea typeface="Arial" pitchFamily="34" charset="-122"/>
                <a:cs typeface="Arial" pitchFamily="34" charset="-120"/>
              </a:rPr>
              <a:t> </a:t>
            </a:r>
            <a:r>
              <a:rPr lang="en-US" sz="1500" dirty="0" err="1">
                <a:solidFill>
                  <a:srgbClr val="FFFFFF"/>
                </a:solidFill>
                <a:latin typeface="Arial" pitchFamily="34" charset="0"/>
                <a:ea typeface="Arial" pitchFamily="34" charset="-122"/>
                <a:cs typeface="Arial" pitchFamily="34" charset="-120"/>
              </a:rPr>
              <a:t>السوادي</a:t>
            </a:r>
            <a:r>
              <a:rPr lang="en-US" sz="1500" dirty="0">
                <a:solidFill>
                  <a:srgbClr val="FFFFFF"/>
                </a:solidFill>
                <a:latin typeface="Arial" pitchFamily="34" charset="0"/>
                <a:ea typeface="Arial" pitchFamily="34" charset="-122"/>
                <a:cs typeface="Arial" pitchFamily="34" charset="-120"/>
              </a:rPr>
              <a:t>      •      أسامة الصامت      •      محمد نبيل      •      همام </a:t>
            </a:r>
            <a:r>
              <a:rPr lang="en-US" sz="1500" dirty="0" err="1">
                <a:solidFill>
                  <a:srgbClr val="FFFFFF"/>
                </a:solidFill>
                <a:latin typeface="Arial" pitchFamily="34" charset="0"/>
                <a:ea typeface="Arial" pitchFamily="34" charset="-122"/>
                <a:cs typeface="Arial" pitchFamily="34" charset="-120"/>
              </a:rPr>
              <a:t>أسعد</a:t>
            </a:r>
            <a:r>
              <a:rPr lang="en-US" sz="1500" dirty="0">
                <a:solidFill>
                  <a:srgbClr val="FFFFFF"/>
                </a:solidFill>
                <a:latin typeface="Arial" pitchFamily="34" charset="0"/>
                <a:ea typeface="Arial" pitchFamily="34" charset="-122"/>
                <a:cs typeface="Arial" pitchFamily="34" charset="-120"/>
              </a:rPr>
              <a:t>      •      </a:t>
            </a:r>
            <a:r>
              <a:rPr lang="en-US" sz="1500" dirty="0" err="1">
                <a:solidFill>
                  <a:srgbClr val="FFFFFF"/>
                </a:solidFill>
                <a:latin typeface="Arial" pitchFamily="34" charset="0"/>
                <a:ea typeface="Arial" pitchFamily="34" charset="-122"/>
                <a:cs typeface="Arial" pitchFamily="34" charset="-120"/>
              </a:rPr>
              <a:t>محمد</a:t>
            </a:r>
            <a:r>
              <a:rPr lang="en-US" sz="1500" dirty="0">
                <a:solidFill>
                  <a:srgbClr val="FFFFFF"/>
                </a:solidFill>
                <a:latin typeface="Arial" pitchFamily="34" charset="0"/>
                <a:ea typeface="Arial" pitchFamily="34" charset="-122"/>
                <a:cs typeface="Arial" pitchFamily="34" charset="-120"/>
              </a:rPr>
              <a:t> </a:t>
            </a:r>
            <a:r>
              <a:rPr lang="en-US" sz="1500" dirty="0" err="1">
                <a:solidFill>
                  <a:srgbClr val="FFFFFF"/>
                </a:solidFill>
                <a:latin typeface="Arial" pitchFamily="34" charset="0"/>
                <a:ea typeface="Arial" pitchFamily="34" charset="-122"/>
                <a:cs typeface="Arial" pitchFamily="34" charset="-120"/>
              </a:rPr>
              <a:t>الدعوس</a:t>
            </a:r>
            <a:endParaRPr lang="en-US" sz="1500" dirty="0"/>
          </a:p>
        </p:txBody>
      </p:sp>
      <p:sp>
        <p:nvSpPr>
          <p:cNvPr id="10" name="Text 8"/>
          <p:cNvSpPr txBox="1"/>
          <p:nvPr/>
        </p:nvSpPr>
        <p:spPr>
          <a:xfrm>
            <a:off x="914400" y="5257800"/>
            <a:ext cx="10362895" cy="411480"/>
          </a:xfrm>
          <a:prstGeom prst="rect">
            <a:avLst/>
          </a:prstGeom>
          <a:noFill/>
          <a:ln/>
        </p:spPr>
        <p:txBody>
          <a:bodyPr wrap="square" lIns="0" tIns="0" rIns="0" bIns="0" rtlCol="0" anchor="ctr"/>
          <a:lstStyle/>
          <a:p>
            <a:pPr marL="0" indent="0" algn="ctr">
              <a:buNone/>
            </a:pPr>
            <a:r>
              <a:rPr lang="en-US" sz="1600" b="1" dirty="0">
                <a:solidFill>
                  <a:srgbClr val="B08D27"/>
                </a:solidFill>
                <a:latin typeface="Arial" pitchFamily="34" charset="0"/>
                <a:ea typeface="Arial" pitchFamily="34" charset="-122"/>
                <a:cs typeface="Arial" pitchFamily="34" charset="-120"/>
              </a:rPr>
              <a:t>تحت إشراف: الدكتور أيمن العنسي</a:t>
            </a:r>
            <a:endParaRPr lang="en-US" sz="1600" dirty="0"/>
          </a:p>
        </p:txBody>
      </p:sp>
      <p:sp>
        <p:nvSpPr>
          <p:cNvPr id="11" name="Text 9"/>
          <p:cNvSpPr txBox="1"/>
          <p:nvPr/>
        </p:nvSpPr>
        <p:spPr>
          <a:xfrm>
            <a:off x="914400" y="6309360"/>
            <a:ext cx="10362895" cy="27432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2026</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محاور العرض</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خريطة العرض التقديمي</a:t>
            </a:r>
            <a:endParaRPr lang="en-US" sz="2800" dirty="0"/>
          </a:p>
        </p:txBody>
      </p:sp>
      <p:sp>
        <p:nvSpPr>
          <p:cNvPr id="4" name="Shape 2"/>
          <p:cNvSpPr/>
          <p:nvPr/>
        </p:nvSpPr>
        <p:spPr>
          <a:xfrm>
            <a:off x="548640" y="1691640"/>
            <a:ext cx="5349240" cy="1417320"/>
          </a:xfrm>
          <a:prstGeom prst="roundRect">
            <a:avLst>
              <a:gd name="adj" fmla="val 5806"/>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5" name="Shape 3"/>
          <p:cNvSpPr/>
          <p:nvPr/>
        </p:nvSpPr>
        <p:spPr>
          <a:xfrm>
            <a:off x="5212080" y="1874520"/>
            <a:ext cx="457200" cy="457200"/>
          </a:xfrm>
          <a:prstGeom prst="ellipse">
            <a:avLst/>
          </a:prstGeom>
          <a:solidFill>
            <a:srgbClr val="B08D27"/>
          </a:solidFill>
          <a:ln/>
        </p:spPr>
      </p:sp>
      <p:sp>
        <p:nvSpPr>
          <p:cNvPr id="6" name="Text 4"/>
          <p:cNvSpPr txBox="1"/>
          <p:nvPr/>
        </p:nvSpPr>
        <p:spPr>
          <a:xfrm>
            <a:off x="5212080"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777240" y="1856232"/>
            <a:ext cx="4434840"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المقدمة والسياق</a:t>
            </a:r>
            <a:endParaRPr lang="en-US" sz="1500" dirty="0"/>
          </a:p>
        </p:txBody>
      </p:sp>
      <p:sp>
        <p:nvSpPr>
          <p:cNvPr id="8" name="Text 6"/>
          <p:cNvSpPr txBox="1"/>
          <p:nvPr/>
        </p:nvSpPr>
        <p:spPr>
          <a:xfrm>
            <a:off x="788670" y="2359152"/>
            <a:ext cx="4892040" cy="777240"/>
          </a:xfrm>
          <a:prstGeom prst="rect">
            <a:avLst/>
          </a:prstGeom>
          <a:noFill/>
          <a:ln/>
        </p:spPr>
        <p:txBody>
          <a:bodyPr wrap="square" lIns="0" tIns="0" rIns="0" bIns="0" rtlCol="0" anchor="t"/>
          <a:lstStyle/>
          <a:p>
            <a:pPr marL="0" indent="0" algn="r">
              <a:buNone/>
            </a:pPr>
            <a:r>
              <a:rPr lang="en-US" sz="1400" b="1" dirty="0">
                <a:solidFill>
                  <a:srgbClr val="1F2937"/>
                </a:solidFill>
                <a:latin typeface="Arial" pitchFamily="34" charset="0"/>
                <a:cs typeface="Arial" pitchFamily="34" charset="-120"/>
              </a:rPr>
              <a:t>خلفية المشروع، بنك الآفاق الرقمية، أهداف المشروع ومنهجية العمل</a:t>
            </a:r>
          </a:p>
        </p:txBody>
      </p:sp>
      <p:sp>
        <p:nvSpPr>
          <p:cNvPr id="9" name="Shape 7"/>
          <p:cNvSpPr/>
          <p:nvPr/>
        </p:nvSpPr>
        <p:spPr>
          <a:xfrm>
            <a:off x="6217920" y="1691640"/>
            <a:ext cx="5349240" cy="1417320"/>
          </a:xfrm>
          <a:prstGeom prst="roundRect">
            <a:avLst>
              <a:gd name="adj" fmla="val 5806"/>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10" name="Shape 8"/>
          <p:cNvSpPr/>
          <p:nvPr/>
        </p:nvSpPr>
        <p:spPr>
          <a:xfrm>
            <a:off x="10881360" y="1874520"/>
            <a:ext cx="457200" cy="457200"/>
          </a:xfrm>
          <a:prstGeom prst="ellipse">
            <a:avLst/>
          </a:prstGeom>
          <a:solidFill>
            <a:srgbClr val="B08D27"/>
          </a:solidFill>
          <a:ln/>
        </p:spPr>
      </p:sp>
      <p:sp>
        <p:nvSpPr>
          <p:cNvPr id="11" name="Text 9"/>
          <p:cNvSpPr txBox="1"/>
          <p:nvPr/>
        </p:nvSpPr>
        <p:spPr>
          <a:xfrm>
            <a:off x="10881360"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6446520" y="1856232"/>
            <a:ext cx="4434840"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الأساس التحليلي</a:t>
            </a:r>
            <a:endParaRPr lang="en-US" sz="1500" dirty="0"/>
          </a:p>
        </p:txBody>
      </p:sp>
      <p:sp>
        <p:nvSpPr>
          <p:cNvPr id="13" name="Text 11"/>
          <p:cNvSpPr txBox="1"/>
          <p:nvPr/>
        </p:nvSpPr>
        <p:spPr>
          <a:xfrm>
            <a:off x="6446520" y="2345436"/>
            <a:ext cx="4892040" cy="777240"/>
          </a:xfrm>
          <a:prstGeom prst="rect">
            <a:avLst/>
          </a:prstGeom>
          <a:noFill/>
          <a:ln/>
        </p:spPr>
        <p:txBody>
          <a:bodyPr wrap="square" lIns="0" tIns="0" rIns="0" bIns="0" rtlCol="0" anchor="t"/>
          <a:lstStyle/>
          <a:p>
            <a:pPr marL="0" indent="0" algn="r">
              <a:buNone/>
            </a:pPr>
            <a:r>
              <a:rPr lang="en-US" sz="1400" b="1" dirty="0">
                <a:solidFill>
                  <a:srgbClr val="1F2937"/>
                </a:solidFill>
                <a:latin typeface="Arial" pitchFamily="34" charset="0"/>
                <a:ea typeface="Arial" pitchFamily="34" charset="-122"/>
                <a:cs typeface="Arial" pitchFamily="34" charset="-120"/>
              </a:rPr>
              <a:t>تحليل الفجوات، سجل الأصول، تقييم ومعالجة المخاطر</a:t>
            </a:r>
            <a:endParaRPr lang="en-US" sz="1400" b="1" dirty="0"/>
          </a:p>
        </p:txBody>
      </p:sp>
      <p:sp>
        <p:nvSpPr>
          <p:cNvPr id="14" name="Shape 12"/>
          <p:cNvSpPr/>
          <p:nvPr/>
        </p:nvSpPr>
        <p:spPr>
          <a:xfrm>
            <a:off x="548640" y="3383280"/>
            <a:ext cx="5349240" cy="1417320"/>
          </a:xfrm>
          <a:prstGeom prst="roundRect">
            <a:avLst>
              <a:gd name="adj" fmla="val 5806"/>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15" name="Shape 13"/>
          <p:cNvSpPr/>
          <p:nvPr/>
        </p:nvSpPr>
        <p:spPr>
          <a:xfrm>
            <a:off x="5212080" y="3566160"/>
            <a:ext cx="457200" cy="457200"/>
          </a:xfrm>
          <a:prstGeom prst="ellipse">
            <a:avLst/>
          </a:prstGeom>
          <a:solidFill>
            <a:srgbClr val="B08D27"/>
          </a:solidFill>
          <a:ln/>
        </p:spPr>
      </p:sp>
      <p:sp>
        <p:nvSpPr>
          <p:cNvPr id="16" name="Text 14"/>
          <p:cNvSpPr txBox="1"/>
          <p:nvPr/>
        </p:nvSpPr>
        <p:spPr>
          <a:xfrm>
            <a:off x="5212080" y="35661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777240" y="3547872"/>
            <a:ext cx="4434840"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الوثائق التأسيسية</a:t>
            </a:r>
            <a:endParaRPr lang="en-US" sz="1500" dirty="0"/>
          </a:p>
        </p:txBody>
      </p:sp>
      <p:sp>
        <p:nvSpPr>
          <p:cNvPr id="18" name="Text 16"/>
          <p:cNvSpPr txBox="1"/>
          <p:nvPr/>
        </p:nvSpPr>
        <p:spPr>
          <a:xfrm>
            <a:off x="788670" y="4005072"/>
            <a:ext cx="4892040" cy="777240"/>
          </a:xfrm>
          <a:prstGeom prst="rect">
            <a:avLst/>
          </a:prstGeom>
          <a:noFill/>
          <a:ln/>
        </p:spPr>
        <p:txBody>
          <a:bodyPr wrap="square" lIns="0" tIns="0" rIns="0" bIns="0" rtlCol="0" anchor="t"/>
          <a:lstStyle/>
          <a:p>
            <a:pPr marL="0" indent="0" algn="r">
              <a:buNone/>
            </a:pPr>
            <a:r>
              <a:rPr lang="en-US" sz="1400" b="1" dirty="0">
                <a:solidFill>
                  <a:srgbClr val="1F2937"/>
                </a:solidFill>
                <a:latin typeface="Arial" pitchFamily="34" charset="0"/>
                <a:cs typeface="Arial" pitchFamily="34" charset="-120"/>
              </a:rPr>
              <a:t>السياق والنطاق، السياسة، الأهداف، شهية المخاطر، SoA</a:t>
            </a:r>
          </a:p>
        </p:txBody>
      </p:sp>
      <p:sp>
        <p:nvSpPr>
          <p:cNvPr id="19" name="Shape 17"/>
          <p:cNvSpPr/>
          <p:nvPr/>
        </p:nvSpPr>
        <p:spPr>
          <a:xfrm>
            <a:off x="6217920" y="3383280"/>
            <a:ext cx="5349240" cy="1417320"/>
          </a:xfrm>
          <a:prstGeom prst="roundRect">
            <a:avLst>
              <a:gd name="adj" fmla="val 5806"/>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20" name="Shape 18"/>
          <p:cNvSpPr/>
          <p:nvPr/>
        </p:nvSpPr>
        <p:spPr>
          <a:xfrm>
            <a:off x="10881360" y="3566160"/>
            <a:ext cx="457200" cy="457200"/>
          </a:xfrm>
          <a:prstGeom prst="ellipse">
            <a:avLst/>
          </a:prstGeom>
          <a:solidFill>
            <a:srgbClr val="B08D27"/>
          </a:solidFill>
          <a:ln/>
        </p:spPr>
      </p:sp>
      <p:sp>
        <p:nvSpPr>
          <p:cNvPr id="21" name="Text 19"/>
          <p:cNvSpPr txBox="1"/>
          <p:nvPr/>
        </p:nvSpPr>
        <p:spPr>
          <a:xfrm>
            <a:off x="10881360" y="35661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6446520" y="3547872"/>
            <a:ext cx="4434840"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السياسات والإجراءات</a:t>
            </a:r>
            <a:endParaRPr lang="en-US" sz="1500" dirty="0"/>
          </a:p>
        </p:txBody>
      </p:sp>
      <p:sp>
        <p:nvSpPr>
          <p:cNvPr id="23" name="Text 21"/>
          <p:cNvSpPr txBox="1"/>
          <p:nvPr/>
        </p:nvSpPr>
        <p:spPr>
          <a:xfrm>
            <a:off x="6446520" y="3986784"/>
            <a:ext cx="4892040" cy="777240"/>
          </a:xfrm>
          <a:prstGeom prst="rect">
            <a:avLst/>
          </a:prstGeom>
          <a:noFill/>
          <a:ln/>
        </p:spPr>
        <p:txBody>
          <a:bodyPr wrap="square" lIns="0" tIns="0" rIns="0" bIns="0" rtlCol="0" anchor="t"/>
          <a:lstStyle/>
          <a:p>
            <a:pPr marL="0" indent="0" algn="r">
              <a:buNone/>
            </a:pPr>
            <a:r>
              <a:rPr lang="en-US" sz="1400" b="1" dirty="0">
                <a:solidFill>
                  <a:srgbClr val="1F2937"/>
                </a:solidFill>
                <a:latin typeface="Arial" pitchFamily="34" charset="0"/>
                <a:cs typeface="Arial" pitchFamily="34" charset="-120"/>
              </a:rPr>
              <a:t>الاستخدام المقبول، الاستجابة للحوادث، استمرارية الأعمال، التشغيل الآمن</a:t>
            </a:r>
          </a:p>
        </p:txBody>
      </p:sp>
      <p:sp>
        <p:nvSpPr>
          <p:cNvPr id="24" name="Shape 22"/>
          <p:cNvSpPr/>
          <p:nvPr/>
        </p:nvSpPr>
        <p:spPr>
          <a:xfrm>
            <a:off x="548640" y="5074920"/>
            <a:ext cx="5349240" cy="1417320"/>
          </a:xfrm>
          <a:prstGeom prst="roundRect">
            <a:avLst>
              <a:gd name="adj" fmla="val 5806"/>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25" name="Shape 23"/>
          <p:cNvSpPr/>
          <p:nvPr/>
        </p:nvSpPr>
        <p:spPr>
          <a:xfrm>
            <a:off x="5212080" y="5257800"/>
            <a:ext cx="457200" cy="457200"/>
          </a:xfrm>
          <a:prstGeom prst="ellipse">
            <a:avLst/>
          </a:prstGeom>
          <a:solidFill>
            <a:srgbClr val="B08D27"/>
          </a:solidFill>
          <a:ln/>
        </p:spPr>
      </p:sp>
      <p:sp>
        <p:nvSpPr>
          <p:cNvPr id="26" name="Text 24"/>
          <p:cNvSpPr txBox="1"/>
          <p:nvPr/>
        </p:nvSpPr>
        <p:spPr>
          <a:xfrm>
            <a:off x="5212080" y="5257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777240" y="5239512"/>
            <a:ext cx="4434840"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القياس والتحسين</a:t>
            </a:r>
            <a:endParaRPr lang="en-US" sz="1500" dirty="0"/>
          </a:p>
        </p:txBody>
      </p:sp>
      <p:sp>
        <p:nvSpPr>
          <p:cNvPr id="28" name="Text 26"/>
          <p:cNvSpPr txBox="1"/>
          <p:nvPr/>
        </p:nvSpPr>
        <p:spPr>
          <a:xfrm>
            <a:off x="777240" y="5715000"/>
            <a:ext cx="4892040" cy="777240"/>
          </a:xfrm>
          <a:prstGeom prst="rect">
            <a:avLst/>
          </a:prstGeom>
          <a:noFill/>
          <a:ln/>
        </p:spPr>
        <p:txBody>
          <a:bodyPr wrap="square" lIns="0" tIns="0" rIns="0" bIns="0" rtlCol="0" anchor="t"/>
          <a:lstStyle/>
          <a:p>
            <a:pPr marL="0" indent="0" algn="r">
              <a:buNone/>
            </a:pPr>
            <a:r>
              <a:rPr lang="en-US" sz="1400" b="1" dirty="0">
                <a:solidFill>
                  <a:srgbClr val="1F2937"/>
                </a:solidFill>
                <a:latin typeface="Arial" pitchFamily="34" charset="0"/>
                <a:cs typeface="Arial" pitchFamily="34" charset="-120"/>
              </a:rPr>
              <a:t>المراقبة والقياس، التدقيق الداخلي، أداء النظام</a:t>
            </a:r>
          </a:p>
        </p:txBody>
      </p:sp>
      <p:sp>
        <p:nvSpPr>
          <p:cNvPr id="29" name="Shape 27"/>
          <p:cNvSpPr/>
          <p:nvPr/>
        </p:nvSpPr>
        <p:spPr>
          <a:xfrm>
            <a:off x="6217920" y="5074920"/>
            <a:ext cx="5349240" cy="1417320"/>
          </a:xfrm>
          <a:prstGeom prst="roundRect">
            <a:avLst>
              <a:gd name="adj" fmla="val 5806"/>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30" name="Shape 28"/>
          <p:cNvSpPr/>
          <p:nvPr/>
        </p:nvSpPr>
        <p:spPr>
          <a:xfrm>
            <a:off x="10881360" y="5257800"/>
            <a:ext cx="457200" cy="457200"/>
          </a:xfrm>
          <a:prstGeom prst="ellipse">
            <a:avLst/>
          </a:prstGeom>
          <a:solidFill>
            <a:srgbClr val="B08D27"/>
          </a:solidFill>
          <a:ln/>
        </p:spPr>
      </p:sp>
      <p:sp>
        <p:nvSpPr>
          <p:cNvPr id="31" name="Text 29"/>
          <p:cNvSpPr txBox="1"/>
          <p:nvPr/>
        </p:nvSpPr>
        <p:spPr>
          <a:xfrm>
            <a:off x="10881360" y="5257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30"/>
          <p:cNvSpPr txBox="1"/>
          <p:nvPr/>
        </p:nvSpPr>
        <p:spPr>
          <a:xfrm>
            <a:off x="6446520" y="5239512"/>
            <a:ext cx="4434840"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الجاهزية والخاتمة</a:t>
            </a:r>
            <a:endParaRPr lang="en-US" sz="1500" dirty="0"/>
          </a:p>
        </p:txBody>
      </p:sp>
      <p:sp>
        <p:nvSpPr>
          <p:cNvPr id="33" name="Text 31"/>
          <p:cNvSpPr txBox="1"/>
          <p:nvPr/>
        </p:nvSpPr>
        <p:spPr>
          <a:xfrm>
            <a:off x="6446520" y="5705856"/>
            <a:ext cx="4892040" cy="777240"/>
          </a:xfrm>
          <a:prstGeom prst="rect">
            <a:avLst/>
          </a:prstGeom>
          <a:noFill/>
          <a:ln/>
        </p:spPr>
        <p:txBody>
          <a:bodyPr wrap="square" lIns="0" tIns="0" rIns="0" bIns="0" rtlCol="0" anchor="t"/>
          <a:lstStyle/>
          <a:p>
            <a:pPr algn="r"/>
            <a:r>
              <a:rPr lang="en-US" sz="1400" b="1" dirty="0">
                <a:solidFill>
                  <a:srgbClr val="1F2937"/>
                </a:solidFill>
                <a:latin typeface="Arial" pitchFamily="34" charset="0"/>
                <a:cs typeface="Arial" pitchFamily="34" charset="-120"/>
              </a:rPr>
              <a:t>الجاهزية للاعتماد، الترابط بين الوثائق، التوصيات والخاتمة</a:t>
            </a:r>
          </a:p>
        </p:txBody>
      </p:sp>
      <p:sp>
        <p:nvSpPr>
          <p:cNvPr id="34" name="Text 32"/>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5" name="Text 33"/>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63B"/>
        </a:solidFill>
        <a:effectLst/>
      </p:bgPr>
    </p:bg>
    <p:spTree>
      <p:nvGrpSpPr>
        <p:cNvPr id="1" name=""/>
        <p:cNvGrpSpPr/>
        <p:nvPr/>
      </p:nvGrpSpPr>
      <p:grpSpPr>
        <a:xfrm>
          <a:off x="0" y="0"/>
          <a:ext cx="0" cy="0"/>
          <a:chOff x="0" y="0"/>
          <a:chExt cx="0" cy="0"/>
        </a:xfrm>
      </p:grpSpPr>
      <p:sp>
        <p:nvSpPr>
          <p:cNvPr id="2" name="Shape 0"/>
          <p:cNvSpPr/>
          <p:nvPr/>
        </p:nvSpPr>
        <p:spPr>
          <a:xfrm>
            <a:off x="5684368" y="1051560"/>
            <a:ext cx="822960" cy="822960"/>
          </a:xfrm>
          <a:prstGeom prst="ellipse">
            <a:avLst/>
          </a:prstGeom>
          <a:solidFill>
            <a:srgbClr val="B08D27"/>
          </a:solidFill>
          <a:ln/>
        </p:spPr>
      </p:sp>
      <p:sp>
        <p:nvSpPr>
          <p:cNvPr id="3" name="Text 1"/>
          <p:cNvSpPr txBox="1"/>
          <p:nvPr/>
        </p:nvSpPr>
        <p:spPr>
          <a:xfrm>
            <a:off x="5684368" y="1051560"/>
            <a:ext cx="822960" cy="822960"/>
          </a:xfrm>
          <a:prstGeom prst="rect">
            <a:avLst/>
          </a:prstGeom>
          <a:noFill/>
          <a:ln/>
        </p:spPr>
        <p:txBody>
          <a:bodyPr wrap="square" lIns="0" tIns="0" rIns="0" bIns="0" rtlCol="0" anchor="ctr"/>
          <a:lstStyle/>
          <a:p>
            <a:pPr marL="0" indent="0" algn="ctr">
              <a:buNone/>
            </a:pPr>
            <a:r>
              <a:rPr lang="en-US" sz="2000" b="1" dirty="0">
                <a:solidFill>
                  <a:srgbClr val="13263B"/>
                </a:solidFill>
                <a:latin typeface="Arial" pitchFamily="34" charset="0"/>
                <a:ea typeface="Arial" pitchFamily="34" charset="-122"/>
                <a:cs typeface="Arial" pitchFamily="34" charset="-120"/>
              </a:rPr>
              <a:t>1</a:t>
            </a:r>
            <a:endParaRPr lang="en-US" sz="2000" dirty="0"/>
          </a:p>
        </p:txBody>
      </p:sp>
      <p:sp>
        <p:nvSpPr>
          <p:cNvPr id="4" name="Text 2"/>
          <p:cNvSpPr txBox="1"/>
          <p:nvPr/>
        </p:nvSpPr>
        <p:spPr>
          <a:xfrm>
            <a:off x="914400" y="2148840"/>
            <a:ext cx="10362895" cy="365760"/>
          </a:xfrm>
          <a:prstGeom prst="rect">
            <a:avLst/>
          </a:prstGeom>
          <a:noFill/>
          <a:ln/>
        </p:spPr>
        <p:txBody>
          <a:bodyPr wrap="square" lIns="0" tIns="0" rIns="0" bIns="0" rtlCol="0" anchor="ctr"/>
          <a:lstStyle/>
          <a:p>
            <a:pPr marL="0" indent="0" algn="ctr">
              <a:buNone/>
            </a:pPr>
            <a:r>
              <a:rPr lang="en-US" sz="1400" b="1" kern="0" spc="200" dirty="0">
                <a:solidFill>
                  <a:srgbClr val="D9BE6E"/>
                </a:solidFill>
                <a:latin typeface="Arial" pitchFamily="34" charset="0"/>
                <a:ea typeface="Arial" pitchFamily="34" charset="-122"/>
                <a:cs typeface="Arial" pitchFamily="34" charset="-120"/>
              </a:rPr>
              <a:t>المحور الأول</a:t>
            </a:r>
            <a:endParaRPr lang="en-US" sz="1400" dirty="0"/>
          </a:p>
        </p:txBody>
      </p:sp>
      <p:sp>
        <p:nvSpPr>
          <p:cNvPr id="5" name="Text 3"/>
          <p:cNvSpPr txBox="1"/>
          <p:nvPr/>
        </p:nvSpPr>
        <p:spPr>
          <a:xfrm>
            <a:off x="914400" y="2560320"/>
            <a:ext cx="10362895" cy="100584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المقدمة والسياق العام</a:t>
            </a:r>
            <a:endParaRPr lang="en-US" sz="3400" dirty="0"/>
          </a:p>
        </p:txBody>
      </p:sp>
      <p:sp>
        <p:nvSpPr>
          <p:cNvPr id="6" name="Text 4"/>
          <p:cNvSpPr txBox="1"/>
          <p:nvPr/>
        </p:nvSpPr>
        <p:spPr>
          <a:xfrm>
            <a:off x="1828800" y="3657600"/>
            <a:ext cx="8534095" cy="914400"/>
          </a:xfrm>
          <a:prstGeom prst="rect">
            <a:avLst/>
          </a:prstGeom>
          <a:noFill/>
          <a:ln/>
        </p:spPr>
        <p:txBody>
          <a:bodyPr wrap="square" lIns="0" tIns="0" rIns="0" bIns="0" rtlCol="0" anchor="ctr"/>
          <a:lstStyle/>
          <a:p>
            <a:pPr marL="0" indent="0" algn="ctr">
              <a:buNone/>
            </a:pPr>
            <a:r>
              <a:rPr lang="en-US" sz="1400" dirty="0">
                <a:solidFill>
                  <a:srgbClr val="CADCFC"/>
                </a:solidFill>
                <a:latin typeface="Arial" pitchFamily="34" charset="0"/>
                <a:ea typeface="Arial" pitchFamily="34" charset="-122"/>
                <a:cs typeface="Arial" pitchFamily="34" charset="-120"/>
              </a:rPr>
              <a:t>خلفية المشروع، نبذة عن بنك الآفاق الرقمية، أهداف المشروع، ومنهجية العمل المتبعة</a:t>
            </a:r>
            <a:endParaRPr lang="en-US" sz="1400" dirty="0"/>
          </a:p>
        </p:txBody>
      </p:sp>
      <p:sp>
        <p:nvSpPr>
          <p:cNvPr id="7" name="Text 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8" name="Text 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المقدمة</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لماذا نظام إدارة أمن المعلومات؟</a:t>
            </a:r>
            <a:endParaRPr lang="en-US" sz="2800" dirty="0"/>
          </a:p>
        </p:txBody>
      </p:sp>
      <p:sp>
        <p:nvSpPr>
          <p:cNvPr id="4" name="Text 2"/>
          <p:cNvSpPr txBox="1"/>
          <p:nvPr/>
        </p:nvSpPr>
        <p:spPr>
          <a:xfrm>
            <a:off x="548640" y="1600200"/>
            <a:ext cx="11094415" cy="1188720"/>
          </a:xfrm>
          <a:prstGeom prst="rect">
            <a:avLst/>
          </a:prstGeom>
          <a:noFill/>
          <a:ln/>
        </p:spPr>
        <p:txBody>
          <a:bodyPr wrap="square" lIns="0" tIns="0" rIns="0" bIns="0" rtlCol="0" anchor="t"/>
          <a:lstStyle/>
          <a:p>
            <a:pPr marL="0" indent="0" algn="r" rtl="1">
              <a:buNone/>
            </a:pPr>
            <a:r>
              <a:rPr lang="en-US" sz="1350" dirty="0">
                <a:solidFill>
                  <a:srgbClr val="1F2937"/>
                </a:solidFill>
                <a:latin typeface="Arial" pitchFamily="34" charset="0"/>
                <a:ea typeface="Arial" pitchFamily="34" charset="-122"/>
                <a:cs typeface="Arial" pitchFamily="34" charset="-120"/>
              </a:rPr>
              <a:t>يواجه القطاع المصرفي تصاعداً مستمراً في التهديدات </a:t>
            </a:r>
            <a:r>
              <a:rPr lang="en-US" sz="1350" dirty="0" err="1">
                <a:solidFill>
                  <a:srgbClr val="1F2937"/>
                </a:solidFill>
                <a:latin typeface="Arial" pitchFamily="34" charset="0"/>
                <a:ea typeface="Arial" pitchFamily="34" charset="-122"/>
                <a:cs typeface="Arial" pitchFamily="34" charset="-120"/>
              </a:rPr>
              <a:t>السيبرانية</a:t>
            </a:r>
            <a:r>
              <a:rPr lang="en-US" sz="1350" dirty="0">
                <a:solidFill>
                  <a:srgbClr val="1F2937"/>
                </a:solidFill>
                <a:latin typeface="Arial" pitchFamily="34" charset="0"/>
                <a:ea typeface="Arial" pitchFamily="34" charset="-122"/>
                <a:cs typeface="Arial" pitchFamily="34" charset="-120"/>
              </a:rPr>
              <a:t> </a:t>
            </a:r>
          </a:p>
          <a:p>
            <a:pPr marL="0" indent="0" algn="r" rtl="1">
              <a:buNone/>
            </a:pPr>
            <a:r>
              <a:rPr lang="en-US" sz="1350" dirty="0">
                <a:solidFill>
                  <a:srgbClr val="1F2937"/>
                </a:solidFill>
                <a:latin typeface="Arial" pitchFamily="34" charset="0"/>
                <a:ea typeface="Arial" pitchFamily="34" charset="-122"/>
                <a:cs typeface="Arial" pitchFamily="34" charset="-120"/>
              </a:rPr>
              <a:t>)</a:t>
            </a:r>
            <a:r>
              <a:rPr lang="en-US" sz="1350" dirty="0" err="1">
                <a:solidFill>
                  <a:srgbClr val="1F2937"/>
                </a:solidFill>
                <a:latin typeface="Arial" pitchFamily="34" charset="0"/>
                <a:ea typeface="Arial" pitchFamily="34" charset="-122"/>
                <a:cs typeface="Arial" pitchFamily="34" charset="-120"/>
              </a:rPr>
              <a:t>التصيد</a:t>
            </a:r>
            <a:r>
              <a:rPr lang="en-US" sz="1350" dirty="0">
                <a:solidFill>
                  <a:srgbClr val="1F2937"/>
                </a:solidFill>
                <a:latin typeface="Arial" pitchFamily="34" charset="0"/>
                <a:ea typeface="Arial" pitchFamily="34" charset="-122"/>
                <a:cs typeface="Arial" pitchFamily="34" charset="-120"/>
              </a:rPr>
              <a:t> الاحتيالي، الفدية، حجب الخدمة، </a:t>
            </a:r>
            <a:r>
              <a:rPr lang="en-US" sz="1350" dirty="0" err="1">
                <a:solidFill>
                  <a:srgbClr val="1F2937"/>
                </a:solidFill>
                <a:latin typeface="Arial" pitchFamily="34" charset="0"/>
                <a:ea typeface="Arial" pitchFamily="34" charset="-122"/>
                <a:cs typeface="Arial" pitchFamily="34" charset="-120"/>
              </a:rPr>
              <a:t>التهديدات</a:t>
            </a:r>
            <a:r>
              <a:rPr lang="en-US" sz="1350" dirty="0">
                <a:solidFill>
                  <a:srgbClr val="1F2937"/>
                </a:solidFill>
                <a:latin typeface="Arial" pitchFamily="34" charset="0"/>
                <a:ea typeface="Arial" pitchFamily="34" charset="-122"/>
                <a:cs typeface="Arial" pitchFamily="34" charset="-120"/>
              </a:rPr>
              <a:t> </a:t>
            </a:r>
            <a:r>
              <a:rPr lang="en-US" sz="1350" dirty="0" err="1">
                <a:solidFill>
                  <a:srgbClr val="1F2937"/>
                </a:solidFill>
                <a:latin typeface="Arial" pitchFamily="34" charset="0"/>
                <a:ea typeface="Arial" pitchFamily="34" charset="-122"/>
                <a:cs typeface="Arial" pitchFamily="34" charset="-120"/>
              </a:rPr>
              <a:t>الداخلية</a:t>
            </a:r>
            <a:r>
              <a:rPr lang="en-US" sz="1350" dirty="0">
                <a:solidFill>
                  <a:srgbClr val="1F2937"/>
                </a:solidFill>
                <a:latin typeface="Arial" pitchFamily="34" charset="0"/>
                <a:ea typeface="Arial" pitchFamily="34" charset="-122"/>
                <a:cs typeface="Arial" pitchFamily="34" charset="-120"/>
              </a:rPr>
              <a:t>(، في ظل اعتماد متزايد على القنوات الرقمية وتوسّع الأصول المعلوماتية الحساسة. يهدف هذا المشروع إلى تصميم وتطبيق نظام إدارة أمن معلومات متكامل وفق المواصفة الدولية ISO/IEC 27001:2022 لبنك الآفاق الرقمية، بما يضمن حماية بيانات العملاء واستمرارية الخدمات المصرفية والامتثال للمتطلبات التنظيمية.</a:t>
            </a:r>
            <a:endParaRPr lang="en-US" sz="1350" dirty="0"/>
          </a:p>
        </p:txBody>
      </p:sp>
      <p:sp>
        <p:nvSpPr>
          <p:cNvPr id="5" name="Shape 3"/>
          <p:cNvSpPr/>
          <p:nvPr/>
        </p:nvSpPr>
        <p:spPr>
          <a:xfrm>
            <a:off x="548640" y="3063240"/>
            <a:ext cx="2697480" cy="2331720"/>
          </a:xfrm>
          <a:prstGeom prst="roundRect">
            <a:avLst>
              <a:gd name="adj" fmla="val 3137"/>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6" name="Shape 4"/>
          <p:cNvSpPr/>
          <p:nvPr/>
        </p:nvSpPr>
        <p:spPr>
          <a:xfrm>
            <a:off x="1623060" y="3291840"/>
            <a:ext cx="548640" cy="548640"/>
          </a:xfrm>
          <a:prstGeom prst="ellipse">
            <a:avLst/>
          </a:prstGeom>
          <a:solidFill>
            <a:srgbClr val="1F3B57"/>
          </a:solidFill>
          <a:ln/>
        </p:spPr>
      </p:sp>
      <p:sp>
        <p:nvSpPr>
          <p:cNvPr id="7" name="Text 5"/>
          <p:cNvSpPr txBox="1"/>
          <p:nvPr/>
        </p:nvSpPr>
        <p:spPr>
          <a:xfrm>
            <a:off x="1623060" y="32918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685800" y="3977640"/>
            <a:ext cx="2423160" cy="457200"/>
          </a:xfrm>
          <a:prstGeom prst="rect">
            <a:avLst/>
          </a:prstGeom>
          <a:noFill/>
          <a:ln/>
        </p:spPr>
        <p:txBody>
          <a:bodyPr wrap="square" lIns="0" tIns="0" rIns="0" bIns="0" rtlCol="0" anchor="ctr"/>
          <a:lstStyle/>
          <a:p>
            <a:pPr marL="0" indent="0" algn="ctr">
              <a:buNone/>
            </a:pPr>
            <a:r>
              <a:rPr lang="en-US" sz="1350" b="1" dirty="0">
                <a:solidFill>
                  <a:srgbClr val="1F3B57"/>
                </a:solidFill>
                <a:latin typeface="Arial" pitchFamily="34" charset="0"/>
                <a:ea typeface="Arial" pitchFamily="34" charset="-122"/>
                <a:cs typeface="Arial" pitchFamily="34" charset="-120"/>
              </a:rPr>
              <a:t>تهديدات متصاعدة</a:t>
            </a:r>
            <a:endParaRPr lang="en-US" sz="1350" dirty="0"/>
          </a:p>
        </p:txBody>
      </p:sp>
      <p:sp>
        <p:nvSpPr>
          <p:cNvPr id="9" name="Text 7"/>
          <p:cNvSpPr txBox="1"/>
          <p:nvPr/>
        </p:nvSpPr>
        <p:spPr>
          <a:xfrm>
            <a:off x="685800" y="4434840"/>
            <a:ext cx="2423160" cy="914400"/>
          </a:xfrm>
          <a:prstGeom prst="rect">
            <a:avLst/>
          </a:prstGeom>
          <a:noFill/>
          <a:ln/>
        </p:spPr>
        <p:txBody>
          <a:bodyPr wrap="square" lIns="0" tIns="0" rIns="0" bIns="0" rtlCol="0" anchor="t"/>
          <a:lstStyle/>
          <a:p>
            <a:pPr marL="0" indent="0" algn="ctr">
              <a:buNone/>
            </a:pPr>
            <a:r>
              <a:rPr lang="en-US" sz="1100" b="1" dirty="0">
                <a:solidFill>
                  <a:srgbClr val="1F2937"/>
                </a:solidFill>
                <a:latin typeface="Arial" pitchFamily="34" charset="0"/>
                <a:ea typeface="Arial" pitchFamily="34" charset="-122"/>
                <a:cs typeface="Arial" pitchFamily="34" charset="-120"/>
              </a:rPr>
              <a:t>تصيد احتيالي، فدية، حجب خدمة، واستغلال ثغرات التطبيقات المصرفية</a:t>
            </a:r>
            <a:endParaRPr lang="en-US" sz="1100" b="1" dirty="0"/>
          </a:p>
        </p:txBody>
      </p:sp>
      <p:sp>
        <p:nvSpPr>
          <p:cNvPr id="10" name="Shape 8"/>
          <p:cNvSpPr/>
          <p:nvPr/>
        </p:nvSpPr>
        <p:spPr>
          <a:xfrm>
            <a:off x="3429000" y="3063240"/>
            <a:ext cx="2697480" cy="2331720"/>
          </a:xfrm>
          <a:prstGeom prst="roundRect">
            <a:avLst>
              <a:gd name="adj" fmla="val 3137"/>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11" name="Shape 9"/>
          <p:cNvSpPr/>
          <p:nvPr/>
        </p:nvSpPr>
        <p:spPr>
          <a:xfrm>
            <a:off x="4503420" y="3291840"/>
            <a:ext cx="548640" cy="548640"/>
          </a:xfrm>
          <a:prstGeom prst="ellipse">
            <a:avLst/>
          </a:prstGeom>
          <a:solidFill>
            <a:srgbClr val="1F3B57"/>
          </a:solidFill>
          <a:ln/>
        </p:spPr>
      </p:sp>
      <p:sp>
        <p:nvSpPr>
          <p:cNvPr id="12" name="Text 10"/>
          <p:cNvSpPr txBox="1"/>
          <p:nvPr/>
        </p:nvSpPr>
        <p:spPr>
          <a:xfrm>
            <a:off x="4503420" y="32918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3566160" y="3977640"/>
            <a:ext cx="2423160" cy="457200"/>
          </a:xfrm>
          <a:prstGeom prst="rect">
            <a:avLst/>
          </a:prstGeom>
          <a:noFill/>
          <a:ln/>
        </p:spPr>
        <p:txBody>
          <a:bodyPr wrap="square" lIns="0" tIns="0" rIns="0" bIns="0" rtlCol="0" anchor="ctr"/>
          <a:lstStyle/>
          <a:p>
            <a:pPr marL="0" indent="0" algn="ctr">
              <a:buNone/>
            </a:pPr>
            <a:r>
              <a:rPr lang="en-US" sz="1350" b="1" dirty="0">
                <a:solidFill>
                  <a:srgbClr val="1F3B57"/>
                </a:solidFill>
                <a:latin typeface="Arial" pitchFamily="34" charset="0"/>
                <a:ea typeface="Arial" pitchFamily="34" charset="-122"/>
                <a:cs typeface="Arial" pitchFamily="34" charset="-120"/>
              </a:rPr>
              <a:t>متطلبات تنظيمية</a:t>
            </a:r>
            <a:endParaRPr lang="en-US" sz="1350" dirty="0"/>
          </a:p>
        </p:txBody>
      </p:sp>
      <p:sp>
        <p:nvSpPr>
          <p:cNvPr id="14" name="Text 12"/>
          <p:cNvSpPr txBox="1"/>
          <p:nvPr/>
        </p:nvSpPr>
        <p:spPr>
          <a:xfrm>
            <a:off x="3566160" y="4434840"/>
            <a:ext cx="2423160" cy="914400"/>
          </a:xfrm>
          <a:prstGeom prst="rect">
            <a:avLst/>
          </a:prstGeom>
          <a:noFill/>
          <a:ln/>
        </p:spPr>
        <p:txBody>
          <a:bodyPr wrap="square" lIns="0" tIns="0" rIns="0" bIns="0" rtlCol="0" anchor="t"/>
          <a:lstStyle/>
          <a:p>
            <a:pPr marL="0" indent="0" algn="ctr">
              <a:buNone/>
            </a:pPr>
            <a:r>
              <a:rPr lang="en-US" sz="1100" b="1" dirty="0">
                <a:solidFill>
                  <a:srgbClr val="1F2937"/>
                </a:solidFill>
                <a:latin typeface="Arial" pitchFamily="34" charset="0"/>
                <a:ea typeface="Arial" pitchFamily="34" charset="-122"/>
                <a:cs typeface="Arial" pitchFamily="34" charset="-120"/>
              </a:rPr>
              <a:t>إطار الأمن السيبراني للبنك المركزي السعودي (ساما) ونظام حماية البيانات (سدايا)</a:t>
            </a:r>
            <a:endParaRPr lang="en-US" sz="1100" b="1" dirty="0"/>
          </a:p>
        </p:txBody>
      </p:sp>
      <p:sp>
        <p:nvSpPr>
          <p:cNvPr id="15" name="Shape 13"/>
          <p:cNvSpPr/>
          <p:nvPr/>
        </p:nvSpPr>
        <p:spPr>
          <a:xfrm>
            <a:off x="6309360" y="3063240"/>
            <a:ext cx="2697480" cy="2331720"/>
          </a:xfrm>
          <a:prstGeom prst="roundRect">
            <a:avLst>
              <a:gd name="adj" fmla="val 3137"/>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16" name="Shape 14"/>
          <p:cNvSpPr/>
          <p:nvPr/>
        </p:nvSpPr>
        <p:spPr>
          <a:xfrm>
            <a:off x="7383780" y="3291840"/>
            <a:ext cx="548640" cy="548640"/>
          </a:xfrm>
          <a:prstGeom prst="ellipse">
            <a:avLst/>
          </a:prstGeom>
          <a:solidFill>
            <a:srgbClr val="1F3B57"/>
          </a:solidFill>
          <a:ln/>
        </p:spPr>
      </p:sp>
      <p:sp>
        <p:nvSpPr>
          <p:cNvPr id="17" name="Text 15"/>
          <p:cNvSpPr txBox="1"/>
          <p:nvPr/>
        </p:nvSpPr>
        <p:spPr>
          <a:xfrm>
            <a:off x="7383780" y="32918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6446520" y="3977640"/>
            <a:ext cx="2423160" cy="457200"/>
          </a:xfrm>
          <a:prstGeom prst="rect">
            <a:avLst/>
          </a:prstGeom>
          <a:noFill/>
          <a:ln/>
        </p:spPr>
        <p:txBody>
          <a:bodyPr wrap="square" lIns="0" tIns="0" rIns="0" bIns="0" rtlCol="0" anchor="ctr"/>
          <a:lstStyle/>
          <a:p>
            <a:pPr marL="0" indent="0" algn="ctr">
              <a:buNone/>
            </a:pPr>
            <a:r>
              <a:rPr lang="en-US" sz="1350" b="1" dirty="0">
                <a:solidFill>
                  <a:srgbClr val="1F3B57"/>
                </a:solidFill>
                <a:latin typeface="Arial" pitchFamily="34" charset="0"/>
                <a:ea typeface="Arial" pitchFamily="34" charset="-122"/>
                <a:cs typeface="Arial" pitchFamily="34" charset="-120"/>
              </a:rPr>
              <a:t>حوادث سابقة موثقة</a:t>
            </a:r>
            <a:endParaRPr lang="en-US" sz="1350" dirty="0"/>
          </a:p>
        </p:txBody>
      </p:sp>
      <p:sp>
        <p:nvSpPr>
          <p:cNvPr id="19" name="Text 17"/>
          <p:cNvSpPr txBox="1"/>
          <p:nvPr/>
        </p:nvSpPr>
        <p:spPr>
          <a:xfrm>
            <a:off x="6446520" y="4434840"/>
            <a:ext cx="2423160" cy="914400"/>
          </a:xfrm>
          <a:prstGeom prst="rect">
            <a:avLst/>
          </a:prstGeom>
          <a:noFill/>
          <a:ln/>
        </p:spPr>
        <p:txBody>
          <a:bodyPr wrap="square" lIns="0" tIns="0" rIns="0" bIns="0" rtlCol="0" anchor="t"/>
          <a:lstStyle/>
          <a:p>
            <a:pPr marL="0" indent="0" algn="ctr">
              <a:buNone/>
            </a:pPr>
            <a:r>
              <a:rPr lang="en-US" sz="1100" b="1" dirty="0">
                <a:solidFill>
                  <a:srgbClr val="1F2937"/>
                </a:solidFill>
                <a:latin typeface="Arial" pitchFamily="34" charset="0"/>
                <a:ea typeface="Arial" pitchFamily="34" charset="-122"/>
                <a:cs typeface="Arial" pitchFamily="34" charset="-120"/>
              </a:rPr>
              <a:t>5 حوادث أمنية فعلية كشفت عن ثغرات جوهرية في الحوكمة والضوابط</a:t>
            </a:r>
            <a:endParaRPr lang="en-US" sz="1100" b="1" dirty="0"/>
          </a:p>
        </p:txBody>
      </p:sp>
      <p:sp>
        <p:nvSpPr>
          <p:cNvPr id="20" name="Shape 18"/>
          <p:cNvSpPr/>
          <p:nvPr/>
        </p:nvSpPr>
        <p:spPr>
          <a:xfrm>
            <a:off x="9189720" y="3063240"/>
            <a:ext cx="2697480" cy="2331720"/>
          </a:xfrm>
          <a:prstGeom prst="roundRect">
            <a:avLst>
              <a:gd name="adj" fmla="val 3137"/>
            </a:avLst>
          </a:prstGeom>
          <a:solidFill>
            <a:srgbClr val="FFFFFF"/>
          </a:solidFill>
          <a:ln w="12700">
            <a:solidFill>
              <a:srgbClr val="E3E7EE"/>
            </a:solidFill>
            <a:prstDash val="solid"/>
          </a:ln>
          <a:effectLst>
            <a:outerShdw blurRad="63500" dist="25400" dir="5400000" algn="bl" rotWithShape="0">
              <a:srgbClr val="888888">
                <a:alpha val="15000"/>
              </a:srgbClr>
            </a:outerShdw>
          </a:effectLst>
        </p:spPr>
      </p:sp>
      <p:sp>
        <p:nvSpPr>
          <p:cNvPr id="21" name="Shape 19"/>
          <p:cNvSpPr/>
          <p:nvPr/>
        </p:nvSpPr>
        <p:spPr>
          <a:xfrm>
            <a:off x="10264140" y="3291840"/>
            <a:ext cx="548640" cy="548640"/>
          </a:xfrm>
          <a:prstGeom prst="ellipse">
            <a:avLst/>
          </a:prstGeom>
          <a:solidFill>
            <a:srgbClr val="1F3B57"/>
          </a:solidFill>
          <a:ln/>
        </p:spPr>
      </p:sp>
      <p:sp>
        <p:nvSpPr>
          <p:cNvPr id="22" name="Text 20"/>
          <p:cNvSpPr txBox="1"/>
          <p:nvPr/>
        </p:nvSpPr>
        <p:spPr>
          <a:xfrm>
            <a:off x="10264140" y="329184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9326880" y="3977640"/>
            <a:ext cx="2423160" cy="457200"/>
          </a:xfrm>
          <a:prstGeom prst="rect">
            <a:avLst/>
          </a:prstGeom>
          <a:noFill/>
          <a:ln/>
        </p:spPr>
        <p:txBody>
          <a:bodyPr wrap="square" lIns="0" tIns="0" rIns="0" bIns="0" rtlCol="0" anchor="ctr"/>
          <a:lstStyle/>
          <a:p>
            <a:pPr marL="0" indent="0" algn="ctr">
              <a:buNone/>
            </a:pPr>
            <a:r>
              <a:rPr lang="en-US" sz="1350" b="1" dirty="0">
                <a:solidFill>
                  <a:srgbClr val="1F3B57"/>
                </a:solidFill>
                <a:latin typeface="Arial" pitchFamily="34" charset="0"/>
                <a:ea typeface="Arial" pitchFamily="34" charset="-122"/>
                <a:cs typeface="Arial" pitchFamily="34" charset="-120"/>
              </a:rPr>
              <a:t>ثقة العملاء والسمعة</a:t>
            </a:r>
            <a:endParaRPr lang="en-US" sz="1350" dirty="0"/>
          </a:p>
        </p:txBody>
      </p:sp>
      <p:sp>
        <p:nvSpPr>
          <p:cNvPr id="24" name="Text 22"/>
          <p:cNvSpPr txBox="1"/>
          <p:nvPr/>
        </p:nvSpPr>
        <p:spPr>
          <a:xfrm>
            <a:off x="9326880" y="4434840"/>
            <a:ext cx="2423160" cy="914400"/>
          </a:xfrm>
          <a:prstGeom prst="rect">
            <a:avLst/>
          </a:prstGeom>
          <a:noFill/>
          <a:ln/>
        </p:spPr>
        <p:txBody>
          <a:bodyPr wrap="square" lIns="0" tIns="0" rIns="0" bIns="0" rtlCol="0" anchor="t"/>
          <a:lstStyle/>
          <a:p>
            <a:pPr marL="0" indent="0" algn="ctr">
              <a:buNone/>
            </a:pPr>
            <a:r>
              <a:rPr lang="en-US" sz="1100" b="1" dirty="0">
                <a:solidFill>
                  <a:srgbClr val="1F2937"/>
                </a:solidFill>
                <a:latin typeface="Arial" pitchFamily="34" charset="0"/>
                <a:ea typeface="Arial" pitchFamily="34" charset="-122"/>
                <a:cs typeface="Arial" pitchFamily="34" charset="-120"/>
              </a:rPr>
              <a:t>حماية أكثر من 500,000 عميل وضمان استمرارية الخدمات الرقمية</a:t>
            </a:r>
            <a:endParaRPr lang="en-US" sz="1100" b="1" dirty="0"/>
          </a:p>
        </p:txBody>
      </p:sp>
      <p:sp>
        <p:nvSpPr>
          <p:cNvPr id="25" name="Text 23"/>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26" name="Text 24"/>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دراسة الحالة</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نبذة عن بنك الآفاق الرقمية</a:t>
            </a:r>
            <a:endParaRPr lang="en-US" sz="2800" dirty="0"/>
          </a:p>
        </p:txBody>
      </p:sp>
      <p:sp>
        <p:nvSpPr>
          <p:cNvPr id="4" name="Text 2"/>
          <p:cNvSpPr txBox="1"/>
          <p:nvPr/>
        </p:nvSpPr>
        <p:spPr>
          <a:xfrm>
            <a:off x="548640" y="1554480"/>
            <a:ext cx="11094415" cy="731520"/>
          </a:xfrm>
          <a:prstGeom prst="rect">
            <a:avLst/>
          </a:prstGeom>
          <a:noFill/>
          <a:ln/>
        </p:spPr>
        <p:txBody>
          <a:bodyPr wrap="square" lIns="0" tIns="0" rIns="0" bIns="0" rtlCol="0" anchor="t"/>
          <a:lstStyle/>
          <a:p>
            <a:pPr marL="0" indent="0" algn="r" rtl="1">
              <a:buNone/>
            </a:pPr>
            <a:r>
              <a:rPr lang="en-US" sz="1350" b="1" dirty="0">
                <a:solidFill>
                  <a:srgbClr val="1F2937"/>
                </a:solidFill>
                <a:latin typeface="Arial" pitchFamily="34" charset="0"/>
                <a:ea typeface="Arial" pitchFamily="34" charset="-122"/>
                <a:cs typeface="Arial" pitchFamily="34" charset="-120"/>
              </a:rPr>
              <a:t>مؤسسة مصرفية سعودية رائدة تقدم خدمات مصرفية تقليدية ورقمية متكاملة، تخضع لإشراف البنك المركزي السعودي (ساما)، وتعتمد بشكل متزايد على القنوات الرقمية (آفاق بلس وآفاق نت) لخدمة قاعدة عملاء واسعة.</a:t>
            </a:r>
            <a:endParaRPr lang="en-US" sz="1350" b="1" dirty="0"/>
          </a:p>
        </p:txBody>
      </p:sp>
      <p:sp>
        <p:nvSpPr>
          <p:cNvPr id="5" name="Shape 3"/>
          <p:cNvSpPr/>
          <p:nvPr/>
        </p:nvSpPr>
        <p:spPr>
          <a:xfrm>
            <a:off x="548640" y="2514600"/>
            <a:ext cx="1764792" cy="1417320"/>
          </a:xfrm>
          <a:prstGeom prst="roundRect">
            <a:avLst>
              <a:gd name="adj" fmla="val 5161"/>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6" name="Text 4"/>
          <p:cNvSpPr txBox="1"/>
          <p:nvPr/>
        </p:nvSpPr>
        <p:spPr>
          <a:xfrm>
            <a:off x="548640" y="2624328"/>
            <a:ext cx="1764792" cy="779526"/>
          </a:xfrm>
          <a:prstGeom prst="rect">
            <a:avLst/>
          </a:prstGeom>
          <a:noFill/>
          <a:ln/>
        </p:spPr>
        <p:txBody>
          <a:bodyPr wrap="square" lIns="0" tIns="0" rIns="0" bIns="0" rtlCol="0" anchor="ctr"/>
          <a:lstStyle/>
          <a:p>
            <a:pPr marL="0" indent="0" algn="ctr">
              <a:buNone/>
            </a:pPr>
            <a:r>
              <a:rPr lang="en-US" sz="3000" b="1" dirty="0">
                <a:solidFill>
                  <a:srgbClr val="1F3B57"/>
                </a:solidFill>
                <a:latin typeface="Arial" pitchFamily="34" charset="0"/>
                <a:ea typeface="Arial" pitchFamily="34" charset="-122"/>
                <a:cs typeface="Arial" pitchFamily="34" charset="-120"/>
              </a:rPr>
              <a:t>+500,000</a:t>
            </a:r>
            <a:endParaRPr lang="en-US" sz="3000" dirty="0"/>
          </a:p>
        </p:txBody>
      </p:sp>
      <p:sp>
        <p:nvSpPr>
          <p:cNvPr id="7" name="Text 5"/>
          <p:cNvSpPr txBox="1"/>
          <p:nvPr/>
        </p:nvSpPr>
        <p:spPr>
          <a:xfrm>
            <a:off x="640080" y="3364992"/>
            <a:ext cx="1581912" cy="496062"/>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عميل</a:t>
            </a:r>
            <a:endParaRPr lang="en-US" sz="1100" b="1" dirty="0"/>
          </a:p>
        </p:txBody>
      </p:sp>
      <p:sp>
        <p:nvSpPr>
          <p:cNvPr id="8" name="Shape 6"/>
          <p:cNvSpPr/>
          <p:nvPr/>
        </p:nvSpPr>
        <p:spPr>
          <a:xfrm>
            <a:off x="2423160" y="2514600"/>
            <a:ext cx="1764792" cy="1417320"/>
          </a:xfrm>
          <a:prstGeom prst="roundRect">
            <a:avLst>
              <a:gd name="adj" fmla="val 5161"/>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9" name="Text 7"/>
          <p:cNvSpPr txBox="1"/>
          <p:nvPr/>
        </p:nvSpPr>
        <p:spPr>
          <a:xfrm>
            <a:off x="2423160" y="2624328"/>
            <a:ext cx="1764792" cy="779526"/>
          </a:xfrm>
          <a:prstGeom prst="rect">
            <a:avLst/>
          </a:prstGeom>
          <a:noFill/>
          <a:ln/>
        </p:spPr>
        <p:txBody>
          <a:bodyPr wrap="square" lIns="0" tIns="0" rIns="0" bIns="0" rtlCol="0" anchor="ctr"/>
          <a:lstStyle/>
          <a:p>
            <a:pPr marL="0" indent="0" algn="ctr">
              <a:buNone/>
            </a:pPr>
            <a:r>
              <a:rPr lang="en-US" sz="3000" b="1" dirty="0">
                <a:solidFill>
                  <a:srgbClr val="B08D27"/>
                </a:solidFill>
                <a:latin typeface="Arial" pitchFamily="34" charset="0"/>
                <a:ea typeface="Arial" pitchFamily="34" charset="-122"/>
                <a:cs typeface="Arial" pitchFamily="34" charset="-120"/>
              </a:rPr>
              <a:t>25</a:t>
            </a:r>
            <a:endParaRPr lang="en-US" sz="3000" dirty="0"/>
          </a:p>
        </p:txBody>
      </p:sp>
      <p:sp>
        <p:nvSpPr>
          <p:cNvPr id="10" name="Text 8"/>
          <p:cNvSpPr txBox="1"/>
          <p:nvPr/>
        </p:nvSpPr>
        <p:spPr>
          <a:xfrm>
            <a:off x="2514600" y="3364992"/>
            <a:ext cx="1581912" cy="496062"/>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فرعاً مصرفياً</a:t>
            </a:r>
            <a:endParaRPr lang="en-US" sz="1100" b="1" dirty="0"/>
          </a:p>
        </p:txBody>
      </p:sp>
      <p:sp>
        <p:nvSpPr>
          <p:cNvPr id="11" name="Shape 9"/>
          <p:cNvSpPr/>
          <p:nvPr/>
        </p:nvSpPr>
        <p:spPr>
          <a:xfrm>
            <a:off x="4297680" y="2514600"/>
            <a:ext cx="1764792" cy="1417320"/>
          </a:xfrm>
          <a:prstGeom prst="roundRect">
            <a:avLst>
              <a:gd name="adj" fmla="val 5161"/>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2" name="Text 10"/>
          <p:cNvSpPr txBox="1"/>
          <p:nvPr/>
        </p:nvSpPr>
        <p:spPr>
          <a:xfrm>
            <a:off x="4297680" y="2624328"/>
            <a:ext cx="1764792" cy="779526"/>
          </a:xfrm>
          <a:prstGeom prst="rect">
            <a:avLst/>
          </a:prstGeom>
          <a:noFill/>
          <a:ln/>
        </p:spPr>
        <p:txBody>
          <a:bodyPr wrap="square" lIns="0" tIns="0" rIns="0" bIns="0" rtlCol="0" anchor="ctr"/>
          <a:lstStyle/>
          <a:p>
            <a:pPr marL="0" indent="0" algn="ctr">
              <a:buNone/>
            </a:pPr>
            <a:r>
              <a:rPr lang="en-US" sz="3000" b="1" dirty="0">
                <a:solidFill>
                  <a:srgbClr val="1F3B57"/>
                </a:solidFill>
                <a:latin typeface="Arial" pitchFamily="34" charset="0"/>
                <a:ea typeface="Arial" pitchFamily="34" charset="-122"/>
                <a:cs typeface="Arial" pitchFamily="34" charset="-120"/>
              </a:rPr>
              <a:t>150</a:t>
            </a:r>
            <a:endParaRPr lang="en-US" sz="3000" dirty="0"/>
          </a:p>
        </p:txBody>
      </p:sp>
      <p:sp>
        <p:nvSpPr>
          <p:cNvPr id="13" name="Text 11"/>
          <p:cNvSpPr txBox="1"/>
          <p:nvPr/>
        </p:nvSpPr>
        <p:spPr>
          <a:xfrm>
            <a:off x="4389120" y="3364992"/>
            <a:ext cx="1581912" cy="496062"/>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جهاز صراف آلي</a:t>
            </a:r>
            <a:endParaRPr lang="en-US" sz="1100" b="1" dirty="0"/>
          </a:p>
        </p:txBody>
      </p:sp>
      <p:sp>
        <p:nvSpPr>
          <p:cNvPr id="14" name="Shape 12"/>
          <p:cNvSpPr/>
          <p:nvPr/>
        </p:nvSpPr>
        <p:spPr>
          <a:xfrm>
            <a:off x="6172200" y="2514600"/>
            <a:ext cx="1764792" cy="1417320"/>
          </a:xfrm>
          <a:prstGeom prst="roundRect">
            <a:avLst>
              <a:gd name="adj" fmla="val 5161"/>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5" name="Text 13"/>
          <p:cNvSpPr txBox="1"/>
          <p:nvPr/>
        </p:nvSpPr>
        <p:spPr>
          <a:xfrm>
            <a:off x="6172200" y="2624328"/>
            <a:ext cx="1764792" cy="779526"/>
          </a:xfrm>
          <a:prstGeom prst="rect">
            <a:avLst/>
          </a:prstGeom>
          <a:noFill/>
          <a:ln/>
        </p:spPr>
        <p:txBody>
          <a:bodyPr wrap="square" lIns="0" tIns="0" rIns="0" bIns="0" rtlCol="0" anchor="ctr"/>
          <a:lstStyle/>
          <a:p>
            <a:pPr marL="0" indent="0" algn="ctr">
              <a:buNone/>
            </a:pPr>
            <a:r>
              <a:rPr lang="en-US" sz="3000" b="1" dirty="0">
                <a:solidFill>
                  <a:srgbClr val="B08D27"/>
                </a:solidFill>
                <a:latin typeface="Arial" pitchFamily="34" charset="0"/>
                <a:ea typeface="Arial" pitchFamily="34" charset="-122"/>
                <a:cs typeface="Arial" pitchFamily="34" charset="-120"/>
              </a:rPr>
              <a:t>2,000</a:t>
            </a:r>
            <a:endParaRPr lang="en-US" sz="3000" dirty="0"/>
          </a:p>
        </p:txBody>
      </p:sp>
      <p:sp>
        <p:nvSpPr>
          <p:cNvPr id="16" name="Text 14"/>
          <p:cNvSpPr txBox="1"/>
          <p:nvPr/>
        </p:nvSpPr>
        <p:spPr>
          <a:xfrm>
            <a:off x="6263640" y="3364992"/>
            <a:ext cx="1581912" cy="496062"/>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جهاز حاسوب موظف</a:t>
            </a:r>
            <a:endParaRPr lang="en-US" sz="1100" b="1" dirty="0"/>
          </a:p>
        </p:txBody>
      </p:sp>
      <p:sp>
        <p:nvSpPr>
          <p:cNvPr id="17" name="Shape 15"/>
          <p:cNvSpPr/>
          <p:nvPr/>
        </p:nvSpPr>
        <p:spPr>
          <a:xfrm>
            <a:off x="8046720" y="2514600"/>
            <a:ext cx="1764792" cy="1417320"/>
          </a:xfrm>
          <a:prstGeom prst="roundRect">
            <a:avLst>
              <a:gd name="adj" fmla="val 5161"/>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8" name="Text 16"/>
          <p:cNvSpPr txBox="1"/>
          <p:nvPr/>
        </p:nvSpPr>
        <p:spPr>
          <a:xfrm>
            <a:off x="8046720" y="2624328"/>
            <a:ext cx="1764792" cy="779526"/>
          </a:xfrm>
          <a:prstGeom prst="rect">
            <a:avLst/>
          </a:prstGeom>
          <a:noFill/>
          <a:ln/>
        </p:spPr>
        <p:txBody>
          <a:bodyPr wrap="square" lIns="0" tIns="0" rIns="0" bIns="0" rtlCol="0" anchor="ctr"/>
          <a:lstStyle/>
          <a:p>
            <a:pPr marL="0" indent="0" algn="ctr">
              <a:buNone/>
            </a:pPr>
            <a:r>
              <a:rPr lang="en-US" sz="3000" b="1" dirty="0">
                <a:solidFill>
                  <a:srgbClr val="1F3B57"/>
                </a:solidFill>
                <a:latin typeface="Arial" pitchFamily="34" charset="0"/>
                <a:ea typeface="Arial" pitchFamily="34" charset="-122"/>
                <a:cs typeface="Arial" pitchFamily="34" charset="-120"/>
              </a:rPr>
              <a:t>12-18M</a:t>
            </a:r>
            <a:endParaRPr lang="en-US" sz="3000" dirty="0"/>
          </a:p>
        </p:txBody>
      </p:sp>
      <p:sp>
        <p:nvSpPr>
          <p:cNvPr id="19" name="Text 17"/>
          <p:cNvSpPr txBox="1"/>
          <p:nvPr/>
        </p:nvSpPr>
        <p:spPr>
          <a:xfrm>
            <a:off x="8138160" y="3364992"/>
            <a:ext cx="1581912" cy="496062"/>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ريال ميزانية أمن المعلومات</a:t>
            </a:r>
            <a:endParaRPr lang="en-US" sz="1100" b="1" dirty="0"/>
          </a:p>
        </p:txBody>
      </p:sp>
      <p:sp>
        <p:nvSpPr>
          <p:cNvPr id="20" name="Shape 18"/>
          <p:cNvSpPr/>
          <p:nvPr/>
        </p:nvSpPr>
        <p:spPr>
          <a:xfrm>
            <a:off x="9921240" y="2514600"/>
            <a:ext cx="1764792" cy="1417320"/>
          </a:xfrm>
          <a:prstGeom prst="roundRect">
            <a:avLst>
              <a:gd name="adj" fmla="val 5161"/>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21" name="Text 19"/>
          <p:cNvSpPr txBox="1"/>
          <p:nvPr/>
        </p:nvSpPr>
        <p:spPr>
          <a:xfrm>
            <a:off x="9921240" y="2624328"/>
            <a:ext cx="1764792" cy="779526"/>
          </a:xfrm>
          <a:prstGeom prst="rect">
            <a:avLst/>
          </a:prstGeom>
          <a:noFill/>
          <a:ln/>
        </p:spPr>
        <p:txBody>
          <a:bodyPr wrap="square" lIns="0" tIns="0" rIns="0" bIns="0" rtlCol="0" anchor="ctr"/>
          <a:lstStyle/>
          <a:p>
            <a:pPr marL="0" indent="0" algn="ctr">
              <a:buNone/>
            </a:pPr>
            <a:r>
              <a:rPr lang="en-US" sz="3000" b="1" dirty="0">
                <a:solidFill>
                  <a:srgbClr val="B08D27"/>
                </a:solidFill>
                <a:latin typeface="Arial" pitchFamily="34" charset="0"/>
                <a:ea typeface="Arial" pitchFamily="34" charset="-122"/>
                <a:cs typeface="Arial" pitchFamily="34" charset="-120"/>
              </a:rPr>
              <a:t>2</a:t>
            </a:r>
            <a:endParaRPr lang="en-US" sz="3000" dirty="0"/>
          </a:p>
        </p:txBody>
      </p:sp>
      <p:sp>
        <p:nvSpPr>
          <p:cNvPr id="22" name="Text 20"/>
          <p:cNvSpPr txBox="1"/>
          <p:nvPr/>
        </p:nvSpPr>
        <p:spPr>
          <a:xfrm>
            <a:off x="10012680" y="3364992"/>
            <a:ext cx="1581912" cy="496062"/>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مركز بيانات (الرياض وجدة)</a:t>
            </a:r>
            <a:endParaRPr lang="en-US" sz="1100" b="1" dirty="0"/>
          </a:p>
        </p:txBody>
      </p:sp>
      <p:sp>
        <p:nvSpPr>
          <p:cNvPr id="23" name="Text 21"/>
          <p:cNvSpPr txBox="1"/>
          <p:nvPr/>
        </p:nvSpPr>
        <p:spPr>
          <a:xfrm>
            <a:off x="548640" y="4297680"/>
            <a:ext cx="1109441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الموقع الجغرافي والنطاق التنظيمي</a:t>
            </a:r>
            <a:endParaRPr lang="en-US" sz="1500" dirty="0"/>
          </a:p>
        </p:txBody>
      </p:sp>
      <p:sp>
        <p:nvSpPr>
          <p:cNvPr id="24" name="Shape 22"/>
          <p:cNvSpPr/>
          <p:nvPr/>
        </p:nvSpPr>
        <p:spPr>
          <a:xfrm>
            <a:off x="11185855" y="4709160"/>
            <a:ext cx="292608" cy="292608"/>
          </a:xfrm>
          <a:prstGeom prst="ellipse">
            <a:avLst/>
          </a:prstGeom>
          <a:solidFill>
            <a:srgbClr val="1F3B57"/>
          </a:solidFill>
          <a:ln/>
        </p:spPr>
      </p:sp>
      <p:sp>
        <p:nvSpPr>
          <p:cNvPr id="25" name="Text 23"/>
          <p:cNvSpPr txBox="1"/>
          <p:nvPr/>
        </p:nvSpPr>
        <p:spPr>
          <a:xfrm>
            <a:off x="11185855" y="470916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6" name="Text 24"/>
          <p:cNvSpPr txBox="1"/>
          <p:nvPr/>
        </p:nvSpPr>
        <p:spPr>
          <a:xfrm>
            <a:off x="548640" y="4654296"/>
            <a:ext cx="10454335"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المقر الرئيسي بالرياض: مركز البيانات الرئيسي ومركز العمليات الأمنية (SOC)</a:t>
            </a:r>
            <a:endParaRPr lang="en-US" sz="1200" b="1" dirty="0"/>
          </a:p>
        </p:txBody>
      </p:sp>
      <p:sp>
        <p:nvSpPr>
          <p:cNvPr id="27" name="Shape 25"/>
          <p:cNvSpPr/>
          <p:nvPr/>
        </p:nvSpPr>
        <p:spPr>
          <a:xfrm>
            <a:off x="11185855" y="5093208"/>
            <a:ext cx="292608" cy="292608"/>
          </a:xfrm>
          <a:prstGeom prst="ellipse">
            <a:avLst/>
          </a:prstGeom>
          <a:solidFill>
            <a:srgbClr val="1F3B57"/>
          </a:solidFill>
          <a:ln/>
        </p:spPr>
      </p:sp>
      <p:sp>
        <p:nvSpPr>
          <p:cNvPr id="28" name="Text 26"/>
          <p:cNvSpPr txBox="1"/>
          <p:nvPr/>
        </p:nvSpPr>
        <p:spPr>
          <a:xfrm>
            <a:off x="11185855" y="5093208"/>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9" name="Text 27"/>
          <p:cNvSpPr txBox="1"/>
          <p:nvPr/>
        </p:nvSpPr>
        <p:spPr>
          <a:xfrm>
            <a:off x="548640" y="5038344"/>
            <a:ext cx="10454335"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مركز التعافي من الكوارث بجدة (عزل جغرافي نحو 400 كم)</a:t>
            </a:r>
            <a:endParaRPr lang="en-US" sz="1200" b="1" dirty="0"/>
          </a:p>
        </p:txBody>
      </p:sp>
      <p:sp>
        <p:nvSpPr>
          <p:cNvPr id="30" name="Shape 28"/>
          <p:cNvSpPr/>
          <p:nvPr/>
        </p:nvSpPr>
        <p:spPr>
          <a:xfrm>
            <a:off x="11185855" y="5477256"/>
            <a:ext cx="292608" cy="292608"/>
          </a:xfrm>
          <a:prstGeom prst="ellipse">
            <a:avLst/>
          </a:prstGeom>
          <a:solidFill>
            <a:srgbClr val="1F3B57"/>
          </a:solidFill>
          <a:ln/>
        </p:spPr>
      </p:sp>
      <p:sp>
        <p:nvSpPr>
          <p:cNvPr id="31" name="Text 29"/>
          <p:cNvSpPr txBox="1"/>
          <p:nvPr/>
        </p:nvSpPr>
        <p:spPr>
          <a:xfrm>
            <a:off x="11185855" y="5477256"/>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2" name="Text 30"/>
          <p:cNvSpPr txBox="1"/>
          <p:nvPr/>
        </p:nvSpPr>
        <p:spPr>
          <a:xfrm>
            <a:off x="548640" y="5422392"/>
            <a:ext cx="10454335"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25 فرعاً موزعة على الرياض وجدة والدمام والمنطقة الشرقية</a:t>
            </a:r>
            <a:endParaRPr lang="en-US" sz="1200" b="1" dirty="0"/>
          </a:p>
        </p:txBody>
      </p:sp>
      <p:sp>
        <p:nvSpPr>
          <p:cNvPr id="33" name="Shape 31"/>
          <p:cNvSpPr/>
          <p:nvPr/>
        </p:nvSpPr>
        <p:spPr>
          <a:xfrm>
            <a:off x="11185855" y="5861304"/>
            <a:ext cx="292608" cy="292608"/>
          </a:xfrm>
          <a:prstGeom prst="ellipse">
            <a:avLst/>
          </a:prstGeom>
          <a:solidFill>
            <a:srgbClr val="1F3B57"/>
          </a:solidFill>
          <a:ln/>
        </p:spPr>
      </p:sp>
      <p:sp>
        <p:nvSpPr>
          <p:cNvPr id="34" name="Text 32"/>
          <p:cNvSpPr txBox="1"/>
          <p:nvPr/>
        </p:nvSpPr>
        <p:spPr>
          <a:xfrm>
            <a:off x="11185855" y="5861304"/>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5" name="Text 33"/>
          <p:cNvSpPr txBox="1"/>
          <p:nvPr/>
        </p:nvSpPr>
        <p:spPr>
          <a:xfrm>
            <a:off x="548640" y="5806440"/>
            <a:ext cx="10454335" cy="365760"/>
          </a:xfrm>
          <a:prstGeom prst="rect">
            <a:avLst/>
          </a:prstGeom>
          <a:noFill/>
          <a:ln/>
        </p:spPr>
        <p:txBody>
          <a:bodyPr wrap="square" lIns="0" tIns="0" rIns="0" bIns="0" rtlCol="0" anchor="ctr"/>
          <a:lstStyle/>
          <a:p>
            <a:pPr marL="0" indent="0" algn="r" rtl="1">
              <a:buNone/>
            </a:pPr>
            <a:r>
              <a:rPr lang="en-US" sz="1200" b="1" dirty="0">
                <a:solidFill>
                  <a:srgbClr val="1F2937"/>
                </a:solidFill>
                <a:latin typeface="Arial" pitchFamily="34" charset="0"/>
                <a:ea typeface="Arial" pitchFamily="34" charset="-122"/>
                <a:cs typeface="Arial" pitchFamily="34" charset="-120"/>
              </a:rPr>
              <a:t>الأنظمة الحرجة: Core Banking، آفاق بلس، آفاق نت، إدارة البطاقات، الدفعات الفورية</a:t>
            </a:r>
            <a:endParaRPr lang="en-US" sz="1200" b="1" dirty="0"/>
          </a:p>
        </p:txBody>
      </p:sp>
      <p:sp>
        <p:nvSpPr>
          <p:cNvPr id="36" name="Text 34"/>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7" name="Text 35"/>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أهداف المشروع</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ماذا نريد أن نحقق؟</a:t>
            </a:r>
            <a:endParaRPr lang="en-US" sz="2800" dirty="0"/>
          </a:p>
        </p:txBody>
      </p:sp>
      <p:sp>
        <p:nvSpPr>
          <p:cNvPr id="4" name="Shape 2"/>
          <p:cNvSpPr/>
          <p:nvPr/>
        </p:nvSpPr>
        <p:spPr>
          <a:xfrm>
            <a:off x="548640" y="1737360"/>
            <a:ext cx="11094415" cy="758952"/>
          </a:xfrm>
          <a:prstGeom prst="roundRect">
            <a:avLst>
              <a:gd name="adj" fmla="val 8434"/>
            </a:avLst>
          </a:prstGeom>
          <a:solidFill>
            <a:srgbClr val="FFFFFF"/>
          </a:solidFill>
          <a:ln w="12700">
            <a:solidFill>
              <a:srgbClr val="E3E7EE"/>
            </a:solidFill>
            <a:prstDash val="solid"/>
          </a:ln>
        </p:spPr>
      </p:sp>
      <p:sp>
        <p:nvSpPr>
          <p:cNvPr id="5" name="Shape 3"/>
          <p:cNvSpPr/>
          <p:nvPr/>
        </p:nvSpPr>
        <p:spPr>
          <a:xfrm>
            <a:off x="10911535" y="1856232"/>
            <a:ext cx="502920" cy="502920"/>
          </a:xfrm>
          <a:prstGeom prst="ellipse">
            <a:avLst/>
          </a:prstGeom>
          <a:solidFill>
            <a:srgbClr val="1F3B57"/>
          </a:solidFill>
          <a:ln/>
        </p:spPr>
      </p:sp>
      <p:sp>
        <p:nvSpPr>
          <p:cNvPr id="6" name="Text 4"/>
          <p:cNvSpPr txBox="1"/>
          <p:nvPr/>
        </p:nvSpPr>
        <p:spPr>
          <a:xfrm>
            <a:off x="10911535" y="185623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777240" y="1810512"/>
            <a:ext cx="995141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تقييم الوضع الحالي</a:t>
            </a:r>
            <a:endParaRPr lang="en-US" sz="1500" dirty="0"/>
          </a:p>
        </p:txBody>
      </p:sp>
      <p:sp>
        <p:nvSpPr>
          <p:cNvPr id="8" name="Text 6"/>
          <p:cNvSpPr txBox="1"/>
          <p:nvPr/>
        </p:nvSpPr>
        <p:spPr>
          <a:xfrm>
            <a:off x="777240" y="2130552"/>
            <a:ext cx="9951415" cy="45720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إجراء تحليل فجوات شامل مقابل متطلبات المواصفة ISO/IEC 27001:2022</a:t>
            </a:r>
            <a:endParaRPr lang="en-US" sz="1150" b="1" dirty="0"/>
          </a:p>
        </p:txBody>
      </p:sp>
      <p:sp>
        <p:nvSpPr>
          <p:cNvPr id="9" name="Shape 7"/>
          <p:cNvSpPr/>
          <p:nvPr/>
        </p:nvSpPr>
        <p:spPr>
          <a:xfrm>
            <a:off x="548640" y="2633472"/>
            <a:ext cx="11094415" cy="758952"/>
          </a:xfrm>
          <a:prstGeom prst="roundRect">
            <a:avLst>
              <a:gd name="adj" fmla="val 8434"/>
            </a:avLst>
          </a:prstGeom>
          <a:solidFill>
            <a:srgbClr val="FFFFFF"/>
          </a:solidFill>
          <a:ln w="12700">
            <a:solidFill>
              <a:srgbClr val="E3E7EE"/>
            </a:solidFill>
            <a:prstDash val="solid"/>
          </a:ln>
        </p:spPr>
      </p:sp>
      <p:sp>
        <p:nvSpPr>
          <p:cNvPr id="10" name="Shape 8"/>
          <p:cNvSpPr/>
          <p:nvPr/>
        </p:nvSpPr>
        <p:spPr>
          <a:xfrm>
            <a:off x="10911535" y="2752344"/>
            <a:ext cx="502920" cy="502920"/>
          </a:xfrm>
          <a:prstGeom prst="ellipse">
            <a:avLst/>
          </a:prstGeom>
          <a:solidFill>
            <a:srgbClr val="1F3B57"/>
          </a:solidFill>
          <a:ln/>
        </p:spPr>
      </p:sp>
      <p:sp>
        <p:nvSpPr>
          <p:cNvPr id="11" name="Text 9"/>
          <p:cNvSpPr txBox="1"/>
          <p:nvPr/>
        </p:nvSpPr>
        <p:spPr>
          <a:xfrm>
            <a:off x="10911535" y="2752344"/>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777240" y="2706624"/>
            <a:ext cx="995141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حصر الأصول والمخاطر</a:t>
            </a:r>
            <a:endParaRPr lang="en-US" sz="1500" dirty="0"/>
          </a:p>
        </p:txBody>
      </p:sp>
      <p:sp>
        <p:nvSpPr>
          <p:cNvPr id="13" name="Text 11"/>
          <p:cNvSpPr txBox="1"/>
          <p:nvPr/>
        </p:nvSpPr>
        <p:spPr>
          <a:xfrm>
            <a:off x="777240" y="3026664"/>
            <a:ext cx="9951415" cy="45720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بناء سجل أصول معلوماتية شامل وتقييم مخاطر مبني على الأصول</a:t>
            </a:r>
            <a:endParaRPr lang="en-US" sz="1150" b="1" dirty="0"/>
          </a:p>
        </p:txBody>
      </p:sp>
      <p:sp>
        <p:nvSpPr>
          <p:cNvPr id="14" name="Shape 12"/>
          <p:cNvSpPr/>
          <p:nvPr/>
        </p:nvSpPr>
        <p:spPr>
          <a:xfrm>
            <a:off x="548640" y="3529584"/>
            <a:ext cx="11094415" cy="758952"/>
          </a:xfrm>
          <a:prstGeom prst="roundRect">
            <a:avLst>
              <a:gd name="adj" fmla="val 8434"/>
            </a:avLst>
          </a:prstGeom>
          <a:solidFill>
            <a:srgbClr val="FFFFFF"/>
          </a:solidFill>
          <a:ln w="12700">
            <a:solidFill>
              <a:srgbClr val="E3E7EE"/>
            </a:solidFill>
            <a:prstDash val="solid"/>
          </a:ln>
        </p:spPr>
      </p:sp>
      <p:sp>
        <p:nvSpPr>
          <p:cNvPr id="15" name="Shape 13"/>
          <p:cNvSpPr/>
          <p:nvPr/>
        </p:nvSpPr>
        <p:spPr>
          <a:xfrm>
            <a:off x="10911535" y="3648456"/>
            <a:ext cx="502920" cy="502920"/>
          </a:xfrm>
          <a:prstGeom prst="ellipse">
            <a:avLst/>
          </a:prstGeom>
          <a:solidFill>
            <a:srgbClr val="1F3B57"/>
          </a:solidFill>
          <a:ln/>
        </p:spPr>
      </p:sp>
      <p:sp>
        <p:nvSpPr>
          <p:cNvPr id="16" name="Text 14"/>
          <p:cNvSpPr txBox="1"/>
          <p:nvPr/>
        </p:nvSpPr>
        <p:spPr>
          <a:xfrm>
            <a:off x="10911535" y="3648456"/>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777240" y="3602736"/>
            <a:ext cx="995141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بناء الإطار الوثائقي</a:t>
            </a:r>
            <a:endParaRPr lang="en-US" sz="1500" dirty="0"/>
          </a:p>
        </p:txBody>
      </p:sp>
      <p:sp>
        <p:nvSpPr>
          <p:cNvPr id="18" name="Text 16"/>
          <p:cNvSpPr txBox="1"/>
          <p:nvPr/>
        </p:nvSpPr>
        <p:spPr>
          <a:xfrm>
            <a:off x="777240" y="3922776"/>
            <a:ext cx="9951415" cy="45720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إعداد السياسات والإجراءات الإلزامية والداعمة لنظام إدارة أمن المعلومات</a:t>
            </a:r>
            <a:endParaRPr lang="en-US" sz="1150" b="1" dirty="0"/>
          </a:p>
        </p:txBody>
      </p:sp>
      <p:sp>
        <p:nvSpPr>
          <p:cNvPr id="19" name="Shape 17"/>
          <p:cNvSpPr/>
          <p:nvPr/>
        </p:nvSpPr>
        <p:spPr>
          <a:xfrm>
            <a:off x="548640" y="4425696"/>
            <a:ext cx="11094415" cy="758952"/>
          </a:xfrm>
          <a:prstGeom prst="roundRect">
            <a:avLst>
              <a:gd name="adj" fmla="val 8434"/>
            </a:avLst>
          </a:prstGeom>
          <a:solidFill>
            <a:srgbClr val="FFFFFF"/>
          </a:solidFill>
          <a:ln w="12700">
            <a:solidFill>
              <a:srgbClr val="E3E7EE"/>
            </a:solidFill>
            <a:prstDash val="solid"/>
          </a:ln>
        </p:spPr>
      </p:sp>
      <p:sp>
        <p:nvSpPr>
          <p:cNvPr id="20" name="Shape 18"/>
          <p:cNvSpPr/>
          <p:nvPr/>
        </p:nvSpPr>
        <p:spPr>
          <a:xfrm>
            <a:off x="10911535" y="4544568"/>
            <a:ext cx="502920" cy="502920"/>
          </a:xfrm>
          <a:prstGeom prst="ellipse">
            <a:avLst/>
          </a:prstGeom>
          <a:solidFill>
            <a:srgbClr val="1F3B57"/>
          </a:solidFill>
          <a:ln/>
        </p:spPr>
      </p:sp>
      <p:sp>
        <p:nvSpPr>
          <p:cNvPr id="21" name="Text 19"/>
          <p:cNvSpPr txBox="1"/>
          <p:nvPr/>
        </p:nvSpPr>
        <p:spPr>
          <a:xfrm>
            <a:off x="10911535" y="454456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77240" y="4498848"/>
            <a:ext cx="995141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تفعيل الرقابة والتحسين</a:t>
            </a:r>
            <a:endParaRPr lang="en-US" sz="1500" dirty="0"/>
          </a:p>
        </p:txBody>
      </p:sp>
      <p:sp>
        <p:nvSpPr>
          <p:cNvPr id="23" name="Text 21"/>
          <p:cNvSpPr txBox="1"/>
          <p:nvPr/>
        </p:nvSpPr>
        <p:spPr>
          <a:xfrm>
            <a:off x="777240" y="4818888"/>
            <a:ext cx="9951415" cy="45720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تصميم آليات المراقبة والتدقيق الداخلي والتحسين المستمر</a:t>
            </a:r>
            <a:endParaRPr lang="en-US" sz="1150" b="1" dirty="0"/>
          </a:p>
        </p:txBody>
      </p:sp>
      <p:sp>
        <p:nvSpPr>
          <p:cNvPr id="24" name="Shape 22"/>
          <p:cNvSpPr/>
          <p:nvPr/>
        </p:nvSpPr>
        <p:spPr>
          <a:xfrm>
            <a:off x="548640" y="5321808"/>
            <a:ext cx="11094415" cy="758952"/>
          </a:xfrm>
          <a:prstGeom prst="roundRect">
            <a:avLst>
              <a:gd name="adj" fmla="val 8434"/>
            </a:avLst>
          </a:prstGeom>
          <a:solidFill>
            <a:srgbClr val="FFFFFF"/>
          </a:solidFill>
          <a:ln w="12700">
            <a:solidFill>
              <a:srgbClr val="E3E7EE"/>
            </a:solidFill>
            <a:prstDash val="solid"/>
          </a:ln>
        </p:spPr>
      </p:sp>
      <p:sp>
        <p:nvSpPr>
          <p:cNvPr id="25" name="Shape 23"/>
          <p:cNvSpPr/>
          <p:nvPr/>
        </p:nvSpPr>
        <p:spPr>
          <a:xfrm>
            <a:off x="10911535" y="5440680"/>
            <a:ext cx="502920" cy="502920"/>
          </a:xfrm>
          <a:prstGeom prst="ellipse">
            <a:avLst/>
          </a:prstGeom>
          <a:solidFill>
            <a:srgbClr val="1F3B57"/>
          </a:solidFill>
          <a:ln/>
        </p:spPr>
      </p:sp>
      <p:sp>
        <p:nvSpPr>
          <p:cNvPr id="26" name="Text 24"/>
          <p:cNvSpPr txBox="1"/>
          <p:nvPr/>
        </p:nvSpPr>
        <p:spPr>
          <a:xfrm>
            <a:off x="10911535" y="54406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777240" y="5394960"/>
            <a:ext cx="995141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تجهيز الجاهزية للاعتماد</a:t>
            </a:r>
            <a:endParaRPr lang="en-US" sz="1500" dirty="0"/>
          </a:p>
        </p:txBody>
      </p:sp>
      <p:sp>
        <p:nvSpPr>
          <p:cNvPr id="28" name="Text 26"/>
          <p:cNvSpPr txBox="1"/>
          <p:nvPr/>
        </p:nvSpPr>
        <p:spPr>
          <a:xfrm>
            <a:off x="777240" y="5715000"/>
            <a:ext cx="9951415" cy="45720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تقييم مدى استعداد البنك للتقدم لتدقيق شهادة الاعتماد الخارجي</a:t>
            </a:r>
            <a:endParaRPr lang="en-US" sz="1150" b="1" dirty="0"/>
          </a:p>
        </p:txBody>
      </p:sp>
      <p:sp>
        <p:nvSpPr>
          <p:cNvPr id="29" name="Text 27"/>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0" name="Text 28"/>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منهجية العمل</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دورة التخطيط والتنفيذ والمراجعة والتحسين (PDCA)</a:t>
            </a:r>
            <a:endParaRPr lang="en-US" sz="2800" dirty="0"/>
          </a:p>
        </p:txBody>
      </p:sp>
      <p:sp>
        <p:nvSpPr>
          <p:cNvPr id="4" name="Shape 2"/>
          <p:cNvSpPr/>
          <p:nvPr/>
        </p:nvSpPr>
        <p:spPr>
          <a:xfrm>
            <a:off x="9281160" y="2377440"/>
            <a:ext cx="2514600" cy="2103120"/>
          </a:xfrm>
          <a:prstGeom prst="roundRect">
            <a:avLst>
              <a:gd name="adj" fmla="val 4348"/>
            </a:avLst>
          </a:prstGeom>
          <a:solidFill>
            <a:srgbClr val="1F3B57"/>
          </a:solidFill>
          <a:ln/>
          <a:effectLst>
            <a:outerShdw blurRad="76200" dist="25400" dir="5400000" algn="bl" rotWithShape="0">
              <a:srgbClr val="888888">
                <a:alpha val="20000"/>
              </a:srgbClr>
            </a:outerShdw>
          </a:effectLst>
        </p:spPr>
      </p:sp>
      <p:sp>
        <p:nvSpPr>
          <p:cNvPr id="5" name="Text 3"/>
          <p:cNvSpPr txBox="1"/>
          <p:nvPr/>
        </p:nvSpPr>
        <p:spPr>
          <a:xfrm>
            <a:off x="9281160" y="2514600"/>
            <a:ext cx="25146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6" name="Text 4"/>
          <p:cNvSpPr txBox="1"/>
          <p:nvPr/>
        </p:nvSpPr>
        <p:spPr>
          <a:xfrm>
            <a:off x="9281160" y="3063240"/>
            <a:ext cx="2514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تخطيط</a:t>
            </a:r>
            <a:endParaRPr lang="en-US" sz="1600" dirty="0"/>
          </a:p>
        </p:txBody>
      </p:sp>
      <p:sp>
        <p:nvSpPr>
          <p:cNvPr id="7" name="Text 5"/>
          <p:cNvSpPr txBox="1"/>
          <p:nvPr/>
        </p:nvSpPr>
        <p:spPr>
          <a:xfrm>
            <a:off x="9418320" y="3474720"/>
            <a:ext cx="2240280" cy="914400"/>
          </a:xfrm>
          <a:prstGeom prst="rect">
            <a:avLst/>
          </a:prstGeom>
          <a:noFill/>
          <a:ln/>
        </p:spPr>
        <p:txBody>
          <a:bodyPr wrap="square" lIns="0" tIns="0" rIns="0" bIns="0" rtlCol="0" anchor="t"/>
          <a:lstStyle/>
          <a:p>
            <a:pPr marL="0" indent="0" algn="ctr">
              <a:buNone/>
            </a:pPr>
            <a:r>
              <a:rPr lang="en-US" sz="1050" b="1" dirty="0">
                <a:solidFill>
                  <a:srgbClr val="FFFFFF"/>
                </a:solidFill>
                <a:latin typeface="Arial" pitchFamily="34" charset="0"/>
                <a:ea typeface="Arial" pitchFamily="34" charset="-122"/>
                <a:cs typeface="Arial" pitchFamily="34" charset="-120"/>
              </a:rPr>
              <a:t>دراسة السياق، تحليل الفجوات، حصر الأصول، تقييم المخاطر</a:t>
            </a:r>
            <a:endParaRPr lang="en-US" sz="1050" b="1" dirty="0"/>
          </a:p>
        </p:txBody>
      </p:sp>
      <p:sp>
        <p:nvSpPr>
          <p:cNvPr id="8" name="Shape 6"/>
          <p:cNvSpPr/>
          <p:nvPr/>
        </p:nvSpPr>
        <p:spPr>
          <a:xfrm>
            <a:off x="8979408" y="3246120"/>
            <a:ext cx="292608" cy="365760"/>
          </a:xfrm>
          <a:prstGeom prst="leftArrow">
            <a:avLst/>
          </a:prstGeom>
          <a:solidFill>
            <a:srgbClr val="6B7280"/>
          </a:solidFill>
          <a:ln/>
        </p:spPr>
      </p:sp>
      <p:sp>
        <p:nvSpPr>
          <p:cNvPr id="9" name="Shape 7"/>
          <p:cNvSpPr/>
          <p:nvPr/>
        </p:nvSpPr>
        <p:spPr>
          <a:xfrm>
            <a:off x="6446520" y="2377440"/>
            <a:ext cx="2514600" cy="2103120"/>
          </a:xfrm>
          <a:prstGeom prst="roundRect">
            <a:avLst>
              <a:gd name="adj" fmla="val 4348"/>
            </a:avLst>
          </a:prstGeom>
          <a:solidFill>
            <a:srgbClr val="B08D27"/>
          </a:solidFill>
          <a:ln/>
          <a:effectLst>
            <a:outerShdw blurRad="76200" dist="25400" dir="5400000" algn="bl" rotWithShape="0">
              <a:srgbClr val="888888">
                <a:alpha val="20000"/>
              </a:srgbClr>
            </a:outerShdw>
          </a:effectLst>
        </p:spPr>
      </p:sp>
      <p:sp>
        <p:nvSpPr>
          <p:cNvPr id="10" name="Text 8"/>
          <p:cNvSpPr txBox="1"/>
          <p:nvPr/>
        </p:nvSpPr>
        <p:spPr>
          <a:xfrm>
            <a:off x="6446520" y="2514600"/>
            <a:ext cx="25146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1" name="Text 9"/>
          <p:cNvSpPr txBox="1"/>
          <p:nvPr/>
        </p:nvSpPr>
        <p:spPr>
          <a:xfrm>
            <a:off x="6446520" y="3063240"/>
            <a:ext cx="2514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تنفيذ</a:t>
            </a:r>
            <a:endParaRPr lang="en-US" sz="1600" dirty="0"/>
          </a:p>
        </p:txBody>
      </p:sp>
      <p:sp>
        <p:nvSpPr>
          <p:cNvPr id="12" name="Text 10"/>
          <p:cNvSpPr txBox="1"/>
          <p:nvPr/>
        </p:nvSpPr>
        <p:spPr>
          <a:xfrm>
            <a:off x="6583680" y="3474720"/>
            <a:ext cx="2240280" cy="914400"/>
          </a:xfrm>
          <a:prstGeom prst="rect">
            <a:avLst/>
          </a:prstGeom>
          <a:noFill/>
          <a:ln/>
        </p:spPr>
        <p:txBody>
          <a:bodyPr wrap="square" lIns="0" tIns="0" rIns="0" bIns="0" rtlCol="0" anchor="t"/>
          <a:lstStyle/>
          <a:p>
            <a:pPr marL="0" indent="0" algn="ctr">
              <a:buNone/>
            </a:pPr>
            <a:r>
              <a:rPr lang="en-US" sz="1050" b="1" dirty="0">
                <a:solidFill>
                  <a:srgbClr val="FFFFFF"/>
                </a:solidFill>
                <a:latin typeface="Arial" pitchFamily="34" charset="0"/>
                <a:ea typeface="Arial" pitchFamily="34" charset="-122"/>
                <a:cs typeface="Arial" pitchFamily="34" charset="-120"/>
              </a:rPr>
              <a:t>إعداد السياسات والإجراءات وتطبيق الضوابط المحددة في SoA</a:t>
            </a:r>
            <a:endParaRPr lang="en-US" sz="1050" b="1" dirty="0"/>
          </a:p>
        </p:txBody>
      </p:sp>
      <p:sp>
        <p:nvSpPr>
          <p:cNvPr id="13" name="Shape 11"/>
          <p:cNvSpPr/>
          <p:nvPr/>
        </p:nvSpPr>
        <p:spPr>
          <a:xfrm>
            <a:off x="6144768" y="3246120"/>
            <a:ext cx="292608" cy="365760"/>
          </a:xfrm>
          <a:prstGeom prst="leftArrow">
            <a:avLst/>
          </a:prstGeom>
          <a:solidFill>
            <a:srgbClr val="6B7280"/>
          </a:solidFill>
          <a:ln/>
        </p:spPr>
      </p:sp>
      <p:sp>
        <p:nvSpPr>
          <p:cNvPr id="14" name="Shape 12"/>
          <p:cNvSpPr/>
          <p:nvPr/>
        </p:nvSpPr>
        <p:spPr>
          <a:xfrm>
            <a:off x="3611880" y="2377440"/>
            <a:ext cx="2514600" cy="2103120"/>
          </a:xfrm>
          <a:prstGeom prst="roundRect">
            <a:avLst>
              <a:gd name="adj" fmla="val 4348"/>
            </a:avLst>
          </a:prstGeom>
          <a:solidFill>
            <a:srgbClr val="1F3B57"/>
          </a:solidFill>
          <a:ln/>
          <a:effectLst>
            <a:outerShdw blurRad="76200" dist="25400" dir="5400000" algn="bl" rotWithShape="0">
              <a:srgbClr val="888888">
                <a:alpha val="20000"/>
              </a:srgbClr>
            </a:outerShdw>
          </a:effectLst>
        </p:spPr>
      </p:sp>
      <p:sp>
        <p:nvSpPr>
          <p:cNvPr id="15" name="Text 13"/>
          <p:cNvSpPr txBox="1"/>
          <p:nvPr/>
        </p:nvSpPr>
        <p:spPr>
          <a:xfrm>
            <a:off x="3611880" y="2514600"/>
            <a:ext cx="25146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6" name="Text 14"/>
          <p:cNvSpPr txBox="1"/>
          <p:nvPr/>
        </p:nvSpPr>
        <p:spPr>
          <a:xfrm>
            <a:off x="3611880" y="3063240"/>
            <a:ext cx="2514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مراجعة</a:t>
            </a:r>
            <a:endParaRPr lang="en-US" sz="1600" dirty="0"/>
          </a:p>
        </p:txBody>
      </p:sp>
      <p:sp>
        <p:nvSpPr>
          <p:cNvPr id="17" name="Text 15"/>
          <p:cNvSpPr txBox="1"/>
          <p:nvPr/>
        </p:nvSpPr>
        <p:spPr>
          <a:xfrm>
            <a:off x="3749040" y="3474720"/>
            <a:ext cx="2240280" cy="914400"/>
          </a:xfrm>
          <a:prstGeom prst="rect">
            <a:avLst/>
          </a:prstGeom>
          <a:noFill/>
          <a:ln/>
        </p:spPr>
        <p:txBody>
          <a:bodyPr wrap="square" lIns="0" tIns="0" rIns="0" bIns="0" rtlCol="0" anchor="t"/>
          <a:lstStyle/>
          <a:p>
            <a:pPr marL="0" indent="0" algn="ctr">
              <a:buNone/>
            </a:pPr>
            <a:r>
              <a:rPr lang="en-US" sz="1050" b="1" dirty="0">
                <a:solidFill>
                  <a:srgbClr val="FFFFFF"/>
                </a:solidFill>
                <a:latin typeface="Arial" pitchFamily="34" charset="0"/>
                <a:ea typeface="Arial" pitchFamily="34" charset="-122"/>
                <a:cs typeface="Arial" pitchFamily="34" charset="-120"/>
              </a:rPr>
              <a:t>المراقبة والقياس، التدقيق الداخلي، مراجعة الإدارة</a:t>
            </a:r>
            <a:endParaRPr lang="en-US" sz="1050" b="1" dirty="0"/>
          </a:p>
        </p:txBody>
      </p:sp>
      <p:sp>
        <p:nvSpPr>
          <p:cNvPr id="18" name="Shape 16"/>
          <p:cNvSpPr/>
          <p:nvPr/>
        </p:nvSpPr>
        <p:spPr>
          <a:xfrm>
            <a:off x="3310128" y="3246120"/>
            <a:ext cx="292608" cy="365760"/>
          </a:xfrm>
          <a:prstGeom prst="leftArrow">
            <a:avLst/>
          </a:prstGeom>
          <a:solidFill>
            <a:srgbClr val="6B7280"/>
          </a:solidFill>
          <a:ln/>
        </p:spPr>
      </p:sp>
      <p:sp>
        <p:nvSpPr>
          <p:cNvPr id="19" name="Shape 17"/>
          <p:cNvSpPr/>
          <p:nvPr/>
        </p:nvSpPr>
        <p:spPr>
          <a:xfrm>
            <a:off x="777240" y="2377440"/>
            <a:ext cx="2514600" cy="2103120"/>
          </a:xfrm>
          <a:prstGeom prst="roundRect">
            <a:avLst>
              <a:gd name="adj" fmla="val 4348"/>
            </a:avLst>
          </a:prstGeom>
          <a:solidFill>
            <a:srgbClr val="B08D27"/>
          </a:solidFill>
          <a:ln/>
          <a:effectLst>
            <a:outerShdw blurRad="76200" dist="25400" dir="5400000" algn="bl" rotWithShape="0">
              <a:srgbClr val="888888">
                <a:alpha val="20000"/>
              </a:srgbClr>
            </a:outerShdw>
          </a:effectLst>
        </p:spPr>
      </p:sp>
      <p:sp>
        <p:nvSpPr>
          <p:cNvPr id="20" name="Text 18"/>
          <p:cNvSpPr txBox="1"/>
          <p:nvPr/>
        </p:nvSpPr>
        <p:spPr>
          <a:xfrm>
            <a:off x="777240" y="2514600"/>
            <a:ext cx="25146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1" name="Text 19"/>
          <p:cNvSpPr txBox="1"/>
          <p:nvPr/>
        </p:nvSpPr>
        <p:spPr>
          <a:xfrm>
            <a:off x="777240" y="3063240"/>
            <a:ext cx="2514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تحسين</a:t>
            </a:r>
            <a:endParaRPr lang="en-US" sz="1600" dirty="0"/>
          </a:p>
        </p:txBody>
      </p:sp>
      <p:sp>
        <p:nvSpPr>
          <p:cNvPr id="22" name="Text 20"/>
          <p:cNvSpPr txBox="1"/>
          <p:nvPr/>
        </p:nvSpPr>
        <p:spPr>
          <a:xfrm>
            <a:off x="914400" y="3474720"/>
            <a:ext cx="2240280" cy="914400"/>
          </a:xfrm>
          <a:prstGeom prst="rect">
            <a:avLst/>
          </a:prstGeom>
          <a:noFill/>
          <a:ln/>
        </p:spPr>
        <p:txBody>
          <a:bodyPr wrap="square" lIns="0" tIns="0" rIns="0" bIns="0" rtlCol="0" anchor="t"/>
          <a:lstStyle/>
          <a:p>
            <a:pPr marL="0" indent="0" algn="ctr">
              <a:buNone/>
            </a:pPr>
            <a:r>
              <a:rPr lang="en-US" sz="1050" b="1" dirty="0">
                <a:solidFill>
                  <a:srgbClr val="FFFFFF"/>
                </a:solidFill>
                <a:latin typeface="Arial" pitchFamily="34" charset="0"/>
                <a:ea typeface="Arial" pitchFamily="34" charset="-122"/>
                <a:cs typeface="Arial" pitchFamily="34" charset="-120"/>
              </a:rPr>
              <a:t>معالجة الملاحظات، تحديث الوثائق، الاستعداد للاعتماد</a:t>
            </a:r>
            <a:endParaRPr lang="en-US" sz="1050" b="1" dirty="0"/>
          </a:p>
        </p:txBody>
      </p:sp>
      <p:sp>
        <p:nvSpPr>
          <p:cNvPr id="23" name="Text 21"/>
          <p:cNvSpPr txBox="1"/>
          <p:nvPr/>
        </p:nvSpPr>
        <p:spPr>
          <a:xfrm>
            <a:off x="777240" y="4846320"/>
            <a:ext cx="10637215" cy="457200"/>
          </a:xfrm>
          <a:prstGeom prst="rect">
            <a:avLst/>
          </a:prstGeom>
          <a:noFill/>
          <a:ln/>
        </p:spPr>
        <p:txBody>
          <a:bodyPr wrap="square" lIns="0" tIns="0" rIns="0" bIns="0" rtlCol="0" anchor="ctr"/>
          <a:lstStyle/>
          <a:p>
            <a:pPr marL="0" indent="0" algn="ctr">
              <a:buNone/>
            </a:pPr>
            <a:r>
              <a:rPr lang="en-US" sz="1250" b="1" i="1" dirty="0">
                <a:solidFill>
                  <a:srgbClr val="6B7280"/>
                </a:solidFill>
                <a:latin typeface="Arial" pitchFamily="34" charset="0"/>
                <a:ea typeface="Arial" pitchFamily="34" charset="-122"/>
                <a:cs typeface="Arial" pitchFamily="34" charset="-120"/>
              </a:rPr>
              <a:t>دورة مستمرة تُطبَّق سنوياً وعند حدوث تغييرات جوهرية في بيئة الأعمال أو التهديدات أو المتطلبات التنظيمية.</a:t>
            </a:r>
            <a:endParaRPr lang="en-US" sz="1250" b="1" dirty="0"/>
          </a:p>
        </p:txBody>
      </p:sp>
      <p:sp>
        <p:nvSpPr>
          <p:cNvPr id="24" name="Text 22"/>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25" name="Text 23"/>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الإطار المعياري</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هيكل المواصفة ISO/IEC 27001:2022</a:t>
            </a:r>
            <a:endParaRPr lang="en-US" sz="2800" dirty="0"/>
          </a:p>
        </p:txBody>
      </p:sp>
      <p:sp>
        <p:nvSpPr>
          <p:cNvPr id="4" name="Text 2"/>
          <p:cNvSpPr txBox="1"/>
          <p:nvPr/>
        </p:nvSpPr>
        <p:spPr>
          <a:xfrm>
            <a:off x="548640" y="1554480"/>
            <a:ext cx="5303520" cy="36576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البنود الرئيسية (4-10)</a:t>
            </a:r>
            <a:endParaRPr lang="en-US" sz="1500" dirty="0"/>
          </a:p>
        </p:txBody>
      </p:sp>
      <p:sp>
        <p:nvSpPr>
          <p:cNvPr id="5" name="Shape 3"/>
          <p:cNvSpPr/>
          <p:nvPr/>
        </p:nvSpPr>
        <p:spPr>
          <a:xfrm>
            <a:off x="548640" y="2011680"/>
            <a:ext cx="5303520" cy="365760"/>
          </a:xfrm>
          <a:prstGeom prst="roundRect">
            <a:avLst>
              <a:gd name="adj" fmla="val 15000"/>
            </a:avLst>
          </a:prstGeom>
          <a:solidFill>
            <a:srgbClr val="FFFFFF"/>
          </a:solidFill>
          <a:ln w="12700">
            <a:solidFill>
              <a:srgbClr val="E3E7EE"/>
            </a:solidFill>
            <a:prstDash val="solid"/>
          </a:ln>
        </p:spPr>
      </p:sp>
      <p:sp>
        <p:nvSpPr>
          <p:cNvPr id="6" name="Text 4"/>
          <p:cNvSpPr txBox="1"/>
          <p:nvPr/>
        </p:nvSpPr>
        <p:spPr>
          <a:xfrm>
            <a:off x="685800" y="20299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‏-4 - سياق المنظمة</a:t>
            </a:r>
            <a:endParaRPr lang="en-US" sz="1250" b="1" dirty="0"/>
          </a:p>
        </p:txBody>
      </p:sp>
      <p:sp>
        <p:nvSpPr>
          <p:cNvPr id="7" name="Shape 5"/>
          <p:cNvSpPr/>
          <p:nvPr/>
        </p:nvSpPr>
        <p:spPr>
          <a:xfrm>
            <a:off x="548640" y="2468880"/>
            <a:ext cx="5303520" cy="365760"/>
          </a:xfrm>
          <a:prstGeom prst="roundRect">
            <a:avLst>
              <a:gd name="adj" fmla="val 15000"/>
            </a:avLst>
          </a:prstGeom>
          <a:solidFill>
            <a:srgbClr val="FFFFFF"/>
          </a:solidFill>
          <a:ln w="12700">
            <a:solidFill>
              <a:srgbClr val="E3E7EE"/>
            </a:solidFill>
            <a:prstDash val="solid"/>
          </a:ln>
        </p:spPr>
      </p:sp>
      <p:sp>
        <p:nvSpPr>
          <p:cNvPr id="8" name="Text 6"/>
          <p:cNvSpPr txBox="1"/>
          <p:nvPr/>
        </p:nvSpPr>
        <p:spPr>
          <a:xfrm>
            <a:off x="685800" y="24871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‏-5 - القيادة</a:t>
            </a:r>
            <a:endParaRPr lang="en-US" sz="1250" b="1" dirty="0"/>
          </a:p>
        </p:txBody>
      </p:sp>
      <p:sp>
        <p:nvSpPr>
          <p:cNvPr id="9" name="Shape 7"/>
          <p:cNvSpPr/>
          <p:nvPr/>
        </p:nvSpPr>
        <p:spPr>
          <a:xfrm>
            <a:off x="548640" y="2926080"/>
            <a:ext cx="5303520" cy="365760"/>
          </a:xfrm>
          <a:prstGeom prst="roundRect">
            <a:avLst>
              <a:gd name="adj" fmla="val 15000"/>
            </a:avLst>
          </a:prstGeom>
          <a:solidFill>
            <a:srgbClr val="FFFFFF"/>
          </a:solidFill>
          <a:ln w="12700">
            <a:solidFill>
              <a:srgbClr val="E3E7EE"/>
            </a:solidFill>
            <a:prstDash val="solid"/>
          </a:ln>
        </p:spPr>
      </p:sp>
      <p:sp>
        <p:nvSpPr>
          <p:cNvPr id="10" name="Text 8"/>
          <p:cNvSpPr txBox="1"/>
          <p:nvPr/>
        </p:nvSpPr>
        <p:spPr>
          <a:xfrm>
            <a:off x="685800" y="29443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‏-6 - التخطيط</a:t>
            </a:r>
            <a:endParaRPr lang="en-US" sz="1250" b="1" dirty="0"/>
          </a:p>
        </p:txBody>
      </p:sp>
      <p:sp>
        <p:nvSpPr>
          <p:cNvPr id="11" name="Shape 9"/>
          <p:cNvSpPr/>
          <p:nvPr/>
        </p:nvSpPr>
        <p:spPr>
          <a:xfrm>
            <a:off x="548640" y="3383280"/>
            <a:ext cx="5303520" cy="365760"/>
          </a:xfrm>
          <a:prstGeom prst="roundRect">
            <a:avLst>
              <a:gd name="adj" fmla="val 15000"/>
            </a:avLst>
          </a:prstGeom>
          <a:solidFill>
            <a:srgbClr val="FFFFFF"/>
          </a:solidFill>
          <a:ln w="12700">
            <a:solidFill>
              <a:srgbClr val="E3E7EE"/>
            </a:solidFill>
            <a:prstDash val="solid"/>
          </a:ln>
        </p:spPr>
      </p:sp>
      <p:sp>
        <p:nvSpPr>
          <p:cNvPr id="12" name="Text 10"/>
          <p:cNvSpPr txBox="1"/>
          <p:nvPr/>
        </p:nvSpPr>
        <p:spPr>
          <a:xfrm>
            <a:off x="685800" y="34015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‏-7 - الدعم</a:t>
            </a:r>
            <a:endParaRPr lang="en-US" sz="1250" b="1" dirty="0"/>
          </a:p>
        </p:txBody>
      </p:sp>
      <p:sp>
        <p:nvSpPr>
          <p:cNvPr id="13" name="Shape 11"/>
          <p:cNvSpPr/>
          <p:nvPr/>
        </p:nvSpPr>
        <p:spPr>
          <a:xfrm>
            <a:off x="548640" y="3840480"/>
            <a:ext cx="5303520" cy="365760"/>
          </a:xfrm>
          <a:prstGeom prst="roundRect">
            <a:avLst>
              <a:gd name="adj" fmla="val 15000"/>
            </a:avLst>
          </a:prstGeom>
          <a:solidFill>
            <a:srgbClr val="FFFFFF"/>
          </a:solidFill>
          <a:ln w="12700">
            <a:solidFill>
              <a:srgbClr val="E3E7EE"/>
            </a:solidFill>
            <a:prstDash val="solid"/>
          </a:ln>
        </p:spPr>
      </p:sp>
      <p:sp>
        <p:nvSpPr>
          <p:cNvPr id="14" name="Text 12"/>
          <p:cNvSpPr txBox="1"/>
          <p:nvPr/>
        </p:nvSpPr>
        <p:spPr>
          <a:xfrm>
            <a:off x="685800" y="38587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‏-8 - التشغيل</a:t>
            </a:r>
            <a:endParaRPr lang="en-US" sz="1250" b="1" dirty="0"/>
          </a:p>
        </p:txBody>
      </p:sp>
      <p:sp>
        <p:nvSpPr>
          <p:cNvPr id="15" name="Shape 13"/>
          <p:cNvSpPr/>
          <p:nvPr/>
        </p:nvSpPr>
        <p:spPr>
          <a:xfrm>
            <a:off x="548640" y="4297680"/>
            <a:ext cx="5303520" cy="365760"/>
          </a:xfrm>
          <a:prstGeom prst="roundRect">
            <a:avLst>
              <a:gd name="adj" fmla="val 15000"/>
            </a:avLst>
          </a:prstGeom>
          <a:solidFill>
            <a:srgbClr val="FFFFFF"/>
          </a:solidFill>
          <a:ln w="12700">
            <a:solidFill>
              <a:srgbClr val="E3E7EE"/>
            </a:solidFill>
            <a:prstDash val="solid"/>
          </a:ln>
        </p:spPr>
      </p:sp>
      <p:sp>
        <p:nvSpPr>
          <p:cNvPr id="16" name="Text 14"/>
          <p:cNvSpPr txBox="1"/>
          <p:nvPr/>
        </p:nvSpPr>
        <p:spPr>
          <a:xfrm>
            <a:off x="685800" y="43159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‏-9 - </a:t>
            </a:r>
            <a:r>
              <a:rPr lang="en-US" sz="1250" b="1" dirty="0" err="1">
                <a:solidFill>
                  <a:srgbClr val="1F2937"/>
                </a:solidFill>
                <a:latin typeface="Arial" pitchFamily="34" charset="0"/>
                <a:ea typeface="Arial" pitchFamily="34" charset="-122"/>
                <a:cs typeface="Arial" pitchFamily="34" charset="-120"/>
              </a:rPr>
              <a:t>تقييم</a:t>
            </a:r>
            <a:r>
              <a:rPr lang="en-US" sz="1250" b="1" dirty="0">
                <a:solidFill>
                  <a:srgbClr val="1F2937"/>
                </a:solidFill>
                <a:latin typeface="Arial" pitchFamily="34" charset="0"/>
                <a:ea typeface="Arial" pitchFamily="34" charset="-122"/>
                <a:cs typeface="Arial" pitchFamily="34" charset="-120"/>
              </a:rPr>
              <a:t> الأداء</a:t>
            </a:r>
            <a:endParaRPr lang="en-US" sz="1250" b="1" dirty="0"/>
          </a:p>
        </p:txBody>
      </p:sp>
      <p:sp>
        <p:nvSpPr>
          <p:cNvPr id="17" name="Shape 15"/>
          <p:cNvSpPr/>
          <p:nvPr/>
        </p:nvSpPr>
        <p:spPr>
          <a:xfrm>
            <a:off x="548640" y="4754880"/>
            <a:ext cx="5303520" cy="365760"/>
          </a:xfrm>
          <a:prstGeom prst="roundRect">
            <a:avLst>
              <a:gd name="adj" fmla="val 15000"/>
            </a:avLst>
          </a:prstGeom>
          <a:solidFill>
            <a:srgbClr val="FFFFFF"/>
          </a:solidFill>
          <a:ln w="12700">
            <a:solidFill>
              <a:srgbClr val="E3E7EE"/>
            </a:solidFill>
            <a:prstDash val="solid"/>
          </a:ln>
        </p:spPr>
      </p:sp>
      <p:sp>
        <p:nvSpPr>
          <p:cNvPr id="18" name="Text 16"/>
          <p:cNvSpPr txBox="1"/>
          <p:nvPr/>
        </p:nvSpPr>
        <p:spPr>
          <a:xfrm>
            <a:off x="685800" y="4773168"/>
            <a:ext cx="5029200" cy="329184"/>
          </a:xfrm>
          <a:prstGeom prst="rect">
            <a:avLst/>
          </a:prstGeom>
          <a:noFill/>
          <a:ln/>
        </p:spPr>
        <p:txBody>
          <a:bodyPr wrap="square" lIns="0" tIns="0" rIns="0" bIns="0" rtlCol="0" anchor="ctr"/>
          <a:lstStyle/>
          <a:p>
            <a:pPr marL="0" indent="0" algn="r" rtl="1">
              <a:buNone/>
            </a:pPr>
            <a:r>
              <a:rPr lang="en-US" sz="1250" b="1" dirty="0">
                <a:solidFill>
                  <a:srgbClr val="1F2937"/>
                </a:solidFill>
                <a:latin typeface="Arial" pitchFamily="34" charset="0"/>
                <a:ea typeface="Arial" pitchFamily="34" charset="-122"/>
                <a:cs typeface="Arial" pitchFamily="34" charset="-120"/>
              </a:rPr>
              <a:t>‏-10 - التحسين</a:t>
            </a:r>
            <a:endParaRPr lang="en-US" sz="1250" b="1" dirty="0"/>
          </a:p>
        </p:txBody>
      </p:sp>
      <p:sp>
        <p:nvSpPr>
          <p:cNvPr id="19" name="Text 17"/>
          <p:cNvSpPr txBox="1"/>
          <p:nvPr/>
        </p:nvSpPr>
        <p:spPr>
          <a:xfrm>
            <a:off x="6309360" y="1554480"/>
            <a:ext cx="5303520" cy="36576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ضوابط الملحق A (93 ضابطاً في 4 فئات)</a:t>
            </a:r>
            <a:endParaRPr lang="en-US" sz="1500" dirty="0"/>
          </a:p>
        </p:txBody>
      </p:sp>
      <p:sp>
        <p:nvSpPr>
          <p:cNvPr id="20" name="Shape 18"/>
          <p:cNvSpPr/>
          <p:nvPr/>
        </p:nvSpPr>
        <p:spPr>
          <a:xfrm>
            <a:off x="6309360" y="2011680"/>
            <a:ext cx="5303520" cy="621792"/>
          </a:xfrm>
          <a:prstGeom prst="roundRect">
            <a:avLst>
              <a:gd name="adj" fmla="val 11765"/>
            </a:avLst>
          </a:prstGeom>
          <a:solidFill>
            <a:srgbClr val="1F3B57"/>
          </a:solidFill>
          <a:ln/>
        </p:spPr>
      </p:sp>
      <p:sp>
        <p:nvSpPr>
          <p:cNvPr id="21" name="Text 19"/>
          <p:cNvSpPr txBox="1"/>
          <p:nvPr/>
        </p:nvSpPr>
        <p:spPr>
          <a:xfrm>
            <a:off x="6492240" y="2066544"/>
            <a:ext cx="365760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Arial" pitchFamily="34" charset="0"/>
                <a:ea typeface="Arial" pitchFamily="34" charset="-122"/>
                <a:cs typeface="Arial" pitchFamily="34" charset="-120"/>
              </a:rPr>
              <a:t>A.5 الضوابط التنظيمية</a:t>
            </a:r>
            <a:endParaRPr lang="en-US" sz="1300" dirty="0"/>
          </a:p>
        </p:txBody>
      </p:sp>
      <p:sp>
        <p:nvSpPr>
          <p:cNvPr id="22" name="Text 20"/>
          <p:cNvSpPr txBox="1"/>
          <p:nvPr/>
        </p:nvSpPr>
        <p:spPr>
          <a:xfrm>
            <a:off x="6492240" y="2340864"/>
            <a:ext cx="3657600" cy="274320"/>
          </a:xfrm>
          <a:prstGeom prst="rect">
            <a:avLst/>
          </a:prstGeom>
          <a:noFill/>
          <a:ln/>
        </p:spPr>
        <p:txBody>
          <a:bodyPr wrap="square" lIns="0" tIns="0" rIns="0" bIns="0" rtlCol="0" anchor="ctr"/>
          <a:lstStyle/>
          <a:p>
            <a:pPr marL="0" indent="0" algn="r">
              <a:buNone/>
            </a:pPr>
            <a:r>
              <a:rPr lang="en-US" sz="1100" dirty="0">
                <a:solidFill>
                  <a:srgbClr val="FFFFFF"/>
                </a:solidFill>
                <a:latin typeface="Arial" pitchFamily="34" charset="0"/>
                <a:ea typeface="Arial" pitchFamily="34" charset="-122"/>
                <a:cs typeface="Arial" pitchFamily="34" charset="-120"/>
              </a:rPr>
              <a:t>37 ضابطاً</a:t>
            </a:r>
            <a:endParaRPr lang="en-US" sz="1100" dirty="0"/>
          </a:p>
        </p:txBody>
      </p:sp>
      <p:sp>
        <p:nvSpPr>
          <p:cNvPr id="23" name="Shape 21"/>
          <p:cNvSpPr/>
          <p:nvPr/>
        </p:nvSpPr>
        <p:spPr>
          <a:xfrm>
            <a:off x="6309360" y="2788920"/>
            <a:ext cx="5303520" cy="621792"/>
          </a:xfrm>
          <a:prstGeom prst="roundRect">
            <a:avLst>
              <a:gd name="adj" fmla="val 11765"/>
            </a:avLst>
          </a:prstGeom>
          <a:solidFill>
            <a:srgbClr val="B08D27"/>
          </a:solidFill>
          <a:ln/>
        </p:spPr>
      </p:sp>
      <p:sp>
        <p:nvSpPr>
          <p:cNvPr id="24" name="Text 22"/>
          <p:cNvSpPr txBox="1"/>
          <p:nvPr/>
        </p:nvSpPr>
        <p:spPr>
          <a:xfrm>
            <a:off x="6492240" y="2843784"/>
            <a:ext cx="365760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Arial" pitchFamily="34" charset="0"/>
                <a:ea typeface="Arial" pitchFamily="34" charset="-122"/>
                <a:cs typeface="Arial" pitchFamily="34" charset="-120"/>
              </a:rPr>
              <a:t>A.6 ضوابط الأفراد</a:t>
            </a:r>
            <a:endParaRPr lang="en-US" sz="1300" dirty="0"/>
          </a:p>
        </p:txBody>
      </p:sp>
      <p:sp>
        <p:nvSpPr>
          <p:cNvPr id="25" name="Text 23"/>
          <p:cNvSpPr txBox="1"/>
          <p:nvPr/>
        </p:nvSpPr>
        <p:spPr>
          <a:xfrm>
            <a:off x="6492240" y="3118104"/>
            <a:ext cx="3657600" cy="274320"/>
          </a:xfrm>
          <a:prstGeom prst="rect">
            <a:avLst/>
          </a:prstGeom>
          <a:noFill/>
          <a:ln/>
        </p:spPr>
        <p:txBody>
          <a:bodyPr wrap="square" lIns="0" tIns="0" rIns="0" bIns="0" rtlCol="0" anchor="ctr"/>
          <a:lstStyle/>
          <a:p>
            <a:pPr marL="0" indent="0" algn="r">
              <a:buNone/>
            </a:pPr>
            <a:r>
              <a:rPr lang="en-US" sz="1100" dirty="0">
                <a:solidFill>
                  <a:srgbClr val="FFFFFF"/>
                </a:solidFill>
                <a:latin typeface="Arial" pitchFamily="34" charset="0"/>
                <a:ea typeface="Arial" pitchFamily="34" charset="-122"/>
                <a:cs typeface="Arial" pitchFamily="34" charset="-120"/>
              </a:rPr>
              <a:t>8 ضوابط</a:t>
            </a:r>
            <a:endParaRPr lang="en-US" sz="1100" dirty="0"/>
          </a:p>
        </p:txBody>
      </p:sp>
      <p:sp>
        <p:nvSpPr>
          <p:cNvPr id="26" name="Shape 24"/>
          <p:cNvSpPr/>
          <p:nvPr/>
        </p:nvSpPr>
        <p:spPr>
          <a:xfrm>
            <a:off x="6309360" y="3566160"/>
            <a:ext cx="5303520" cy="621792"/>
          </a:xfrm>
          <a:prstGeom prst="roundRect">
            <a:avLst>
              <a:gd name="adj" fmla="val 11765"/>
            </a:avLst>
          </a:prstGeom>
          <a:solidFill>
            <a:srgbClr val="1F3B57"/>
          </a:solidFill>
          <a:ln/>
        </p:spPr>
      </p:sp>
      <p:sp>
        <p:nvSpPr>
          <p:cNvPr id="27" name="Text 25"/>
          <p:cNvSpPr txBox="1"/>
          <p:nvPr/>
        </p:nvSpPr>
        <p:spPr>
          <a:xfrm>
            <a:off x="6492240" y="3621024"/>
            <a:ext cx="365760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Arial" pitchFamily="34" charset="0"/>
                <a:ea typeface="Arial" pitchFamily="34" charset="-122"/>
                <a:cs typeface="Arial" pitchFamily="34" charset="-120"/>
              </a:rPr>
              <a:t>A.7 الضوابط المادية</a:t>
            </a:r>
            <a:endParaRPr lang="en-US" sz="1300" dirty="0"/>
          </a:p>
        </p:txBody>
      </p:sp>
      <p:sp>
        <p:nvSpPr>
          <p:cNvPr id="28" name="Text 26"/>
          <p:cNvSpPr txBox="1"/>
          <p:nvPr/>
        </p:nvSpPr>
        <p:spPr>
          <a:xfrm>
            <a:off x="6492240" y="3895344"/>
            <a:ext cx="3657600" cy="274320"/>
          </a:xfrm>
          <a:prstGeom prst="rect">
            <a:avLst/>
          </a:prstGeom>
          <a:noFill/>
          <a:ln/>
        </p:spPr>
        <p:txBody>
          <a:bodyPr wrap="square" lIns="0" tIns="0" rIns="0" bIns="0" rtlCol="0" anchor="ctr"/>
          <a:lstStyle/>
          <a:p>
            <a:pPr marL="0" indent="0" algn="r">
              <a:buNone/>
            </a:pPr>
            <a:r>
              <a:rPr lang="en-US" sz="1100" dirty="0">
                <a:solidFill>
                  <a:srgbClr val="FFFFFF"/>
                </a:solidFill>
                <a:latin typeface="Arial" pitchFamily="34" charset="0"/>
                <a:ea typeface="Arial" pitchFamily="34" charset="-122"/>
                <a:cs typeface="Arial" pitchFamily="34" charset="-120"/>
              </a:rPr>
              <a:t>14 ضابطاً</a:t>
            </a:r>
            <a:endParaRPr lang="en-US" sz="1100" dirty="0"/>
          </a:p>
        </p:txBody>
      </p:sp>
      <p:sp>
        <p:nvSpPr>
          <p:cNvPr id="29" name="Shape 27"/>
          <p:cNvSpPr/>
          <p:nvPr/>
        </p:nvSpPr>
        <p:spPr>
          <a:xfrm>
            <a:off x="6309360" y="4343400"/>
            <a:ext cx="5303520" cy="621792"/>
          </a:xfrm>
          <a:prstGeom prst="roundRect">
            <a:avLst>
              <a:gd name="adj" fmla="val 11765"/>
            </a:avLst>
          </a:prstGeom>
          <a:solidFill>
            <a:srgbClr val="B08D27"/>
          </a:solidFill>
          <a:ln/>
        </p:spPr>
      </p:sp>
      <p:sp>
        <p:nvSpPr>
          <p:cNvPr id="30" name="Text 28"/>
          <p:cNvSpPr txBox="1"/>
          <p:nvPr/>
        </p:nvSpPr>
        <p:spPr>
          <a:xfrm>
            <a:off x="6492240" y="4398264"/>
            <a:ext cx="365760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Arial" pitchFamily="34" charset="0"/>
                <a:ea typeface="Arial" pitchFamily="34" charset="-122"/>
                <a:cs typeface="Arial" pitchFamily="34" charset="-120"/>
              </a:rPr>
              <a:t>A.8 الضوابط التقنية</a:t>
            </a:r>
            <a:endParaRPr lang="en-US" sz="1300" dirty="0"/>
          </a:p>
        </p:txBody>
      </p:sp>
      <p:sp>
        <p:nvSpPr>
          <p:cNvPr id="31" name="Text 29"/>
          <p:cNvSpPr txBox="1"/>
          <p:nvPr/>
        </p:nvSpPr>
        <p:spPr>
          <a:xfrm>
            <a:off x="6492240" y="4672584"/>
            <a:ext cx="3657600" cy="274320"/>
          </a:xfrm>
          <a:prstGeom prst="rect">
            <a:avLst/>
          </a:prstGeom>
          <a:noFill/>
          <a:ln/>
        </p:spPr>
        <p:txBody>
          <a:bodyPr wrap="square" lIns="0" tIns="0" rIns="0" bIns="0" rtlCol="0" anchor="ctr"/>
          <a:lstStyle/>
          <a:p>
            <a:pPr marL="0" indent="0" algn="r">
              <a:buNone/>
            </a:pPr>
            <a:r>
              <a:rPr lang="en-US" sz="1100" dirty="0">
                <a:solidFill>
                  <a:srgbClr val="FFFFFF"/>
                </a:solidFill>
                <a:latin typeface="Arial" pitchFamily="34" charset="0"/>
                <a:ea typeface="Arial" pitchFamily="34" charset="-122"/>
                <a:cs typeface="Arial" pitchFamily="34" charset="-120"/>
              </a:rPr>
              <a:t>34 ضابطاً</a:t>
            </a:r>
            <a:endParaRPr lang="en-US" sz="1100" dirty="0"/>
          </a:p>
        </p:txBody>
      </p:sp>
      <p:sp>
        <p:nvSpPr>
          <p:cNvPr id="32" name="Text 30"/>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3" name="Text 31"/>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7</a:t>
            </a:r>
            <a:endParaRPr lang="en-US" sz="900" dirty="0"/>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63B"/>
        </a:solidFill>
        <a:effectLst/>
      </p:bgPr>
    </p:bg>
    <p:spTree>
      <p:nvGrpSpPr>
        <p:cNvPr id="1" name=""/>
        <p:cNvGrpSpPr/>
        <p:nvPr/>
      </p:nvGrpSpPr>
      <p:grpSpPr>
        <a:xfrm>
          <a:off x="0" y="0"/>
          <a:ext cx="0" cy="0"/>
          <a:chOff x="0" y="0"/>
          <a:chExt cx="0" cy="0"/>
        </a:xfrm>
      </p:grpSpPr>
      <p:sp>
        <p:nvSpPr>
          <p:cNvPr id="2" name="Shape 0"/>
          <p:cNvSpPr/>
          <p:nvPr/>
        </p:nvSpPr>
        <p:spPr>
          <a:xfrm>
            <a:off x="5684368" y="1051560"/>
            <a:ext cx="822960" cy="822960"/>
          </a:xfrm>
          <a:prstGeom prst="ellipse">
            <a:avLst/>
          </a:prstGeom>
          <a:solidFill>
            <a:srgbClr val="B08D27"/>
          </a:solidFill>
          <a:ln/>
        </p:spPr>
      </p:sp>
      <p:sp>
        <p:nvSpPr>
          <p:cNvPr id="3" name="Text 1"/>
          <p:cNvSpPr txBox="1"/>
          <p:nvPr/>
        </p:nvSpPr>
        <p:spPr>
          <a:xfrm>
            <a:off x="5684368" y="1051560"/>
            <a:ext cx="822960" cy="822960"/>
          </a:xfrm>
          <a:prstGeom prst="rect">
            <a:avLst/>
          </a:prstGeom>
          <a:noFill/>
          <a:ln/>
        </p:spPr>
        <p:txBody>
          <a:bodyPr wrap="square" lIns="0" tIns="0" rIns="0" bIns="0" rtlCol="0" anchor="ctr"/>
          <a:lstStyle/>
          <a:p>
            <a:pPr marL="0" indent="0" algn="ctr">
              <a:buNone/>
            </a:pPr>
            <a:r>
              <a:rPr lang="en-US" sz="2000" b="1" dirty="0">
                <a:solidFill>
                  <a:srgbClr val="13263B"/>
                </a:solidFill>
                <a:latin typeface="Arial" pitchFamily="34" charset="0"/>
                <a:ea typeface="Arial" pitchFamily="34" charset="-122"/>
                <a:cs typeface="Arial" pitchFamily="34" charset="-120"/>
              </a:rPr>
              <a:t>2</a:t>
            </a:r>
            <a:endParaRPr lang="en-US" sz="2000" dirty="0"/>
          </a:p>
        </p:txBody>
      </p:sp>
      <p:sp>
        <p:nvSpPr>
          <p:cNvPr id="4" name="Text 2"/>
          <p:cNvSpPr txBox="1"/>
          <p:nvPr/>
        </p:nvSpPr>
        <p:spPr>
          <a:xfrm>
            <a:off x="914400" y="2148840"/>
            <a:ext cx="10362895" cy="365760"/>
          </a:xfrm>
          <a:prstGeom prst="rect">
            <a:avLst/>
          </a:prstGeom>
          <a:noFill/>
          <a:ln/>
        </p:spPr>
        <p:txBody>
          <a:bodyPr wrap="square" lIns="0" tIns="0" rIns="0" bIns="0" rtlCol="0" anchor="ctr"/>
          <a:lstStyle/>
          <a:p>
            <a:pPr marL="0" indent="0" algn="ctr">
              <a:buNone/>
            </a:pPr>
            <a:r>
              <a:rPr lang="en-US" sz="1400" b="1" kern="0" spc="200" dirty="0">
                <a:solidFill>
                  <a:srgbClr val="D9BE6E"/>
                </a:solidFill>
                <a:latin typeface="Arial" pitchFamily="34" charset="0"/>
                <a:ea typeface="Arial" pitchFamily="34" charset="-122"/>
                <a:cs typeface="Arial" pitchFamily="34" charset="-120"/>
              </a:rPr>
              <a:t>المحور الثاني</a:t>
            </a:r>
            <a:endParaRPr lang="en-US" sz="1400" dirty="0"/>
          </a:p>
        </p:txBody>
      </p:sp>
      <p:sp>
        <p:nvSpPr>
          <p:cNvPr id="5" name="Text 3"/>
          <p:cNvSpPr txBox="1"/>
          <p:nvPr/>
        </p:nvSpPr>
        <p:spPr>
          <a:xfrm>
            <a:off x="914400" y="2560320"/>
            <a:ext cx="10362895" cy="100584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الأساس التحليلي للمشروع</a:t>
            </a:r>
            <a:endParaRPr lang="en-US" sz="3400" dirty="0"/>
          </a:p>
        </p:txBody>
      </p:sp>
      <p:sp>
        <p:nvSpPr>
          <p:cNvPr id="6" name="Text 4"/>
          <p:cNvSpPr txBox="1"/>
          <p:nvPr/>
        </p:nvSpPr>
        <p:spPr>
          <a:xfrm>
            <a:off x="1828800" y="3657600"/>
            <a:ext cx="8534095" cy="914400"/>
          </a:xfrm>
          <a:prstGeom prst="rect">
            <a:avLst/>
          </a:prstGeom>
          <a:noFill/>
          <a:ln/>
        </p:spPr>
        <p:txBody>
          <a:bodyPr wrap="square" lIns="0" tIns="0" rIns="0" bIns="0" rtlCol="0" anchor="ctr"/>
          <a:lstStyle/>
          <a:p>
            <a:pPr marL="0" indent="0" algn="ctr">
              <a:buNone/>
            </a:pPr>
            <a:r>
              <a:rPr lang="en-US" sz="1400" dirty="0">
                <a:solidFill>
                  <a:srgbClr val="CADCFC"/>
                </a:solidFill>
                <a:latin typeface="Arial" pitchFamily="34" charset="0"/>
                <a:ea typeface="Arial" pitchFamily="34" charset="-122"/>
                <a:cs typeface="Arial" pitchFamily="34" charset="-120"/>
              </a:rPr>
              <a:t>تحليل الفجوات، سجل الأصول المعلوماتية، وتقييم ومعالجة المخاطر</a:t>
            </a:r>
            <a:endParaRPr lang="en-US" sz="1400" dirty="0"/>
          </a:p>
        </p:txBody>
      </p:sp>
      <p:sp>
        <p:nvSpPr>
          <p:cNvPr id="7" name="Text 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8" name="Text 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نقطة الانطلاق</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تحليل فجوات ISO/IEC 27001:2022</a:t>
            </a:r>
            <a:endParaRPr lang="en-US" sz="2800" dirty="0"/>
          </a:p>
        </p:txBody>
      </p:sp>
      <p:sp>
        <p:nvSpPr>
          <p:cNvPr id="4" name="Text 2"/>
          <p:cNvSpPr txBox="1"/>
          <p:nvPr/>
        </p:nvSpPr>
        <p:spPr>
          <a:xfrm>
            <a:off x="548640" y="1508760"/>
            <a:ext cx="11094415" cy="457200"/>
          </a:xfrm>
          <a:prstGeom prst="rect">
            <a:avLst/>
          </a:prstGeom>
          <a:noFill/>
          <a:ln/>
        </p:spPr>
        <p:txBody>
          <a:bodyPr wrap="square" lIns="0" tIns="0" rIns="0" bIns="0" rtlCol="0" anchor="ctr"/>
          <a:lstStyle/>
          <a:p>
            <a:pPr marL="0" indent="0" algn="r" rtl="1">
              <a:buNone/>
            </a:pPr>
            <a:r>
              <a:rPr lang="en-US" sz="1300" dirty="0">
                <a:solidFill>
                  <a:srgbClr val="1F2937"/>
                </a:solidFill>
                <a:latin typeface="Arial" pitchFamily="34" charset="0"/>
                <a:ea typeface="Arial" pitchFamily="34" charset="-122"/>
                <a:cs typeface="Arial" pitchFamily="34" charset="-120"/>
              </a:rPr>
              <a:t>تقييم شامل للوضع </a:t>
            </a:r>
            <a:r>
              <a:rPr lang="en-US" sz="1300" dirty="0" err="1">
                <a:solidFill>
                  <a:srgbClr val="1F2937"/>
                </a:solidFill>
                <a:latin typeface="Arial" pitchFamily="34" charset="0"/>
                <a:ea typeface="Arial" pitchFamily="34" charset="-122"/>
                <a:cs typeface="Arial" pitchFamily="34" charset="-120"/>
              </a:rPr>
              <a:t>الحالي</a:t>
            </a:r>
            <a:r>
              <a:rPr lang="en-US" sz="1300" dirty="0">
                <a:solidFill>
                  <a:srgbClr val="1F2937"/>
                </a:solidFill>
                <a:latin typeface="Arial" pitchFamily="34" charset="0"/>
                <a:ea typeface="Arial" pitchFamily="34" charset="-122"/>
                <a:cs typeface="Arial" pitchFamily="34" charset="-120"/>
              </a:rPr>
              <a:t> مقابل140بنداً ومتطلباً من بنود المواصفة </a:t>
            </a:r>
            <a:r>
              <a:rPr lang="en-US" sz="1300" dirty="0" err="1">
                <a:solidFill>
                  <a:srgbClr val="1F2937"/>
                </a:solidFill>
                <a:latin typeface="Arial" pitchFamily="34" charset="0"/>
                <a:ea typeface="Arial" pitchFamily="34" charset="-122"/>
                <a:cs typeface="Arial" pitchFamily="34" charset="-120"/>
              </a:rPr>
              <a:t>وضوابط</a:t>
            </a:r>
            <a:r>
              <a:rPr lang="en-US" sz="1300" dirty="0">
                <a:solidFill>
                  <a:srgbClr val="1F2937"/>
                </a:solidFill>
                <a:latin typeface="Arial" pitchFamily="34" charset="0"/>
                <a:ea typeface="Arial" pitchFamily="34" charset="-122"/>
                <a:cs typeface="Arial" pitchFamily="34" charset="-120"/>
              </a:rPr>
              <a:t> </a:t>
            </a:r>
            <a:r>
              <a:rPr lang="en-US" sz="1300" dirty="0" err="1">
                <a:solidFill>
                  <a:srgbClr val="1F2937"/>
                </a:solidFill>
                <a:latin typeface="Arial" pitchFamily="34" charset="0"/>
                <a:ea typeface="Arial" pitchFamily="34" charset="-122"/>
                <a:cs typeface="Arial" pitchFamily="34" charset="-120"/>
              </a:rPr>
              <a:t>الملحق</a:t>
            </a:r>
            <a:r>
              <a:rPr lang="en-US" sz="1300" dirty="0">
                <a:solidFill>
                  <a:srgbClr val="1F2937"/>
                </a:solidFill>
                <a:latin typeface="Arial" pitchFamily="34" charset="0"/>
                <a:ea typeface="Arial" pitchFamily="34" charset="-122"/>
                <a:cs typeface="Arial" pitchFamily="34" charset="-120"/>
              </a:rPr>
              <a:t> A، لتحديد الفجوات وترتيب أولويات المعالجة.</a:t>
            </a:r>
            <a:endParaRPr lang="en-US" sz="1300" dirty="0"/>
          </a:p>
        </p:txBody>
      </p:sp>
      <p:graphicFrame>
        <p:nvGraphicFramePr>
          <p:cNvPr id="5" name="Chart 0"/>
          <p:cNvGraphicFramePr/>
          <p:nvPr/>
        </p:nvGraphicFramePr>
        <p:xfrm>
          <a:off x="548640" y="2103120"/>
          <a:ext cx="49377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2286000"/>
            <a:ext cx="1828800" cy="1051560"/>
          </a:xfrm>
          <a:prstGeom prst="roundRect">
            <a:avLst>
              <a:gd name="adj" fmla="val 6957"/>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7" name="Text 4"/>
          <p:cNvSpPr txBox="1"/>
          <p:nvPr/>
        </p:nvSpPr>
        <p:spPr>
          <a:xfrm>
            <a:off x="6126480" y="2395728"/>
            <a:ext cx="1828800" cy="578358"/>
          </a:xfrm>
          <a:prstGeom prst="rect">
            <a:avLst/>
          </a:prstGeom>
          <a:noFill/>
          <a:ln/>
        </p:spPr>
        <p:txBody>
          <a:bodyPr wrap="square" lIns="0" tIns="0" rIns="0" bIns="0" rtlCol="0" anchor="ctr"/>
          <a:lstStyle/>
          <a:p>
            <a:pPr marL="0" indent="0" algn="ctr">
              <a:buNone/>
            </a:pPr>
            <a:r>
              <a:rPr lang="en-US" sz="3000" b="1" dirty="0">
                <a:solidFill>
                  <a:srgbClr val="B08D27"/>
                </a:solidFill>
                <a:latin typeface="Arial" pitchFamily="34" charset="0"/>
                <a:ea typeface="Arial" pitchFamily="34" charset="-122"/>
                <a:cs typeface="Arial" pitchFamily="34" charset="-120"/>
              </a:rPr>
              <a:t>42%</a:t>
            </a:r>
            <a:endParaRPr lang="en-US" sz="3000" dirty="0"/>
          </a:p>
        </p:txBody>
      </p:sp>
      <p:sp>
        <p:nvSpPr>
          <p:cNvPr id="8" name="Text 5"/>
          <p:cNvSpPr txBox="1"/>
          <p:nvPr/>
        </p:nvSpPr>
        <p:spPr>
          <a:xfrm>
            <a:off x="6217920" y="2916936"/>
            <a:ext cx="1645920" cy="368046"/>
          </a:xfrm>
          <a:prstGeom prst="rect">
            <a:avLst/>
          </a:prstGeom>
          <a:noFill/>
          <a:ln/>
        </p:spPr>
        <p:txBody>
          <a:bodyPr wrap="square" lIns="0" tIns="0" rIns="0" bIns="0" rtlCol="0" anchor="ctr"/>
          <a:lstStyle/>
          <a:p>
            <a:pPr marL="0" indent="0" algn="ctr">
              <a:buNone/>
            </a:pPr>
            <a:endParaRPr lang="en-US" sz="1100" dirty="0"/>
          </a:p>
        </p:txBody>
      </p:sp>
      <p:sp>
        <p:nvSpPr>
          <p:cNvPr id="9" name="Text 6"/>
          <p:cNvSpPr txBox="1"/>
          <p:nvPr/>
        </p:nvSpPr>
        <p:spPr>
          <a:xfrm>
            <a:off x="8092440" y="2423160"/>
            <a:ext cx="3566160" cy="822960"/>
          </a:xfrm>
          <a:prstGeom prst="rect">
            <a:avLst/>
          </a:prstGeom>
          <a:noFill/>
          <a:ln/>
        </p:spPr>
        <p:txBody>
          <a:bodyPr wrap="square" lIns="0" tIns="0" rIns="0" bIns="0" rtlCol="0" anchor="ctr"/>
          <a:lstStyle/>
          <a:p>
            <a:pPr marL="0" indent="0" algn="r">
              <a:buNone/>
            </a:pPr>
            <a:r>
              <a:rPr lang="en-US" sz="1250" b="1" dirty="0">
                <a:solidFill>
                  <a:srgbClr val="1F2937"/>
                </a:solidFill>
                <a:latin typeface="Arial" pitchFamily="34" charset="0"/>
                <a:ea typeface="Arial" pitchFamily="34" charset="-122"/>
                <a:cs typeface="Arial" pitchFamily="34" charset="-120"/>
              </a:rPr>
              <a:t>من البنود مطبقة جزئياً فقط دون توثيق كافٍ</a:t>
            </a:r>
            <a:endParaRPr lang="en-US" sz="1250" b="1" dirty="0"/>
          </a:p>
        </p:txBody>
      </p:sp>
      <p:sp>
        <p:nvSpPr>
          <p:cNvPr id="10" name="Shape 7"/>
          <p:cNvSpPr/>
          <p:nvPr/>
        </p:nvSpPr>
        <p:spPr>
          <a:xfrm>
            <a:off x="6126480" y="3520440"/>
            <a:ext cx="1828800" cy="1051560"/>
          </a:xfrm>
          <a:prstGeom prst="roundRect">
            <a:avLst>
              <a:gd name="adj" fmla="val 6957"/>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1" name="Text 8"/>
          <p:cNvSpPr txBox="1"/>
          <p:nvPr/>
        </p:nvSpPr>
        <p:spPr>
          <a:xfrm>
            <a:off x="6126480" y="3630168"/>
            <a:ext cx="1828800" cy="578358"/>
          </a:xfrm>
          <a:prstGeom prst="rect">
            <a:avLst/>
          </a:prstGeom>
          <a:noFill/>
          <a:ln/>
        </p:spPr>
        <p:txBody>
          <a:bodyPr wrap="square" lIns="0" tIns="0" rIns="0" bIns="0" rtlCol="0" anchor="ctr"/>
          <a:lstStyle/>
          <a:p>
            <a:pPr marL="0" indent="0" algn="ctr">
              <a:buNone/>
            </a:pPr>
            <a:r>
              <a:rPr lang="en-US" sz="3000" b="1" dirty="0">
                <a:solidFill>
                  <a:srgbClr val="B3261E"/>
                </a:solidFill>
                <a:latin typeface="Arial" pitchFamily="34" charset="0"/>
                <a:ea typeface="Arial" pitchFamily="34" charset="-122"/>
                <a:cs typeface="Arial" pitchFamily="34" charset="-120"/>
              </a:rPr>
              <a:t>42%</a:t>
            </a:r>
            <a:endParaRPr lang="en-US" sz="3000" dirty="0"/>
          </a:p>
        </p:txBody>
      </p:sp>
      <p:sp>
        <p:nvSpPr>
          <p:cNvPr id="12" name="Text 9"/>
          <p:cNvSpPr txBox="1"/>
          <p:nvPr/>
        </p:nvSpPr>
        <p:spPr>
          <a:xfrm>
            <a:off x="6217920" y="4151376"/>
            <a:ext cx="1645920" cy="368046"/>
          </a:xfrm>
          <a:prstGeom prst="rect">
            <a:avLst/>
          </a:prstGeom>
          <a:noFill/>
          <a:ln/>
        </p:spPr>
        <p:txBody>
          <a:bodyPr wrap="square" lIns="0" tIns="0" rIns="0" bIns="0" rtlCol="0" anchor="ctr"/>
          <a:lstStyle/>
          <a:p>
            <a:pPr marL="0" indent="0" algn="ctr">
              <a:buNone/>
            </a:pPr>
            <a:endParaRPr lang="en-US" sz="1100" dirty="0"/>
          </a:p>
        </p:txBody>
      </p:sp>
      <p:sp>
        <p:nvSpPr>
          <p:cNvPr id="13" name="Text 10"/>
          <p:cNvSpPr txBox="1"/>
          <p:nvPr/>
        </p:nvSpPr>
        <p:spPr>
          <a:xfrm>
            <a:off x="8092440" y="3657600"/>
            <a:ext cx="3566160" cy="822960"/>
          </a:xfrm>
          <a:prstGeom prst="rect">
            <a:avLst/>
          </a:prstGeom>
          <a:noFill/>
          <a:ln/>
        </p:spPr>
        <p:txBody>
          <a:bodyPr wrap="square" lIns="0" tIns="0" rIns="0" bIns="0" rtlCol="0" anchor="ctr"/>
          <a:lstStyle/>
          <a:p>
            <a:pPr marL="0" indent="0" algn="r">
              <a:buNone/>
            </a:pPr>
            <a:r>
              <a:rPr lang="en-US" sz="1250" b="1" dirty="0">
                <a:solidFill>
                  <a:srgbClr val="1F2937"/>
                </a:solidFill>
                <a:latin typeface="Arial" pitchFamily="34" charset="0"/>
                <a:ea typeface="Arial" pitchFamily="34" charset="-122"/>
                <a:cs typeface="Arial" pitchFamily="34" charset="-120"/>
              </a:rPr>
              <a:t>من البنود غير مطبقة إطلاقاً حالياً</a:t>
            </a:r>
            <a:endParaRPr lang="en-US" sz="1250" b="1" dirty="0"/>
          </a:p>
        </p:txBody>
      </p:sp>
      <p:sp>
        <p:nvSpPr>
          <p:cNvPr id="14" name="Shape 11"/>
          <p:cNvSpPr/>
          <p:nvPr/>
        </p:nvSpPr>
        <p:spPr>
          <a:xfrm>
            <a:off x="6126480" y="4754880"/>
            <a:ext cx="1828800" cy="1051560"/>
          </a:xfrm>
          <a:prstGeom prst="roundRect">
            <a:avLst>
              <a:gd name="adj" fmla="val 6957"/>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5" name="Text 12"/>
          <p:cNvSpPr txBox="1"/>
          <p:nvPr/>
        </p:nvSpPr>
        <p:spPr>
          <a:xfrm>
            <a:off x="6126480" y="4864608"/>
            <a:ext cx="1828800" cy="578358"/>
          </a:xfrm>
          <a:prstGeom prst="rect">
            <a:avLst/>
          </a:prstGeom>
          <a:noFill/>
          <a:ln/>
        </p:spPr>
        <p:txBody>
          <a:bodyPr wrap="square" lIns="0" tIns="0" rIns="0" bIns="0" rtlCol="0" anchor="ctr"/>
          <a:lstStyle/>
          <a:p>
            <a:pPr marL="0" indent="0" algn="ctr">
              <a:buNone/>
            </a:pPr>
            <a:r>
              <a:rPr lang="en-US" sz="3000" b="1" dirty="0">
                <a:solidFill>
                  <a:srgbClr val="3A7D44"/>
                </a:solidFill>
                <a:latin typeface="Arial" pitchFamily="34" charset="0"/>
                <a:ea typeface="Arial" pitchFamily="34" charset="-122"/>
                <a:cs typeface="Arial" pitchFamily="34" charset="-120"/>
              </a:rPr>
              <a:t>9%</a:t>
            </a:r>
            <a:endParaRPr lang="en-US" sz="3000" dirty="0"/>
          </a:p>
        </p:txBody>
      </p:sp>
      <p:sp>
        <p:nvSpPr>
          <p:cNvPr id="16" name="Text 13"/>
          <p:cNvSpPr txBox="1"/>
          <p:nvPr/>
        </p:nvSpPr>
        <p:spPr>
          <a:xfrm>
            <a:off x="6217920" y="5385816"/>
            <a:ext cx="1645920" cy="368046"/>
          </a:xfrm>
          <a:prstGeom prst="rect">
            <a:avLst/>
          </a:prstGeom>
          <a:noFill/>
          <a:ln/>
        </p:spPr>
        <p:txBody>
          <a:bodyPr wrap="square" lIns="0" tIns="0" rIns="0" bIns="0" rtlCol="0" anchor="ctr"/>
          <a:lstStyle/>
          <a:p>
            <a:pPr marL="0" indent="0" algn="ctr">
              <a:buNone/>
            </a:pPr>
            <a:endParaRPr lang="en-US" sz="1100" dirty="0"/>
          </a:p>
        </p:txBody>
      </p:sp>
      <p:sp>
        <p:nvSpPr>
          <p:cNvPr id="17" name="Text 14"/>
          <p:cNvSpPr txBox="1"/>
          <p:nvPr/>
        </p:nvSpPr>
        <p:spPr>
          <a:xfrm>
            <a:off x="8092440" y="4892040"/>
            <a:ext cx="3566160" cy="822960"/>
          </a:xfrm>
          <a:prstGeom prst="rect">
            <a:avLst/>
          </a:prstGeom>
          <a:noFill/>
          <a:ln/>
        </p:spPr>
        <p:txBody>
          <a:bodyPr wrap="square" lIns="0" tIns="0" rIns="0" bIns="0" rtlCol="0" anchor="ctr"/>
          <a:lstStyle/>
          <a:p>
            <a:pPr marL="0" indent="0" algn="r">
              <a:buNone/>
            </a:pPr>
            <a:r>
              <a:rPr lang="en-US" sz="1250" b="1" dirty="0">
                <a:solidFill>
                  <a:srgbClr val="1F2937"/>
                </a:solidFill>
                <a:latin typeface="Arial" pitchFamily="34" charset="0"/>
                <a:ea typeface="Arial" pitchFamily="34" charset="-122"/>
                <a:cs typeface="Arial" pitchFamily="34" charset="-120"/>
              </a:rPr>
              <a:t>فقط من البنود مطبقة بالكامل ومطابقة</a:t>
            </a:r>
            <a:endParaRPr lang="en-US" sz="1250" b="1" dirty="0"/>
          </a:p>
        </p:txBody>
      </p:sp>
      <p:sp>
        <p:nvSpPr>
          <p:cNvPr id="18" name="Text 15"/>
          <p:cNvSpPr txBox="1"/>
          <p:nvPr/>
        </p:nvSpPr>
        <p:spPr>
          <a:xfrm>
            <a:off x="6126480" y="5623560"/>
            <a:ext cx="5516575" cy="685800"/>
          </a:xfrm>
          <a:prstGeom prst="rect">
            <a:avLst/>
          </a:prstGeom>
          <a:noFill/>
          <a:ln/>
        </p:spPr>
        <p:txBody>
          <a:bodyPr wrap="square" lIns="0" tIns="0" rIns="0" bIns="0" rtlCol="0" anchor="t"/>
          <a:lstStyle/>
          <a:p>
            <a:pPr marL="0" indent="0" algn="r" rtl="1">
              <a:buNone/>
            </a:pPr>
            <a:r>
              <a:rPr lang="en-US" sz="1100" b="1" i="1" dirty="0">
                <a:solidFill>
                  <a:srgbClr val="6B7280"/>
                </a:solidFill>
                <a:latin typeface="Arial" pitchFamily="34" charset="0"/>
                <a:ea typeface="Arial" pitchFamily="34" charset="-122"/>
                <a:cs typeface="Arial" pitchFamily="34" charset="-120"/>
              </a:rPr>
              <a:t>أبرز الفجوات الحرجة: إدارة التغيير (A.8.32)، أمن الحوسبة السحابية (A.5.23)، خصوصية بيانات العملاء (A.5.34)، مزامنة الساعات (A.8.17)، التوعية الأمنية (A.6.3).</a:t>
            </a:r>
            <a:endParaRPr lang="en-US" sz="1100" b="1" dirty="0"/>
          </a:p>
        </p:txBody>
      </p:sp>
      <p:sp>
        <p:nvSpPr>
          <p:cNvPr id="19" name="Text 16"/>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20" name="Text 17"/>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9</a:t>
            </a:r>
            <a:endParaRPr lang="en-US" sz="900" dirty="0"/>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سجل الأصول المعلوماتية</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حصر شامل لأصول البنك المعلوماتية</a:t>
            </a:r>
            <a:endParaRPr lang="en-US" sz="2800" dirty="0"/>
          </a:p>
        </p:txBody>
      </p:sp>
      <p:sp>
        <p:nvSpPr>
          <p:cNvPr id="4" name="Shape 2"/>
          <p:cNvSpPr/>
          <p:nvPr/>
        </p:nvSpPr>
        <p:spPr>
          <a:xfrm>
            <a:off x="548640" y="1600200"/>
            <a:ext cx="1828800" cy="1051560"/>
          </a:xfrm>
          <a:prstGeom prst="roundRect">
            <a:avLst>
              <a:gd name="adj" fmla="val 6957"/>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5" name="Text 3"/>
          <p:cNvSpPr txBox="1"/>
          <p:nvPr/>
        </p:nvSpPr>
        <p:spPr>
          <a:xfrm>
            <a:off x="548640" y="1709928"/>
            <a:ext cx="1828800" cy="578358"/>
          </a:xfrm>
          <a:prstGeom prst="rect">
            <a:avLst/>
          </a:prstGeom>
          <a:noFill/>
          <a:ln/>
        </p:spPr>
        <p:txBody>
          <a:bodyPr wrap="square" lIns="0" tIns="0" rIns="0" bIns="0" rtlCol="0" anchor="ctr"/>
          <a:lstStyle/>
          <a:p>
            <a:pPr marL="0" indent="0" algn="ctr">
              <a:buNone/>
            </a:pPr>
            <a:r>
              <a:rPr lang="en-US" sz="3000" b="1" dirty="0">
                <a:solidFill>
                  <a:srgbClr val="1F3B57"/>
                </a:solidFill>
                <a:latin typeface="Arial" pitchFamily="34" charset="0"/>
                <a:ea typeface="Arial" pitchFamily="34" charset="-122"/>
                <a:cs typeface="Arial" pitchFamily="34" charset="-120"/>
              </a:rPr>
              <a:t>40</a:t>
            </a:r>
            <a:endParaRPr lang="en-US" sz="3000" dirty="0"/>
          </a:p>
        </p:txBody>
      </p:sp>
      <p:sp>
        <p:nvSpPr>
          <p:cNvPr id="6" name="Text 4"/>
          <p:cNvSpPr txBox="1"/>
          <p:nvPr/>
        </p:nvSpPr>
        <p:spPr>
          <a:xfrm>
            <a:off x="640080" y="2231136"/>
            <a:ext cx="1645920" cy="368046"/>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أصلاً معلوماتياً موثقاً</a:t>
            </a:r>
            <a:endParaRPr lang="en-US" sz="1100" dirty="0"/>
          </a:p>
        </p:txBody>
      </p:sp>
      <p:sp>
        <p:nvSpPr>
          <p:cNvPr id="7" name="Shape 5"/>
          <p:cNvSpPr/>
          <p:nvPr/>
        </p:nvSpPr>
        <p:spPr>
          <a:xfrm>
            <a:off x="2514600" y="1600200"/>
            <a:ext cx="1828800" cy="1051560"/>
          </a:xfrm>
          <a:prstGeom prst="roundRect">
            <a:avLst>
              <a:gd name="adj" fmla="val 6957"/>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8" name="Text 6"/>
          <p:cNvSpPr txBox="1"/>
          <p:nvPr/>
        </p:nvSpPr>
        <p:spPr>
          <a:xfrm>
            <a:off x="2514600" y="1709928"/>
            <a:ext cx="1828800" cy="578358"/>
          </a:xfrm>
          <a:prstGeom prst="rect">
            <a:avLst/>
          </a:prstGeom>
          <a:noFill/>
          <a:ln/>
        </p:spPr>
        <p:txBody>
          <a:bodyPr wrap="square" lIns="0" tIns="0" rIns="0" bIns="0" rtlCol="0" anchor="ctr"/>
          <a:lstStyle/>
          <a:p>
            <a:pPr marL="0" indent="0" algn="ctr">
              <a:buNone/>
            </a:pPr>
            <a:r>
              <a:rPr lang="en-US" sz="3000" b="1" dirty="0">
                <a:solidFill>
                  <a:srgbClr val="B08D27"/>
                </a:solidFill>
                <a:latin typeface="Arial" pitchFamily="34" charset="0"/>
                <a:ea typeface="Arial" pitchFamily="34" charset="-122"/>
                <a:cs typeface="Arial" pitchFamily="34" charset="-120"/>
              </a:rPr>
              <a:t>9</a:t>
            </a:r>
            <a:endParaRPr lang="en-US" sz="3000" dirty="0"/>
          </a:p>
        </p:txBody>
      </p:sp>
      <p:sp>
        <p:nvSpPr>
          <p:cNvPr id="9" name="Text 7"/>
          <p:cNvSpPr txBox="1"/>
          <p:nvPr/>
        </p:nvSpPr>
        <p:spPr>
          <a:xfrm>
            <a:off x="2606040" y="2231136"/>
            <a:ext cx="1645920" cy="368046"/>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أنظمة تطبيقية حرجة</a:t>
            </a:r>
            <a:endParaRPr lang="en-US" sz="1100" dirty="0"/>
          </a:p>
        </p:txBody>
      </p:sp>
      <p:sp>
        <p:nvSpPr>
          <p:cNvPr id="10" name="Shape 8"/>
          <p:cNvSpPr/>
          <p:nvPr/>
        </p:nvSpPr>
        <p:spPr>
          <a:xfrm>
            <a:off x="4480560" y="1600200"/>
            <a:ext cx="1828800" cy="1051560"/>
          </a:xfrm>
          <a:prstGeom prst="roundRect">
            <a:avLst>
              <a:gd name="adj" fmla="val 6957"/>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1" name="Text 9"/>
          <p:cNvSpPr txBox="1"/>
          <p:nvPr/>
        </p:nvSpPr>
        <p:spPr>
          <a:xfrm>
            <a:off x="4480560" y="1709928"/>
            <a:ext cx="1828800" cy="578358"/>
          </a:xfrm>
          <a:prstGeom prst="rect">
            <a:avLst/>
          </a:prstGeom>
          <a:noFill/>
          <a:ln/>
        </p:spPr>
        <p:txBody>
          <a:bodyPr wrap="square" lIns="0" tIns="0" rIns="0" bIns="0" rtlCol="0" anchor="ctr"/>
          <a:lstStyle/>
          <a:p>
            <a:pPr marL="0" indent="0" algn="ctr">
              <a:buNone/>
            </a:pPr>
            <a:r>
              <a:rPr lang="en-US" sz="3000" b="1" dirty="0">
                <a:solidFill>
                  <a:srgbClr val="B3261E"/>
                </a:solidFill>
                <a:latin typeface="Arial" pitchFamily="34" charset="0"/>
                <a:ea typeface="Arial" pitchFamily="34" charset="-122"/>
                <a:cs typeface="Arial" pitchFamily="34" charset="-120"/>
              </a:rPr>
              <a:t>15</a:t>
            </a:r>
            <a:endParaRPr lang="en-US" sz="3000" dirty="0"/>
          </a:p>
        </p:txBody>
      </p:sp>
      <p:sp>
        <p:nvSpPr>
          <p:cNvPr id="12" name="Text 10"/>
          <p:cNvSpPr txBox="1"/>
          <p:nvPr/>
        </p:nvSpPr>
        <p:spPr>
          <a:xfrm>
            <a:off x="4572000" y="2231136"/>
            <a:ext cx="1645920" cy="368046"/>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تصنيف سري/سري للغاية</a:t>
            </a:r>
            <a:endParaRPr lang="en-US" sz="1100" dirty="0"/>
          </a:p>
        </p:txBody>
      </p:sp>
      <p:graphicFrame>
        <p:nvGraphicFramePr>
          <p:cNvPr id="13" name="Chart 0"/>
          <p:cNvGraphicFramePr/>
          <p:nvPr/>
        </p:nvGraphicFramePr>
        <p:xfrm>
          <a:off x="548640" y="2880360"/>
          <a:ext cx="55778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txBox="1"/>
          <p:nvPr/>
        </p:nvSpPr>
        <p:spPr>
          <a:xfrm>
            <a:off x="6400800" y="1600200"/>
            <a:ext cx="521208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أبرز الأصول الحرجة (سرية للغاية)</a:t>
            </a:r>
            <a:endParaRPr lang="en-US" sz="1400" dirty="0"/>
          </a:p>
        </p:txBody>
      </p:sp>
      <p:sp>
        <p:nvSpPr>
          <p:cNvPr id="15" name="Shape 12"/>
          <p:cNvSpPr/>
          <p:nvPr/>
        </p:nvSpPr>
        <p:spPr>
          <a:xfrm>
            <a:off x="11109960" y="2057400"/>
            <a:ext cx="292608" cy="292608"/>
          </a:xfrm>
          <a:prstGeom prst="ellipse">
            <a:avLst/>
          </a:prstGeom>
          <a:solidFill>
            <a:srgbClr val="B08D27"/>
          </a:solidFill>
          <a:ln/>
        </p:spPr>
      </p:sp>
      <p:sp>
        <p:nvSpPr>
          <p:cNvPr id="16" name="Text 13"/>
          <p:cNvSpPr txBox="1"/>
          <p:nvPr/>
        </p:nvSpPr>
        <p:spPr>
          <a:xfrm>
            <a:off x="11109960" y="205740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7" name="Shape 14"/>
          <p:cNvSpPr/>
          <p:nvPr/>
        </p:nvSpPr>
        <p:spPr>
          <a:xfrm>
            <a:off x="6400800" y="2011680"/>
            <a:ext cx="4617720" cy="411480"/>
          </a:xfrm>
          <a:prstGeom prst="roundRect">
            <a:avLst>
              <a:gd name="adj" fmla="val 13333"/>
            </a:avLst>
          </a:prstGeom>
          <a:solidFill>
            <a:srgbClr val="FFFFFF"/>
          </a:solidFill>
          <a:ln w="12700">
            <a:solidFill>
              <a:srgbClr val="E3E7EE"/>
            </a:solidFill>
            <a:prstDash val="solid"/>
          </a:ln>
        </p:spPr>
      </p:sp>
      <p:sp>
        <p:nvSpPr>
          <p:cNvPr id="18" name="Text 15"/>
          <p:cNvSpPr txBox="1"/>
          <p:nvPr/>
        </p:nvSpPr>
        <p:spPr>
          <a:xfrm>
            <a:off x="6537960" y="2029968"/>
            <a:ext cx="4389120" cy="384048"/>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قاعدة بيانات العملاء والمعاملات المالية (Oracle)</a:t>
            </a:r>
            <a:endParaRPr lang="en-US" sz="1100" b="1" dirty="0"/>
          </a:p>
        </p:txBody>
      </p:sp>
      <p:sp>
        <p:nvSpPr>
          <p:cNvPr id="19" name="Shape 16"/>
          <p:cNvSpPr/>
          <p:nvPr/>
        </p:nvSpPr>
        <p:spPr>
          <a:xfrm>
            <a:off x="11109960" y="2560320"/>
            <a:ext cx="292608" cy="292608"/>
          </a:xfrm>
          <a:prstGeom prst="ellipse">
            <a:avLst/>
          </a:prstGeom>
          <a:solidFill>
            <a:srgbClr val="B08D27"/>
          </a:solidFill>
          <a:ln/>
        </p:spPr>
      </p:sp>
      <p:sp>
        <p:nvSpPr>
          <p:cNvPr id="20" name="Text 17"/>
          <p:cNvSpPr txBox="1"/>
          <p:nvPr/>
        </p:nvSpPr>
        <p:spPr>
          <a:xfrm>
            <a:off x="11109960" y="256032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1" name="Shape 18"/>
          <p:cNvSpPr/>
          <p:nvPr/>
        </p:nvSpPr>
        <p:spPr>
          <a:xfrm>
            <a:off x="6400800" y="2514600"/>
            <a:ext cx="4617720" cy="411480"/>
          </a:xfrm>
          <a:prstGeom prst="roundRect">
            <a:avLst>
              <a:gd name="adj" fmla="val 13333"/>
            </a:avLst>
          </a:prstGeom>
          <a:solidFill>
            <a:srgbClr val="FFFFFF"/>
          </a:solidFill>
          <a:ln w="12700">
            <a:solidFill>
              <a:srgbClr val="E3E7EE"/>
            </a:solidFill>
            <a:prstDash val="solid"/>
          </a:ln>
        </p:spPr>
      </p:sp>
      <p:sp>
        <p:nvSpPr>
          <p:cNvPr id="22" name="Text 19"/>
          <p:cNvSpPr txBox="1"/>
          <p:nvPr/>
        </p:nvSpPr>
        <p:spPr>
          <a:xfrm>
            <a:off x="6537960" y="2532888"/>
            <a:ext cx="4389120" cy="384048"/>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نظام المعاملات المصرفية الأساسي (Core Banking)</a:t>
            </a:r>
            <a:endParaRPr lang="en-US" sz="1100" b="1" dirty="0"/>
          </a:p>
        </p:txBody>
      </p:sp>
      <p:sp>
        <p:nvSpPr>
          <p:cNvPr id="23" name="Shape 20"/>
          <p:cNvSpPr/>
          <p:nvPr/>
        </p:nvSpPr>
        <p:spPr>
          <a:xfrm>
            <a:off x="11109960" y="3063240"/>
            <a:ext cx="292608" cy="292608"/>
          </a:xfrm>
          <a:prstGeom prst="ellipse">
            <a:avLst/>
          </a:prstGeom>
          <a:solidFill>
            <a:srgbClr val="B08D27"/>
          </a:solidFill>
          <a:ln/>
        </p:spPr>
      </p:sp>
      <p:sp>
        <p:nvSpPr>
          <p:cNvPr id="24" name="Text 21"/>
          <p:cNvSpPr txBox="1"/>
          <p:nvPr/>
        </p:nvSpPr>
        <p:spPr>
          <a:xfrm>
            <a:off x="11109960" y="306324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5" name="Shape 22"/>
          <p:cNvSpPr/>
          <p:nvPr/>
        </p:nvSpPr>
        <p:spPr>
          <a:xfrm>
            <a:off x="6400800" y="3017520"/>
            <a:ext cx="4617720" cy="411480"/>
          </a:xfrm>
          <a:prstGeom prst="roundRect">
            <a:avLst>
              <a:gd name="adj" fmla="val 13333"/>
            </a:avLst>
          </a:prstGeom>
          <a:solidFill>
            <a:srgbClr val="FFFFFF"/>
          </a:solidFill>
          <a:ln w="12700">
            <a:solidFill>
              <a:srgbClr val="E3E7EE"/>
            </a:solidFill>
            <a:prstDash val="solid"/>
          </a:ln>
        </p:spPr>
      </p:sp>
      <p:sp>
        <p:nvSpPr>
          <p:cNvPr id="26" name="Text 23"/>
          <p:cNvSpPr txBox="1"/>
          <p:nvPr/>
        </p:nvSpPr>
        <p:spPr>
          <a:xfrm>
            <a:off x="6537960" y="3035808"/>
            <a:ext cx="4389120" cy="384048"/>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تطبيق آفاق بلس ومنصة آفاق نت</a:t>
            </a:r>
            <a:endParaRPr lang="en-US" sz="1100" b="1" dirty="0"/>
          </a:p>
        </p:txBody>
      </p:sp>
      <p:sp>
        <p:nvSpPr>
          <p:cNvPr id="27" name="Shape 24"/>
          <p:cNvSpPr/>
          <p:nvPr/>
        </p:nvSpPr>
        <p:spPr>
          <a:xfrm>
            <a:off x="11109960" y="3566160"/>
            <a:ext cx="292608" cy="292608"/>
          </a:xfrm>
          <a:prstGeom prst="ellipse">
            <a:avLst/>
          </a:prstGeom>
          <a:solidFill>
            <a:srgbClr val="B08D27"/>
          </a:solidFill>
          <a:ln/>
        </p:spPr>
      </p:sp>
      <p:sp>
        <p:nvSpPr>
          <p:cNvPr id="28" name="Text 25"/>
          <p:cNvSpPr txBox="1"/>
          <p:nvPr/>
        </p:nvSpPr>
        <p:spPr>
          <a:xfrm>
            <a:off x="11109960" y="356616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Shape 26"/>
          <p:cNvSpPr/>
          <p:nvPr/>
        </p:nvSpPr>
        <p:spPr>
          <a:xfrm>
            <a:off x="6400800" y="3520440"/>
            <a:ext cx="4617720" cy="411480"/>
          </a:xfrm>
          <a:prstGeom prst="roundRect">
            <a:avLst>
              <a:gd name="adj" fmla="val 13333"/>
            </a:avLst>
          </a:prstGeom>
          <a:solidFill>
            <a:srgbClr val="FFFFFF"/>
          </a:solidFill>
          <a:ln w="12700">
            <a:solidFill>
              <a:srgbClr val="E3E7EE"/>
            </a:solidFill>
            <a:prstDash val="solid"/>
          </a:ln>
        </p:spPr>
      </p:sp>
      <p:sp>
        <p:nvSpPr>
          <p:cNvPr id="30" name="Text 27"/>
          <p:cNvSpPr txBox="1"/>
          <p:nvPr/>
        </p:nvSpPr>
        <p:spPr>
          <a:xfrm>
            <a:off x="6537960" y="3538728"/>
            <a:ext cx="4389120" cy="384048"/>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نظام إدارة البطاقات ونظام الدفعات الفورية</a:t>
            </a:r>
            <a:endParaRPr lang="en-US" sz="1100" b="1" dirty="0"/>
          </a:p>
        </p:txBody>
      </p:sp>
      <p:sp>
        <p:nvSpPr>
          <p:cNvPr id="31" name="Shape 28"/>
          <p:cNvSpPr/>
          <p:nvPr/>
        </p:nvSpPr>
        <p:spPr>
          <a:xfrm>
            <a:off x="11109960" y="4069080"/>
            <a:ext cx="292608" cy="292608"/>
          </a:xfrm>
          <a:prstGeom prst="ellipse">
            <a:avLst/>
          </a:prstGeom>
          <a:solidFill>
            <a:srgbClr val="B08D27"/>
          </a:solidFill>
          <a:ln/>
        </p:spPr>
      </p:sp>
      <p:sp>
        <p:nvSpPr>
          <p:cNvPr id="32" name="Text 29"/>
          <p:cNvSpPr txBox="1"/>
          <p:nvPr/>
        </p:nvSpPr>
        <p:spPr>
          <a:xfrm>
            <a:off x="11109960" y="406908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3" name="Shape 30"/>
          <p:cNvSpPr/>
          <p:nvPr/>
        </p:nvSpPr>
        <p:spPr>
          <a:xfrm>
            <a:off x="6400800" y="4023360"/>
            <a:ext cx="4617720" cy="411480"/>
          </a:xfrm>
          <a:prstGeom prst="roundRect">
            <a:avLst>
              <a:gd name="adj" fmla="val 13333"/>
            </a:avLst>
          </a:prstGeom>
          <a:solidFill>
            <a:srgbClr val="FFFFFF"/>
          </a:solidFill>
          <a:ln w="12700">
            <a:solidFill>
              <a:srgbClr val="E3E7EE"/>
            </a:solidFill>
            <a:prstDash val="solid"/>
          </a:ln>
        </p:spPr>
      </p:sp>
      <p:sp>
        <p:nvSpPr>
          <p:cNvPr id="34" name="Text 31"/>
          <p:cNvSpPr txBox="1"/>
          <p:nvPr/>
        </p:nvSpPr>
        <p:spPr>
          <a:xfrm>
            <a:off x="6537960" y="4041648"/>
            <a:ext cx="4389120" cy="384048"/>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مفاتيح التشفير والشهادات الرقمية</a:t>
            </a:r>
            <a:endParaRPr lang="en-US" sz="1100" b="1" dirty="0"/>
          </a:p>
        </p:txBody>
      </p:sp>
      <p:sp>
        <p:nvSpPr>
          <p:cNvPr id="35" name="Text 32"/>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6" name="Text 33"/>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منهجية تقييم المخاطر</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أسلوب مبني على الأصول (Asset-Based)</a:t>
            </a:r>
            <a:endParaRPr lang="en-US" sz="2800" dirty="0"/>
          </a:p>
        </p:txBody>
      </p:sp>
      <p:sp>
        <p:nvSpPr>
          <p:cNvPr id="4" name="Text 2"/>
          <p:cNvSpPr txBox="1"/>
          <p:nvPr/>
        </p:nvSpPr>
        <p:spPr>
          <a:xfrm>
            <a:off x="548640" y="1508760"/>
            <a:ext cx="11094415" cy="365760"/>
          </a:xfrm>
          <a:prstGeom prst="rect">
            <a:avLst/>
          </a:prstGeom>
          <a:noFill/>
          <a:ln/>
        </p:spPr>
        <p:txBody>
          <a:bodyPr wrap="square" lIns="0" tIns="0" rIns="0" bIns="0" rtlCol="0" anchor="ctr"/>
          <a:lstStyle/>
          <a:p>
            <a:pPr marL="0" indent="0" algn="r">
              <a:buNone/>
            </a:pPr>
            <a:r>
              <a:rPr lang="en-US" sz="1300" b="1" dirty="0">
                <a:solidFill>
                  <a:srgbClr val="1F2937"/>
                </a:solidFill>
                <a:latin typeface="Arial" pitchFamily="34" charset="0"/>
                <a:ea typeface="Arial" pitchFamily="34" charset="-122"/>
                <a:cs typeface="Arial" pitchFamily="34" charset="-120"/>
              </a:rPr>
              <a:t>مستوى الخطر = الاحتمالية (1-5) × الأثر (1-5)، مقارنة بحدود شهية المخاطر المعتمدة</a:t>
            </a:r>
            <a:endParaRPr lang="en-US" sz="1300" b="1" dirty="0"/>
          </a:p>
        </p:txBody>
      </p:sp>
      <p:sp>
        <p:nvSpPr>
          <p:cNvPr id="5" name="Shape 3"/>
          <p:cNvSpPr/>
          <p:nvPr/>
        </p:nvSpPr>
        <p:spPr>
          <a:xfrm>
            <a:off x="822960" y="2286000"/>
            <a:ext cx="594360" cy="594360"/>
          </a:xfrm>
          <a:prstGeom prst="rect">
            <a:avLst/>
          </a:prstGeom>
          <a:solidFill>
            <a:srgbClr val="B08D27"/>
          </a:solidFill>
          <a:ln w="12700">
            <a:solidFill>
              <a:srgbClr val="FFFFFF"/>
            </a:solidFill>
            <a:prstDash val="solid"/>
          </a:ln>
        </p:spPr>
      </p:sp>
      <p:sp>
        <p:nvSpPr>
          <p:cNvPr id="6" name="Text 4"/>
          <p:cNvSpPr txBox="1"/>
          <p:nvPr/>
        </p:nvSpPr>
        <p:spPr>
          <a:xfrm>
            <a:off x="822960" y="2286000"/>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7" name="Shape 5"/>
          <p:cNvSpPr/>
          <p:nvPr/>
        </p:nvSpPr>
        <p:spPr>
          <a:xfrm>
            <a:off x="1444752" y="2286000"/>
            <a:ext cx="594360" cy="594360"/>
          </a:xfrm>
          <a:prstGeom prst="rect">
            <a:avLst/>
          </a:prstGeom>
          <a:solidFill>
            <a:srgbClr val="E07B39"/>
          </a:solidFill>
          <a:ln w="12700">
            <a:solidFill>
              <a:srgbClr val="FFFFFF"/>
            </a:solidFill>
            <a:prstDash val="solid"/>
          </a:ln>
        </p:spPr>
      </p:sp>
      <p:sp>
        <p:nvSpPr>
          <p:cNvPr id="8" name="Text 6"/>
          <p:cNvSpPr txBox="1"/>
          <p:nvPr/>
        </p:nvSpPr>
        <p:spPr>
          <a:xfrm>
            <a:off x="1444752" y="2286000"/>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9" name="Shape 7"/>
          <p:cNvSpPr/>
          <p:nvPr/>
        </p:nvSpPr>
        <p:spPr>
          <a:xfrm>
            <a:off x="2066544" y="2286000"/>
            <a:ext cx="594360" cy="594360"/>
          </a:xfrm>
          <a:prstGeom prst="rect">
            <a:avLst/>
          </a:prstGeom>
          <a:solidFill>
            <a:srgbClr val="E07B39"/>
          </a:solidFill>
          <a:ln w="12700">
            <a:solidFill>
              <a:srgbClr val="FFFFFF"/>
            </a:solidFill>
            <a:prstDash val="solid"/>
          </a:ln>
        </p:spPr>
      </p:sp>
      <p:sp>
        <p:nvSpPr>
          <p:cNvPr id="10" name="Text 8"/>
          <p:cNvSpPr txBox="1"/>
          <p:nvPr/>
        </p:nvSpPr>
        <p:spPr>
          <a:xfrm>
            <a:off x="2066544" y="2286000"/>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11" name="Shape 9"/>
          <p:cNvSpPr/>
          <p:nvPr/>
        </p:nvSpPr>
        <p:spPr>
          <a:xfrm>
            <a:off x="2688336" y="2286000"/>
            <a:ext cx="594360" cy="594360"/>
          </a:xfrm>
          <a:prstGeom prst="rect">
            <a:avLst/>
          </a:prstGeom>
          <a:solidFill>
            <a:srgbClr val="B3261E"/>
          </a:solidFill>
          <a:ln w="12700">
            <a:solidFill>
              <a:srgbClr val="FFFFFF"/>
            </a:solidFill>
            <a:prstDash val="solid"/>
          </a:ln>
        </p:spPr>
      </p:sp>
      <p:sp>
        <p:nvSpPr>
          <p:cNvPr id="12" name="Text 10"/>
          <p:cNvSpPr txBox="1"/>
          <p:nvPr/>
        </p:nvSpPr>
        <p:spPr>
          <a:xfrm>
            <a:off x="2688336" y="2286000"/>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13" name="Shape 11"/>
          <p:cNvSpPr/>
          <p:nvPr/>
        </p:nvSpPr>
        <p:spPr>
          <a:xfrm>
            <a:off x="3310128" y="2286000"/>
            <a:ext cx="594360" cy="594360"/>
          </a:xfrm>
          <a:prstGeom prst="rect">
            <a:avLst/>
          </a:prstGeom>
          <a:solidFill>
            <a:srgbClr val="B3261E"/>
          </a:solidFill>
          <a:ln w="12700">
            <a:solidFill>
              <a:srgbClr val="FFFFFF"/>
            </a:solidFill>
            <a:prstDash val="solid"/>
          </a:ln>
        </p:spPr>
      </p:sp>
      <p:sp>
        <p:nvSpPr>
          <p:cNvPr id="14" name="Text 12"/>
          <p:cNvSpPr txBox="1"/>
          <p:nvPr/>
        </p:nvSpPr>
        <p:spPr>
          <a:xfrm>
            <a:off x="3310128" y="2286000"/>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15" name="Shape 13"/>
          <p:cNvSpPr/>
          <p:nvPr/>
        </p:nvSpPr>
        <p:spPr>
          <a:xfrm>
            <a:off x="822960" y="2907792"/>
            <a:ext cx="594360" cy="594360"/>
          </a:xfrm>
          <a:prstGeom prst="rect">
            <a:avLst/>
          </a:prstGeom>
          <a:solidFill>
            <a:srgbClr val="3A7D44"/>
          </a:solidFill>
          <a:ln w="12700">
            <a:solidFill>
              <a:srgbClr val="FFFFFF"/>
            </a:solidFill>
            <a:prstDash val="solid"/>
          </a:ln>
        </p:spPr>
      </p:sp>
      <p:sp>
        <p:nvSpPr>
          <p:cNvPr id="16" name="Text 14"/>
          <p:cNvSpPr txBox="1"/>
          <p:nvPr/>
        </p:nvSpPr>
        <p:spPr>
          <a:xfrm>
            <a:off x="822960" y="2907792"/>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7" name="Shape 15"/>
          <p:cNvSpPr/>
          <p:nvPr/>
        </p:nvSpPr>
        <p:spPr>
          <a:xfrm>
            <a:off x="1444752" y="2907792"/>
            <a:ext cx="594360" cy="594360"/>
          </a:xfrm>
          <a:prstGeom prst="rect">
            <a:avLst/>
          </a:prstGeom>
          <a:solidFill>
            <a:srgbClr val="B08D27"/>
          </a:solidFill>
          <a:ln w="12700">
            <a:solidFill>
              <a:srgbClr val="FFFFFF"/>
            </a:solidFill>
            <a:prstDash val="solid"/>
          </a:ln>
        </p:spPr>
      </p:sp>
      <p:sp>
        <p:nvSpPr>
          <p:cNvPr id="18" name="Text 16"/>
          <p:cNvSpPr txBox="1"/>
          <p:nvPr/>
        </p:nvSpPr>
        <p:spPr>
          <a:xfrm>
            <a:off x="1444752" y="2907792"/>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19" name="Shape 17"/>
          <p:cNvSpPr/>
          <p:nvPr/>
        </p:nvSpPr>
        <p:spPr>
          <a:xfrm>
            <a:off x="2066544" y="2907792"/>
            <a:ext cx="594360" cy="594360"/>
          </a:xfrm>
          <a:prstGeom prst="rect">
            <a:avLst/>
          </a:prstGeom>
          <a:solidFill>
            <a:srgbClr val="E07B39"/>
          </a:solidFill>
          <a:ln w="12700">
            <a:solidFill>
              <a:srgbClr val="FFFFFF"/>
            </a:solidFill>
            <a:prstDash val="solid"/>
          </a:ln>
        </p:spPr>
      </p:sp>
      <p:sp>
        <p:nvSpPr>
          <p:cNvPr id="20" name="Text 18"/>
          <p:cNvSpPr txBox="1"/>
          <p:nvPr/>
        </p:nvSpPr>
        <p:spPr>
          <a:xfrm>
            <a:off x="2066544" y="2907792"/>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21" name="Shape 19"/>
          <p:cNvSpPr/>
          <p:nvPr/>
        </p:nvSpPr>
        <p:spPr>
          <a:xfrm>
            <a:off x="2688336" y="2907792"/>
            <a:ext cx="594360" cy="594360"/>
          </a:xfrm>
          <a:prstGeom prst="rect">
            <a:avLst/>
          </a:prstGeom>
          <a:solidFill>
            <a:srgbClr val="B3261E"/>
          </a:solidFill>
          <a:ln w="12700">
            <a:solidFill>
              <a:srgbClr val="FFFFFF"/>
            </a:solidFill>
            <a:prstDash val="solid"/>
          </a:ln>
        </p:spPr>
      </p:sp>
      <p:sp>
        <p:nvSpPr>
          <p:cNvPr id="22" name="Text 20"/>
          <p:cNvSpPr txBox="1"/>
          <p:nvPr/>
        </p:nvSpPr>
        <p:spPr>
          <a:xfrm>
            <a:off x="2688336" y="2907792"/>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16</a:t>
            </a:r>
            <a:endParaRPr lang="en-US" sz="1200" dirty="0"/>
          </a:p>
        </p:txBody>
      </p:sp>
      <p:sp>
        <p:nvSpPr>
          <p:cNvPr id="23" name="Shape 21"/>
          <p:cNvSpPr/>
          <p:nvPr/>
        </p:nvSpPr>
        <p:spPr>
          <a:xfrm>
            <a:off x="3310128" y="2907792"/>
            <a:ext cx="594360" cy="594360"/>
          </a:xfrm>
          <a:prstGeom prst="rect">
            <a:avLst/>
          </a:prstGeom>
          <a:solidFill>
            <a:srgbClr val="B3261E"/>
          </a:solidFill>
          <a:ln w="12700">
            <a:solidFill>
              <a:srgbClr val="FFFFFF"/>
            </a:solidFill>
            <a:prstDash val="solid"/>
          </a:ln>
        </p:spPr>
      </p:sp>
      <p:sp>
        <p:nvSpPr>
          <p:cNvPr id="24" name="Text 22"/>
          <p:cNvSpPr txBox="1"/>
          <p:nvPr/>
        </p:nvSpPr>
        <p:spPr>
          <a:xfrm>
            <a:off x="3310128" y="2907792"/>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
        <p:nvSpPr>
          <p:cNvPr id="25" name="Shape 23"/>
          <p:cNvSpPr/>
          <p:nvPr/>
        </p:nvSpPr>
        <p:spPr>
          <a:xfrm>
            <a:off x="822960" y="3529584"/>
            <a:ext cx="594360" cy="594360"/>
          </a:xfrm>
          <a:prstGeom prst="rect">
            <a:avLst/>
          </a:prstGeom>
          <a:solidFill>
            <a:srgbClr val="3A7D44"/>
          </a:solidFill>
          <a:ln w="12700">
            <a:solidFill>
              <a:srgbClr val="FFFFFF"/>
            </a:solidFill>
            <a:prstDash val="solid"/>
          </a:ln>
        </p:spPr>
      </p:sp>
      <p:sp>
        <p:nvSpPr>
          <p:cNvPr id="26" name="Text 24"/>
          <p:cNvSpPr txBox="1"/>
          <p:nvPr/>
        </p:nvSpPr>
        <p:spPr>
          <a:xfrm>
            <a:off x="822960" y="3529584"/>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7" name="Shape 25"/>
          <p:cNvSpPr/>
          <p:nvPr/>
        </p:nvSpPr>
        <p:spPr>
          <a:xfrm>
            <a:off x="1444752" y="3529584"/>
            <a:ext cx="594360" cy="594360"/>
          </a:xfrm>
          <a:prstGeom prst="rect">
            <a:avLst/>
          </a:prstGeom>
          <a:solidFill>
            <a:srgbClr val="B08D27"/>
          </a:solidFill>
          <a:ln w="12700">
            <a:solidFill>
              <a:srgbClr val="FFFFFF"/>
            </a:solidFill>
            <a:prstDash val="solid"/>
          </a:ln>
        </p:spPr>
      </p:sp>
      <p:sp>
        <p:nvSpPr>
          <p:cNvPr id="28" name="Text 26"/>
          <p:cNvSpPr txBox="1"/>
          <p:nvPr/>
        </p:nvSpPr>
        <p:spPr>
          <a:xfrm>
            <a:off x="1444752" y="3529584"/>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9" name="Shape 27"/>
          <p:cNvSpPr/>
          <p:nvPr/>
        </p:nvSpPr>
        <p:spPr>
          <a:xfrm>
            <a:off x="2066544" y="3529584"/>
            <a:ext cx="594360" cy="594360"/>
          </a:xfrm>
          <a:prstGeom prst="rect">
            <a:avLst/>
          </a:prstGeom>
          <a:solidFill>
            <a:srgbClr val="B08D27"/>
          </a:solidFill>
          <a:ln w="12700">
            <a:solidFill>
              <a:srgbClr val="FFFFFF"/>
            </a:solidFill>
            <a:prstDash val="solid"/>
          </a:ln>
        </p:spPr>
      </p:sp>
      <p:sp>
        <p:nvSpPr>
          <p:cNvPr id="30" name="Text 28"/>
          <p:cNvSpPr txBox="1"/>
          <p:nvPr/>
        </p:nvSpPr>
        <p:spPr>
          <a:xfrm>
            <a:off x="2066544" y="3529584"/>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31" name="Shape 29"/>
          <p:cNvSpPr/>
          <p:nvPr/>
        </p:nvSpPr>
        <p:spPr>
          <a:xfrm>
            <a:off x="2688336" y="3529584"/>
            <a:ext cx="594360" cy="594360"/>
          </a:xfrm>
          <a:prstGeom prst="rect">
            <a:avLst/>
          </a:prstGeom>
          <a:solidFill>
            <a:srgbClr val="E07B39"/>
          </a:solidFill>
          <a:ln w="12700">
            <a:solidFill>
              <a:srgbClr val="FFFFFF"/>
            </a:solidFill>
            <a:prstDash val="solid"/>
          </a:ln>
        </p:spPr>
      </p:sp>
      <p:sp>
        <p:nvSpPr>
          <p:cNvPr id="32" name="Text 30"/>
          <p:cNvSpPr txBox="1"/>
          <p:nvPr/>
        </p:nvSpPr>
        <p:spPr>
          <a:xfrm>
            <a:off x="2688336" y="3529584"/>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33" name="Shape 31"/>
          <p:cNvSpPr/>
          <p:nvPr/>
        </p:nvSpPr>
        <p:spPr>
          <a:xfrm>
            <a:off x="3310128" y="3529584"/>
            <a:ext cx="594360" cy="594360"/>
          </a:xfrm>
          <a:prstGeom prst="rect">
            <a:avLst/>
          </a:prstGeom>
          <a:solidFill>
            <a:srgbClr val="E07B39"/>
          </a:solidFill>
          <a:ln w="12700">
            <a:solidFill>
              <a:srgbClr val="FFFFFF"/>
            </a:solidFill>
            <a:prstDash val="solid"/>
          </a:ln>
        </p:spPr>
      </p:sp>
      <p:sp>
        <p:nvSpPr>
          <p:cNvPr id="34" name="Text 32"/>
          <p:cNvSpPr txBox="1"/>
          <p:nvPr/>
        </p:nvSpPr>
        <p:spPr>
          <a:xfrm>
            <a:off x="3310128" y="3529584"/>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35" name="Shape 33"/>
          <p:cNvSpPr/>
          <p:nvPr/>
        </p:nvSpPr>
        <p:spPr>
          <a:xfrm>
            <a:off x="822960" y="4151376"/>
            <a:ext cx="594360" cy="594360"/>
          </a:xfrm>
          <a:prstGeom prst="rect">
            <a:avLst/>
          </a:prstGeom>
          <a:solidFill>
            <a:srgbClr val="3A7D44"/>
          </a:solidFill>
          <a:ln w="12700">
            <a:solidFill>
              <a:srgbClr val="FFFFFF"/>
            </a:solidFill>
            <a:prstDash val="solid"/>
          </a:ln>
        </p:spPr>
      </p:sp>
      <p:sp>
        <p:nvSpPr>
          <p:cNvPr id="36" name="Text 34"/>
          <p:cNvSpPr txBox="1"/>
          <p:nvPr/>
        </p:nvSpPr>
        <p:spPr>
          <a:xfrm>
            <a:off x="822960" y="4151376"/>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7" name="Shape 35"/>
          <p:cNvSpPr/>
          <p:nvPr/>
        </p:nvSpPr>
        <p:spPr>
          <a:xfrm>
            <a:off x="1444752" y="4151376"/>
            <a:ext cx="594360" cy="594360"/>
          </a:xfrm>
          <a:prstGeom prst="rect">
            <a:avLst/>
          </a:prstGeom>
          <a:solidFill>
            <a:srgbClr val="3A7D44"/>
          </a:solidFill>
          <a:ln w="12700">
            <a:solidFill>
              <a:srgbClr val="FFFFFF"/>
            </a:solidFill>
            <a:prstDash val="solid"/>
          </a:ln>
        </p:spPr>
      </p:sp>
      <p:sp>
        <p:nvSpPr>
          <p:cNvPr id="38" name="Text 36"/>
          <p:cNvSpPr txBox="1"/>
          <p:nvPr/>
        </p:nvSpPr>
        <p:spPr>
          <a:xfrm>
            <a:off x="1444752" y="4151376"/>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9" name="Shape 37"/>
          <p:cNvSpPr/>
          <p:nvPr/>
        </p:nvSpPr>
        <p:spPr>
          <a:xfrm>
            <a:off x="2066544" y="4151376"/>
            <a:ext cx="594360" cy="594360"/>
          </a:xfrm>
          <a:prstGeom prst="rect">
            <a:avLst/>
          </a:prstGeom>
          <a:solidFill>
            <a:srgbClr val="B08D27"/>
          </a:solidFill>
          <a:ln w="12700">
            <a:solidFill>
              <a:srgbClr val="FFFFFF"/>
            </a:solidFill>
            <a:prstDash val="solid"/>
          </a:ln>
        </p:spPr>
      </p:sp>
      <p:sp>
        <p:nvSpPr>
          <p:cNvPr id="40" name="Text 38"/>
          <p:cNvSpPr txBox="1"/>
          <p:nvPr/>
        </p:nvSpPr>
        <p:spPr>
          <a:xfrm>
            <a:off x="2066544" y="4151376"/>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1" name="Shape 39"/>
          <p:cNvSpPr/>
          <p:nvPr/>
        </p:nvSpPr>
        <p:spPr>
          <a:xfrm>
            <a:off x="2688336" y="4151376"/>
            <a:ext cx="594360" cy="594360"/>
          </a:xfrm>
          <a:prstGeom prst="rect">
            <a:avLst/>
          </a:prstGeom>
          <a:solidFill>
            <a:srgbClr val="B08D27"/>
          </a:solidFill>
          <a:ln w="12700">
            <a:solidFill>
              <a:srgbClr val="FFFFFF"/>
            </a:solidFill>
            <a:prstDash val="solid"/>
          </a:ln>
        </p:spPr>
      </p:sp>
      <p:sp>
        <p:nvSpPr>
          <p:cNvPr id="42" name="Text 40"/>
          <p:cNvSpPr txBox="1"/>
          <p:nvPr/>
        </p:nvSpPr>
        <p:spPr>
          <a:xfrm>
            <a:off x="2688336" y="4151376"/>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3" name="Shape 41"/>
          <p:cNvSpPr/>
          <p:nvPr/>
        </p:nvSpPr>
        <p:spPr>
          <a:xfrm>
            <a:off x="3310128" y="4151376"/>
            <a:ext cx="594360" cy="594360"/>
          </a:xfrm>
          <a:prstGeom prst="rect">
            <a:avLst/>
          </a:prstGeom>
          <a:solidFill>
            <a:srgbClr val="E07B39"/>
          </a:solidFill>
          <a:ln w="12700">
            <a:solidFill>
              <a:srgbClr val="FFFFFF"/>
            </a:solidFill>
            <a:prstDash val="solid"/>
          </a:ln>
        </p:spPr>
      </p:sp>
      <p:sp>
        <p:nvSpPr>
          <p:cNvPr id="44" name="Text 42"/>
          <p:cNvSpPr txBox="1"/>
          <p:nvPr/>
        </p:nvSpPr>
        <p:spPr>
          <a:xfrm>
            <a:off x="3310128" y="4151376"/>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45" name="Shape 43"/>
          <p:cNvSpPr/>
          <p:nvPr/>
        </p:nvSpPr>
        <p:spPr>
          <a:xfrm>
            <a:off x="822960" y="4773168"/>
            <a:ext cx="594360" cy="594360"/>
          </a:xfrm>
          <a:prstGeom prst="rect">
            <a:avLst/>
          </a:prstGeom>
          <a:solidFill>
            <a:srgbClr val="3A7D44"/>
          </a:solidFill>
          <a:ln w="12700">
            <a:solidFill>
              <a:srgbClr val="FFFFFF"/>
            </a:solidFill>
            <a:prstDash val="solid"/>
          </a:ln>
        </p:spPr>
      </p:sp>
      <p:sp>
        <p:nvSpPr>
          <p:cNvPr id="46" name="Text 44"/>
          <p:cNvSpPr txBox="1"/>
          <p:nvPr/>
        </p:nvSpPr>
        <p:spPr>
          <a:xfrm>
            <a:off x="822960" y="4773168"/>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7" name="Shape 45"/>
          <p:cNvSpPr/>
          <p:nvPr/>
        </p:nvSpPr>
        <p:spPr>
          <a:xfrm>
            <a:off x="1444752" y="4773168"/>
            <a:ext cx="594360" cy="594360"/>
          </a:xfrm>
          <a:prstGeom prst="rect">
            <a:avLst/>
          </a:prstGeom>
          <a:solidFill>
            <a:srgbClr val="3A7D44"/>
          </a:solidFill>
          <a:ln w="12700">
            <a:solidFill>
              <a:srgbClr val="FFFFFF"/>
            </a:solidFill>
            <a:prstDash val="solid"/>
          </a:ln>
        </p:spPr>
      </p:sp>
      <p:sp>
        <p:nvSpPr>
          <p:cNvPr id="48" name="Text 46"/>
          <p:cNvSpPr txBox="1"/>
          <p:nvPr/>
        </p:nvSpPr>
        <p:spPr>
          <a:xfrm>
            <a:off x="1444752" y="4773168"/>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9" name="Shape 47"/>
          <p:cNvSpPr/>
          <p:nvPr/>
        </p:nvSpPr>
        <p:spPr>
          <a:xfrm>
            <a:off x="2066544" y="4773168"/>
            <a:ext cx="594360" cy="594360"/>
          </a:xfrm>
          <a:prstGeom prst="rect">
            <a:avLst/>
          </a:prstGeom>
          <a:solidFill>
            <a:srgbClr val="3A7D44"/>
          </a:solidFill>
          <a:ln w="12700">
            <a:solidFill>
              <a:srgbClr val="FFFFFF"/>
            </a:solidFill>
            <a:prstDash val="solid"/>
          </a:ln>
        </p:spPr>
      </p:sp>
      <p:sp>
        <p:nvSpPr>
          <p:cNvPr id="50" name="Text 48"/>
          <p:cNvSpPr txBox="1"/>
          <p:nvPr/>
        </p:nvSpPr>
        <p:spPr>
          <a:xfrm>
            <a:off x="2066544" y="4773168"/>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1" name="Shape 49"/>
          <p:cNvSpPr/>
          <p:nvPr/>
        </p:nvSpPr>
        <p:spPr>
          <a:xfrm>
            <a:off x="2688336" y="4773168"/>
            <a:ext cx="594360" cy="594360"/>
          </a:xfrm>
          <a:prstGeom prst="rect">
            <a:avLst/>
          </a:prstGeom>
          <a:solidFill>
            <a:srgbClr val="3A7D44"/>
          </a:solidFill>
          <a:ln w="12700">
            <a:solidFill>
              <a:srgbClr val="FFFFFF"/>
            </a:solidFill>
            <a:prstDash val="solid"/>
          </a:ln>
        </p:spPr>
      </p:sp>
      <p:sp>
        <p:nvSpPr>
          <p:cNvPr id="52" name="Text 50"/>
          <p:cNvSpPr txBox="1"/>
          <p:nvPr/>
        </p:nvSpPr>
        <p:spPr>
          <a:xfrm>
            <a:off x="2688336" y="4773168"/>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53" name="Shape 51"/>
          <p:cNvSpPr/>
          <p:nvPr/>
        </p:nvSpPr>
        <p:spPr>
          <a:xfrm>
            <a:off x="3310128" y="4773168"/>
            <a:ext cx="594360" cy="594360"/>
          </a:xfrm>
          <a:prstGeom prst="rect">
            <a:avLst/>
          </a:prstGeom>
          <a:solidFill>
            <a:srgbClr val="B08D27"/>
          </a:solidFill>
          <a:ln w="12700">
            <a:solidFill>
              <a:srgbClr val="FFFFFF"/>
            </a:solidFill>
            <a:prstDash val="solid"/>
          </a:ln>
        </p:spPr>
      </p:sp>
      <p:sp>
        <p:nvSpPr>
          <p:cNvPr id="54" name="Text 52"/>
          <p:cNvSpPr txBox="1"/>
          <p:nvPr/>
        </p:nvSpPr>
        <p:spPr>
          <a:xfrm>
            <a:off x="3310128" y="4773168"/>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55" name="Text 53"/>
          <p:cNvSpPr txBox="1"/>
          <p:nvPr/>
        </p:nvSpPr>
        <p:spPr>
          <a:xfrm>
            <a:off x="822960" y="5440680"/>
            <a:ext cx="3108960" cy="274320"/>
          </a:xfrm>
          <a:prstGeom prst="rect">
            <a:avLst/>
          </a:prstGeom>
          <a:noFill/>
          <a:ln/>
        </p:spPr>
        <p:txBody>
          <a:bodyPr wrap="square" lIns="0" tIns="0" rIns="0" bIns="0" rtlCol="0" anchor="ctr"/>
          <a:lstStyle/>
          <a:p>
            <a:pPr marL="0" indent="0" algn="ctr">
              <a:buNone/>
            </a:pPr>
            <a:r>
              <a:rPr lang="en-US" sz="1100" b="1" dirty="0">
                <a:solidFill>
                  <a:srgbClr val="1F3B57"/>
                </a:solidFill>
                <a:latin typeface="Arial" pitchFamily="34" charset="0"/>
                <a:ea typeface="Arial" pitchFamily="34" charset="-122"/>
                <a:cs typeface="Arial" pitchFamily="34" charset="-120"/>
              </a:rPr>
              <a:t>الأثر يزداد →</a:t>
            </a:r>
            <a:endParaRPr lang="en-US" sz="1100" dirty="0"/>
          </a:p>
        </p:txBody>
      </p:sp>
      <p:sp>
        <p:nvSpPr>
          <p:cNvPr id="56" name="Text 54"/>
          <p:cNvSpPr txBox="1"/>
          <p:nvPr/>
        </p:nvSpPr>
        <p:spPr>
          <a:xfrm rot="16200000">
            <a:off x="-137160" y="3749040"/>
            <a:ext cx="868680" cy="274320"/>
          </a:xfrm>
          <a:prstGeom prst="rect">
            <a:avLst/>
          </a:prstGeom>
          <a:noFill/>
          <a:ln/>
        </p:spPr>
        <p:txBody>
          <a:bodyPr wrap="square" lIns="0" tIns="0" rIns="0" bIns="0" rtlCol="0" anchor="ctr"/>
          <a:lstStyle/>
          <a:p>
            <a:pPr marL="0" indent="0" algn="ctr">
              <a:buNone/>
            </a:pPr>
            <a:r>
              <a:rPr lang="en-US" sz="1100" b="1" dirty="0">
                <a:solidFill>
                  <a:srgbClr val="1F3B57"/>
                </a:solidFill>
                <a:latin typeface="Arial" pitchFamily="34" charset="0"/>
                <a:ea typeface="Arial" pitchFamily="34" charset="-122"/>
                <a:cs typeface="Arial" pitchFamily="34" charset="-120"/>
              </a:rPr>
              <a:t>↑ الاحتمالية</a:t>
            </a:r>
            <a:endParaRPr lang="en-US" sz="1100" dirty="0"/>
          </a:p>
        </p:txBody>
      </p:sp>
      <p:sp>
        <p:nvSpPr>
          <p:cNvPr id="57" name="Shape 55"/>
          <p:cNvSpPr/>
          <p:nvPr/>
        </p:nvSpPr>
        <p:spPr>
          <a:xfrm>
            <a:off x="7589520" y="2331720"/>
            <a:ext cx="320040" cy="320040"/>
          </a:xfrm>
          <a:prstGeom prst="rect">
            <a:avLst/>
          </a:prstGeom>
          <a:solidFill>
            <a:srgbClr val="3A7D44"/>
          </a:solidFill>
          <a:ln/>
        </p:spPr>
      </p:sp>
      <p:sp>
        <p:nvSpPr>
          <p:cNvPr id="58" name="Text 56"/>
          <p:cNvSpPr txBox="1"/>
          <p:nvPr/>
        </p:nvSpPr>
        <p:spPr>
          <a:xfrm>
            <a:off x="8001000" y="2304288"/>
            <a:ext cx="2011680"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منخفض 1-4</a:t>
            </a:r>
            <a:endParaRPr lang="en-US" sz="1200" b="1" dirty="0"/>
          </a:p>
        </p:txBody>
      </p:sp>
      <p:sp>
        <p:nvSpPr>
          <p:cNvPr id="59" name="Shape 57"/>
          <p:cNvSpPr/>
          <p:nvPr/>
        </p:nvSpPr>
        <p:spPr>
          <a:xfrm>
            <a:off x="7589520" y="2834640"/>
            <a:ext cx="320040" cy="320040"/>
          </a:xfrm>
          <a:prstGeom prst="rect">
            <a:avLst/>
          </a:prstGeom>
          <a:solidFill>
            <a:srgbClr val="B08D27"/>
          </a:solidFill>
          <a:ln/>
        </p:spPr>
      </p:sp>
      <p:sp>
        <p:nvSpPr>
          <p:cNvPr id="60" name="Text 58"/>
          <p:cNvSpPr txBox="1"/>
          <p:nvPr/>
        </p:nvSpPr>
        <p:spPr>
          <a:xfrm>
            <a:off x="8001000" y="2807208"/>
            <a:ext cx="2011680"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متوسط 5-9</a:t>
            </a:r>
            <a:endParaRPr lang="en-US" sz="1200" b="1" dirty="0"/>
          </a:p>
        </p:txBody>
      </p:sp>
      <p:sp>
        <p:nvSpPr>
          <p:cNvPr id="61" name="Shape 59"/>
          <p:cNvSpPr/>
          <p:nvPr/>
        </p:nvSpPr>
        <p:spPr>
          <a:xfrm>
            <a:off x="7589520" y="3337560"/>
            <a:ext cx="320040" cy="320040"/>
          </a:xfrm>
          <a:prstGeom prst="rect">
            <a:avLst/>
          </a:prstGeom>
          <a:solidFill>
            <a:srgbClr val="E07B39"/>
          </a:solidFill>
          <a:ln/>
        </p:spPr>
      </p:sp>
      <p:sp>
        <p:nvSpPr>
          <p:cNvPr id="62" name="Text 60"/>
          <p:cNvSpPr txBox="1"/>
          <p:nvPr/>
        </p:nvSpPr>
        <p:spPr>
          <a:xfrm>
            <a:off x="8001000" y="3310128"/>
            <a:ext cx="2011680"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عالٍ 10-15</a:t>
            </a:r>
            <a:endParaRPr lang="en-US" sz="1200" b="1" dirty="0"/>
          </a:p>
        </p:txBody>
      </p:sp>
      <p:sp>
        <p:nvSpPr>
          <p:cNvPr id="63" name="Shape 61"/>
          <p:cNvSpPr/>
          <p:nvPr/>
        </p:nvSpPr>
        <p:spPr>
          <a:xfrm>
            <a:off x="7589520" y="3840480"/>
            <a:ext cx="320040" cy="320040"/>
          </a:xfrm>
          <a:prstGeom prst="rect">
            <a:avLst/>
          </a:prstGeom>
          <a:solidFill>
            <a:srgbClr val="B3261E"/>
          </a:solidFill>
          <a:ln/>
        </p:spPr>
      </p:sp>
      <p:sp>
        <p:nvSpPr>
          <p:cNvPr id="64" name="Text 62"/>
          <p:cNvSpPr txBox="1"/>
          <p:nvPr/>
        </p:nvSpPr>
        <p:spPr>
          <a:xfrm>
            <a:off x="8001000" y="3813048"/>
            <a:ext cx="2011680" cy="365760"/>
          </a:xfrm>
          <a:prstGeom prst="rect">
            <a:avLst/>
          </a:prstGeom>
          <a:noFill/>
          <a:ln/>
        </p:spPr>
        <p:txBody>
          <a:bodyPr wrap="square" lIns="0" tIns="0" rIns="0" bIns="0" rtlCol="0" anchor="ctr"/>
          <a:lstStyle/>
          <a:p>
            <a:pPr marL="0" indent="0" algn="r">
              <a:buNone/>
            </a:pPr>
            <a:r>
              <a:rPr lang="en-US" sz="1200" b="1" dirty="0">
                <a:solidFill>
                  <a:srgbClr val="1F2937"/>
                </a:solidFill>
                <a:latin typeface="Arial" pitchFamily="34" charset="0"/>
                <a:ea typeface="Arial" pitchFamily="34" charset="-122"/>
                <a:cs typeface="Arial" pitchFamily="34" charset="-120"/>
              </a:rPr>
              <a:t>حرج 16-25</a:t>
            </a:r>
            <a:endParaRPr lang="en-US" sz="1200" b="1" dirty="0"/>
          </a:p>
        </p:txBody>
      </p:sp>
      <p:sp>
        <p:nvSpPr>
          <p:cNvPr id="65" name="Text 63"/>
          <p:cNvSpPr txBox="1"/>
          <p:nvPr/>
        </p:nvSpPr>
        <p:spPr>
          <a:xfrm>
            <a:off x="7589520" y="4663440"/>
            <a:ext cx="4023360" cy="731520"/>
          </a:xfrm>
          <a:prstGeom prst="rect">
            <a:avLst/>
          </a:prstGeom>
          <a:noFill/>
          <a:ln/>
        </p:spPr>
        <p:txBody>
          <a:bodyPr wrap="square" lIns="0" tIns="0" rIns="0" bIns="0" rtlCol="0" anchor="t"/>
          <a:lstStyle/>
          <a:p>
            <a:pPr marL="0" indent="0" algn="r">
              <a:buNone/>
            </a:pPr>
            <a:r>
              <a:rPr lang="en-US" sz="1200" b="1" dirty="0">
                <a:solidFill>
                  <a:srgbClr val="1F3B57"/>
                </a:solidFill>
                <a:latin typeface="Arial" pitchFamily="34" charset="0"/>
                <a:ea typeface="Arial" pitchFamily="34" charset="-122"/>
                <a:cs typeface="Arial" pitchFamily="34" charset="-120"/>
              </a:rPr>
              <a:t>خيارات المعالجة: تخفيف (Modify) • نقل (Share) • تجنب (Avoid) • قبول (Accept)</a:t>
            </a:r>
            <a:endParaRPr lang="en-US" sz="1200" dirty="0"/>
          </a:p>
        </p:txBody>
      </p:sp>
      <p:sp>
        <p:nvSpPr>
          <p:cNvPr id="66" name="Text 64"/>
          <p:cNvSpPr txBox="1"/>
          <p:nvPr/>
        </p:nvSpPr>
        <p:spPr>
          <a:xfrm>
            <a:off x="7589520" y="5394960"/>
            <a:ext cx="4023360" cy="548640"/>
          </a:xfrm>
          <a:prstGeom prst="rect">
            <a:avLst/>
          </a:prstGeom>
          <a:noFill/>
          <a:ln/>
        </p:spPr>
        <p:txBody>
          <a:bodyPr wrap="square" lIns="0" tIns="0" rIns="0" bIns="0" rtlCol="0" anchor="t"/>
          <a:lstStyle/>
          <a:p>
            <a:pPr marL="0" indent="0" algn="r">
              <a:buNone/>
            </a:pPr>
            <a:r>
              <a:rPr lang="en-US" sz="1100" i="1" dirty="0">
                <a:solidFill>
                  <a:srgbClr val="6B7280"/>
                </a:solidFill>
                <a:latin typeface="Arial" pitchFamily="34" charset="0"/>
                <a:ea typeface="Arial" pitchFamily="34" charset="-122"/>
                <a:cs typeface="Arial" pitchFamily="34" charset="-120"/>
              </a:rPr>
              <a:t>تُراجع المخاطر سنوياً على الأقل أو عند حدوث تغييرات جوهرية أو حوادث كبرى.</a:t>
            </a:r>
            <a:endParaRPr lang="en-US" sz="1100" dirty="0"/>
          </a:p>
        </p:txBody>
      </p:sp>
      <p:sp>
        <p:nvSpPr>
          <p:cNvPr id="67" name="Text 6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68" name="Text 6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11</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سجل المخاطر</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أبرز المخاطر المحددة (15 خطراً إجمالاً)</a:t>
            </a:r>
            <a:endParaRPr lang="en-US" sz="2800" dirty="0"/>
          </a:p>
        </p:txBody>
      </p:sp>
      <p:graphicFrame>
        <p:nvGraphicFramePr>
          <p:cNvPr id="4" name="Chart 0"/>
          <p:cNvGraphicFramePr/>
          <p:nvPr/>
        </p:nvGraphicFramePr>
        <p:xfrm>
          <a:off x="548640" y="1600200"/>
          <a:ext cx="42062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120640" y="1600200"/>
            <a:ext cx="649224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أعلى 5 مخاطر أولوية</a:t>
            </a:r>
            <a:endParaRPr lang="en-US" sz="1400" dirty="0"/>
          </a:p>
        </p:txBody>
      </p:sp>
      <p:sp>
        <p:nvSpPr>
          <p:cNvPr id="6" name="Shape 3"/>
          <p:cNvSpPr/>
          <p:nvPr/>
        </p:nvSpPr>
        <p:spPr>
          <a:xfrm>
            <a:off x="5120640" y="2057400"/>
            <a:ext cx="6492240" cy="502920"/>
          </a:xfrm>
          <a:prstGeom prst="roundRect">
            <a:avLst>
              <a:gd name="adj" fmla="val 12727"/>
            </a:avLst>
          </a:prstGeom>
          <a:solidFill>
            <a:srgbClr val="FFFFFF"/>
          </a:solidFill>
          <a:ln w="12700">
            <a:solidFill>
              <a:srgbClr val="E3E7EE"/>
            </a:solidFill>
            <a:prstDash val="solid"/>
          </a:ln>
        </p:spPr>
      </p:sp>
      <p:sp>
        <p:nvSpPr>
          <p:cNvPr id="7" name="Shape 4"/>
          <p:cNvSpPr/>
          <p:nvPr/>
        </p:nvSpPr>
        <p:spPr>
          <a:xfrm>
            <a:off x="5257800" y="2130552"/>
            <a:ext cx="365760" cy="365760"/>
          </a:xfrm>
          <a:prstGeom prst="ellipse">
            <a:avLst/>
          </a:prstGeom>
          <a:solidFill>
            <a:srgbClr val="B3261E"/>
          </a:solidFill>
          <a:ln/>
        </p:spPr>
      </p:sp>
      <p:sp>
        <p:nvSpPr>
          <p:cNvPr id="8" name="Text 5"/>
          <p:cNvSpPr txBox="1"/>
          <p:nvPr/>
        </p:nvSpPr>
        <p:spPr>
          <a:xfrm>
            <a:off x="5257800" y="213055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5760720" y="2084832"/>
            <a:ext cx="4663440" cy="274320"/>
          </a:xfrm>
          <a:prstGeom prst="rect">
            <a:avLst/>
          </a:prstGeom>
          <a:noFill/>
          <a:ln/>
        </p:spPr>
        <p:txBody>
          <a:bodyPr wrap="square" lIns="0" tIns="0" rIns="0" bIns="0" rtlCol="0" anchor="ctr"/>
          <a:lstStyle/>
          <a:p>
            <a:pPr marL="0" indent="0" algn="r">
              <a:buNone/>
            </a:pPr>
            <a:r>
              <a:rPr lang="en-US" sz="1150" b="1" dirty="0">
                <a:solidFill>
                  <a:srgbClr val="1F3B57"/>
                </a:solidFill>
                <a:latin typeface="Arial" pitchFamily="34" charset="0"/>
                <a:ea typeface="Arial" pitchFamily="34" charset="-122"/>
                <a:cs typeface="Arial" pitchFamily="34" charset="-120"/>
              </a:rPr>
              <a:t>استغلال ثغرات التطبيقات المصرفية الرقمية</a:t>
            </a:r>
            <a:endParaRPr lang="en-US" sz="1150" dirty="0"/>
          </a:p>
        </p:txBody>
      </p:sp>
      <p:sp>
        <p:nvSpPr>
          <p:cNvPr id="10" name="Text 7"/>
          <p:cNvSpPr txBox="1"/>
          <p:nvPr/>
        </p:nvSpPr>
        <p:spPr>
          <a:xfrm>
            <a:off x="5760720" y="2322576"/>
            <a:ext cx="4663440" cy="219456"/>
          </a:xfrm>
          <a:prstGeom prst="rect">
            <a:avLst/>
          </a:prstGeom>
          <a:noFill/>
          <a:ln/>
        </p:spPr>
        <p:txBody>
          <a:bodyPr wrap="square" lIns="0" tIns="0" rIns="0" bIns="0" rtlCol="0" anchor="ctr"/>
          <a:lstStyle/>
          <a:p>
            <a:pPr marL="0" indent="0" algn="r">
              <a:buNone/>
            </a:pPr>
            <a:r>
              <a:rPr lang="en-US" sz="950" dirty="0">
                <a:solidFill>
                  <a:srgbClr val="6B7280"/>
                </a:solidFill>
                <a:latin typeface="Arial" pitchFamily="34" charset="0"/>
                <a:ea typeface="Arial" pitchFamily="34" charset="-122"/>
                <a:cs typeface="Arial" pitchFamily="34" charset="-120"/>
              </a:rPr>
              <a:t>R-01 | حرج</a:t>
            </a:r>
            <a:endParaRPr lang="en-US" sz="950" dirty="0"/>
          </a:p>
        </p:txBody>
      </p:sp>
      <p:sp>
        <p:nvSpPr>
          <p:cNvPr id="11" name="Shape 8"/>
          <p:cNvSpPr/>
          <p:nvPr/>
        </p:nvSpPr>
        <p:spPr>
          <a:xfrm>
            <a:off x="5120640" y="2679192"/>
            <a:ext cx="6492240" cy="502920"/>
          </a:xfrm>
          <a:prstGeom prst="roundRect">
            <a:avLst>
              <a:gd name="adj" fmla="val 12727"/>
            </a:avLst>
          </a:prstGeom>
          <a:solidFill>
            <a:srgbClr val="FFFFFF"/>
          </a:solidFill>
          <a:ln w="12700">
            <a:solidFill>
              <a:srgbClr val="E3E7EE"/>
            </a:solidFill>
            <a:prstDash val="solid"/>
          </a:ln>
        </p:spPr>
      </p:sp>
      <p:sp>
        <p:nvSpPr>
          <p:cNvPr id="12" name="Shape 9"/>
          <p:cNvSpPr/>
          <p:nvPr/>
        </p:nvSpPr>
        <p:spPr>
          <a:xfrm>
            <a:off x="5257800" y="2752344"/>
            <a:ext cx="365760" cy="365760"/>
          </a:xfrm>
          <a:prstGeom prst="ellipse">
            <a:avLst/>
          </a:prstGeom>
          <a:solidFill>
            <a:srgbClr val="B3261E"/>
          </a:solidFill>
          <a:ln/>
        </p:spPr>
      </p:sp>
      <p:sp>
        <p:nvSpPr>
          <p:cNvPr id="13" name="Text 10"/>
          <p:cNvSpPr txBox="1"/>
          <p:nvPr/>
        </p:nvSpPr>
        <p:spPr>
          <a:xfrm>
            <a:off x="5257800" y="27523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5760720" y="2706624"/>
            <a:ext cx="4663440" cy="274320"/>
          </a:xfrm>
          <a:prstGeom prst="rect">
            <a:avLst/>
          </a:prstGeom>
          <a:noFill/>
          <a:ln/>
        </p:spPr>
        <p:txBody>
          <a:bodyPr wrap="square" lIns="0" tIns="0" rIns="0" bIns="0" rtlCol="0" anchor="ctr"/>
          <a:lstStyle/>
          <a:p>
            <a:pPr marL="0" indent="0" algn="r">
              <a:buNone/>
            </a:pPr>
            <a:r>
              <a:rPr lang="en-US" sz="1150" b="1" dirty="0">
                <a:solidFill>
                  <a:srgbClr val="1F3B57"/>
                </a:solidFill>
                <a:latin typeface="Arial" pitchFamily="34" charset="0"/>
                <a:ea typeface="Arial" pitchFamily="34" charset="-122"/>
                <a:cs typeface="Arial" pitchFamily="34" charset="-120"/>
              </a:rPr>
              <a:t>خطأ بشري في إدارة تغييرات الشبكة الحرجة</a:t>
            </a:r>
            <a:endParaRPr lang="en-US" sz="1150" dirty="0"/>
          </a:p>
        </p:txBody>
      </p:sp>
      <p:sp>
        <p:nvSpPr>
          <p:cNvPr id="15" name="Text 12"/>
          <p:cNvSpPr txBox="1"/>
          <p:nvPr/>
        </p:nvSpPr>
        <p:spPr>
          <a:xfrm>
            <a:off x="5760720" y="2944368"/>
            <a:ext cx="4663440" cy="219456"/>
          </a:xfrm>
          <a:prstGeom prst="rect">
            <a:avLst/>
          </a:prstGeom>
          <a:noFill/>
          <a:ln/>
        </p:spPr>
        <p:txBody>
          <a:bodyPr wrap="square" lIns="0" tIns="0" rIns="0" bIns="0" rtlCol="0" anchor="ctr"/>
          <a:lstStyle/>
          <a:p>
            <a:pPr marL="0" indent="0" algn="r">
              <a:buNone/>
            </a:pPr>
            <a:r>
              <a:rPr lang="en-US" sz="950" dirty="0">
                <a:solidFill>
                  <a:srgbClr val="6B7280"/>
                </a:solidFill>
                <a:latin typeface="Arial" pitchFamily="34" charset="0"/>
                <a:ea typeface="Arial" pitchFamily="34" charset="-122"/>
                <a:cs typeface="Arial" pitchFamily="34" charset="-120"/>
              </a:rPr>
              <a:t>R-02 | حرج</a:t>
            </a:r>
            <a:endParaRPr lang="en-US" sz="950" dirty="0"/>
          </a:p>
        </p:txBody>
      </p:sp>
      <p:sp>
        <p:nvSpPr>
          <p:cNvPr id="16" name="Shape 13"/>
          <p:cNvSpPr/>
          <p:nvPr/>
        </p:nvSpPr>
        <p:spPr>
          <a:xfrm>
            <a:off x="5120640" y="3300984"/>
            <a:ext cx="6492240" cy="502920"/>
          </a:xfrm>
          <a:prstGeom prst="roundRect">
            <a:avLst>
              <a:gd name="adj" fmla="val 12727"/>
            </a:avLst>
          </a:prstGeom>
          <a:solidFill>
            <a:srgbClr val="FFFFFF"/>
          </a:solidFill>
          <a:ln w="12700">
            <a:solidFill>
              <a:srgbClr val="E3E7EE"/>
            </a:solidFill>
            <a:prstDash val="solid"/>
          </a:ln>
        </p:spPr>
      </p:sp>
      <p:sp>
        <p:nvSpPr>
          <p:cNvPr id="17" name="Shape 14"/>
          <p:cNvSpPr/>
          <p:nvPr/>
        </p:nvSpPr>
        <p:spPr>
          <a:xfrm>
            <a:off x="5257800" y="3374136"/>
            <a:ext cx="365760" cy="365760"/>
          </a:xfrm>
          <a:prstGeom prst="ellipse">
            <a:avLst/>
          </a:prstGeom>
          <a:solidFill>
            <a:srgbClr val="E07B39"/>
          </a:solidFill>
          <a:ln/>
        </p:spPr>
      </p:sp>
      <p:sp>
        <p:nvSpPr>
          <p:cNvPr id="18" name="Text 15"/>
          <p:cNvSpPr txBox="1"/>
          <p:nvPr/>
        </p:nvSpPr>
        <p:spPr>
          <a:xfrm>
            <a:off x="5257800" y="33741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6"/>
          <p:cNvSpPr txBox="1"/>
          <p:nvPr/>
        </p:nvSpPr>
        <p:spPr>
          <a:xfrm>
            <a:off x="5760720" y="3328416"/>
            <a:ext cx="4663440" cy="274320"/>
          </a:xfrm>
          <a:prstGeom prst="rect">
            <a:avLst/>
          </a:prstGeom>
          <a:noFill/>
          <a:ln/>
        </p:spPr>
        <p:txBody>
          <a:bodyPr wrap="square" lIns="0" tIns="0" rIns="0" bIns="0" rtlCol="0" anchor="ctr"/>
          <a:lstStyle/>
          <a:p>
            <a:pPr marL="0" indent="0" algn="r">
              <a:buNone/>
            </a:pPr>
            <a:r>
              <a:rPr lang="en-US" sz="1150" b="1" dirty="0">
                <a:solidFill>
                  <a:srgbClr val="1F3B57"/>
                </a:solidFill>
                <a:latin typeface="Arial" pitchFamily="34" charset="0"/>
                <a:ea typeface="Arial" pitchFamily="34" charset="-122"/>
                <a:cs typeface="Arial" pitchFamily="34" charset="-120"/>
              </a:rPr>
              <a:t>تسريب بيانات العملاء على نطاق واسع</a:t>
            </a:r>
            <a:endParaRPr lang="en-US" sz="1150" dirty="0"/>
          </a:p>
        </p:txBody>
      </p:sp>
      <p:sp>
        <p:nvSpPr>
          <p:cNvPr id="20" name="Text 17"/>
          <p:cNvSpPr txBox="1"/>
          <p:nvPr/>
        </p:nvSpPr>
        <p:spPr>
          <a:xfrm>
            <a:off x="5760720" y="3566160"/>
            <a:ext cx="4663440" cy="219456"/>
          </a:xfrm>
          <a:prstGeom prst="rect">
            <a:avLst/>
          </a:prstGeom>
          <a:noFill/>
          <a:ln/>
        </p:spPr>
        <p:txBody>
          <a:bodyPr wrap="square" lIns="0" tIns="0" rIns="0" bIns="0" rtlCol="0" anchor="ctr"/>
          <a:lstStyle/>
          <a:p>
            <a:pPr marL="0" indent="0" algn="r">
              <a:buNone/>
            </a:pPr>
            <a:r>
              <a:rPr lang="en-US" sz="950" dirty="0">
                <a:solidFill>
                  <a:srgbClr val="6B7280"/>
                </a:solidFill>
                <a:latin typeface="Arial" pitchFamily="34" charset="0"/>
                <a:ea typeface="Arial" pitchFamily="34" charset="-122"/>
                <a:cs typeface="Arial" pitchFamily="34" charset="-120"/>
              </a:rPr>
              <a:t>R-10 | عالٍ</a:t>
            </a:r>
            <a:endParaRPr lang="en-US" sz="950" dirty="0"/>
          </a:p>
        </p:txBody>
      </p:sp>
      <p:sp>
        <p:nvSpPr>
          <p:cNvPr id="21" name="Shape 18"/>
          <p:cNvSpPr/>
          <p:nvPr/>
        </p:nvSpPr>
        <p:spPr>
          <a:xfrm>
            <a:off x="5120640" y="3922776"/>
            <a:ext cx="6492240" cy="502920"/>
          </a:xfrm>
          <a:prstGeom prst="roundRect">
            <a:avLst>
              <a:gd name="adj" fmla="val 12727"/>
            </a:avLst>
          </a:prstGeom>
          <a:solidFill>
            <a:srgbClr val="FFFFFF"/>
          </a:solidFill>
          <a:ln w="12700">
            <a:solidFill>
              <a:srgbClr val="E3E7EE"/>
            </a:solidFill>
            <a:prstDash val="solid"/>
          </a:ln>
        </p:spPr>
      </p:sp>
      <p:sp>
        <p:nvSpPr>
          <p:cNvPr id="22" name="Shape 19"/>
          <p:cNvSpPr/>
          <p:nvPr/>
        </p:nvSpPr>
        <p:spPr>
          <a:xfrm>
            <a:off x="5257800" y="3995928"/>
            <a:ext cx="365760" cy="365760"/>
          </a:xfrm>
          <a:prstGeom prst="ellipse">
            <a:avLst/>
          </a:prstGeom>
          <a:solidFill>
            <a:srgbClr val="E07B39"/>
          </a:solidFill>
          <a:ln/>
        </p:spPr>
      </p:sp>
      <p:sp>
        <p:nvSpPr>
          <p:cNvPr id="23" name="Text 20"/>
          <p:cNvSpPr txBox="1"/>
          <p:nvPr/>
        </p:nvSpPr>
        <p:spPr>
          <a:xfrm>
            <a:off x="5257800" y="399592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txBox="1"/>
          <p:nvPr/>
        </p:nvSpPr>
        <p:spPr>
          <a:xfrm>
            <a:off x="5760720" y="3950208"/>
            <a:ext cx="4663440" cy="274320"/>
          </a:xfrm>
          <a:prstGeom prst="rect">
            <a:avLst/>
          </a:prstGeom>
          <a:noFill/>
          <a:ln/>
        </p:spPr>
        <p:txBody>
          <a:bodyPr wrap="square" lIns="0" tIns="0" rIns="0" bIns="0" rtlCol="0" anchor="ctr"/>
          <a:lstStyle/>
          <a:p>
            <a:pPr marL="0" indent="0" algn="r">
              <a:buNone/>
            </a:pPr>
            <a:r>
              <a:rPr lang="en-US" sz="1150" b="1" dirty="0">
                <a:solidFill>
                  <a:srgbClr val="1F3B57"/>
                </a:solidFill>
                <a:latin typeface="Arial" pitchFamily="34" charset="0"/>
                <a:ea typeface="Arial" pitchFamily="34" charset="-122"/>
                <a:cs typeface="Arial" pitchFamily="34" charset="-120"/>
              </a:rPr>
              <a:t>هجوم تصيد احتيالي موجّه لاحتيال مالي (BEC)</a:t>
            </a:r>
            <a:endParaRPr lang="en-US" sz="1150" dirty="0"/>
          </a:p>
        </p:txBody>
      </p:sp>
      <p:sp>
        <p:nvSpPr>
          <p:cNvPr id="25" name="Text 22"/>
          <p:cNvSpPr txBox="1"/>
          <p:nvPr/>
        </p:nvSpPr>
        <p:spPr>
          <a:xfrm>
            <a:off x="5760720" y="4187952"/>
            <a:ext cx="4663440" cy="219456"/>
          </a:xfrm>
          <a:prstGeom prst="rect">
            <a:avLst/>
          </a:prstGeom>
          <a:noFill/>
          <a:ln/>
        </p:spPr>
        <p:txBody>
          <a:bodyPr wrap="square" lIns="0" tIns="0" rIns="0" bIns="0" rtlCol="0" anchor="ctr"/>
          <a:lstStyle/>
          <a:p>
            <a:pPr marL="0" indent="0" algn="r">
              <a:buNone/>
            </a:pPr>
            <a:r>
              <a:rPr lang="en-US" sz="950" dirty="0">
                <a:solidFill>
                  <a:srgbClr val="6B7280"/>
                </a:solidFill>
                <a:latin typeface="Arial" pitchFamily="34" charset="0"/>
                <a:ea typeface="Arial" pitchFamily="34" charset="-122"/>
                <a:cs typeface="Arial" pitchFamily="34" charset="-120"/>
              </a:rPr>
              <a:t>R-03 | عالٍ</a:t>
            </a:r>
            <a:endParaRPr lang="en-US" sz="950" dirty="0"/>
          </a:p>
        </p:txBody>
      </p:sp>
      <p:sp>
        <p:nvSpPr>
          <p:cNvPr id="26" name="Shape 23"/>
          <p:cNvSpPr/>
          <p:nvPr/>
        </p:nvSpPr>
        <p:spPr>
          <a:xfrm>
            <a:off x="5120640" y="4544568"/>
            <a:ext cx="6492240" cy="502920"/>
          </a:xfrm>
          <a:prstGeom prst="roundRect">
            <a:avLst>
              <a:gd name="adj" fmla="val 12727"/>
            </a:avLst>
          </a:prstGeom>
          <a:solidFill>
            <a:srgbClr val="FFFFFF"/>
          </a:solidFill>
          <a:ln w="12700">
            <a:solidFill>
              <a:srgbClr val="E3E7EE"/>
            </a:solidFill>
            <a:prstDash val="solid"/>
          </a:ln>
        </p:spPr>
      </p:sp>
      <p:sp>
        <p:nvSpPr>
          <p:cNvPr id="27" name="Shape 24"/>
          <p:cNvSpPr/>
          <p:nvPr/>
        </p:nvSpPr>
        <p:spPr>
          <a:xfrm>
            <a:off x="5257800" y="4617720"/>
            <a:ext cx="365760" cy="365760"/>
          </a:xfrm>
          <a:prstGeom prst="ellipse">
            <a:avLst/>
          </a:prstGeom>
          <a:solidFill>
            <a:srgbClr val="E07B39"/>
          </a:solidFill>
          <a:ln/>
        </p:spPr>
      </p:sp>
      <p:sp>
        <p:nvSpPr>
          <p:cNvPr id="28" name="Text 25"/>
          <p:cNvSpPr txBox="1"/>
          <p:nvPr/>
        </p:nvSpPr>
        <p:spPr>
          <a:xfrm>
            <a:off x="5257800" y="4617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6"/>
          <p:cNvSpPr txBox="1"/>
          <p:nvPr/>
        </p:nvSpPr>
        <p:spPr>
          <a:xfrm>
            <a:off x="5760720" y="4572000"/>
            <a:ext cx="4663440" cy="274320"/>
          </a:xfrm>
          <a:prstGeom prst="rect">
            <a:avLst/>
          </a:prstGeom>
          <a:noFill/>
          <a:ln/>
        </p:spPr>
        <p:txBody>
          <a:bodyPr wrap="square" lIns="0" tIns="0" rIns="0" bIns="0" rtlCol="0" anchor="ctr"/>
          <a:lstStyle/>
          <a:p>
            <a:pPr marL="0" indent="0" algn="r">
              <a:buNone/>
            </a:pPr>
            <a:r>
              <a:rPr lang="en-US" sz="1150" b="1" dirty="0">
                <a:solidFill>
                  <a:srgbClr val="1F3B57"/>
                </a:solidFill>
                <a:latin typeface="Arial" pitchFamily="34" charset="0"/>
                <a:ea typeface="Arial" pitchFamily="34" charset="-122"/>
                <a:cs typeface="Arial" pitchFamily="34" charset="-120"/>
              </a:rPr>
              <a:t>فشل مركز البيانات أو انقطاع الخدمة</a:t>
            </a:r>
            <a:endParaRPr lang="en-US" sz="1150" dirty="0"/>
          </a:p>
        </p:txBody>
      </p:sp>
      <p:sp>
        <p:nvSpPr>
          <p:cNvPr id="30" name="Text 27"/>
          <p:cNvSpPr txBox="1"/>
          <p:nvPr/>
        </p:nvSpPr>
        <p:spPr>
          <a:xfrm>
            <a:off x="5760720" y="4809744"/>
            <a:ext cx="4663440" cy="219456"/>
          </a:xfrm>
          <a:prstGeom prst="rect">
            <a:avLst/>
          </a:prstGeom>
          <a:noFill/>
          <a:ln/>
        </p:spPr>
        <p:txBody>
          <a:bodyPr wrap="square" lIns="0" tIns="0" rIns="0" bIns="0" rtlCol="0" anchor="ctr"/>
          <a:lstStyle/>
          <a:p>
            <a:pPr marL="0" indent="0" algn="r">
              <a:buNone/>
            </a:pPr>
            <a:r>
              <a:rPr lang="en-US" sz="950" dirty="0">
                <a:solidFill>
                  <a:srgbClr val="6B7280"/>
                </a:solidFill>
                <a:latin typeface="Arial" pitchFamily="34" charset="0"/>
                <a:ea typeface="Arial" pitchFamily="34" charset="-122"/>
                <a:cs typeface="Arial" pitchFamily="34" charset="-120"/>
              </a:rPr>
              <a:t>R-07 | عالٍ</a:t>
            </a:r>
            <a:endParaRPr lang="en-US" sz="950" dirty="0"/>
          </a:p>
        </p:txBody>
      </p:sp>
      <p:sp>
        <p:nvSpPr>
          <p:cNvPr id="31" name="Text 28"/>
          <p:cNvSpPr txBox="1"/>
          <p:nvPr/>
        </p:nvSpPr>
        <p:spPr>
          <a:xfrm>
            <a:off x="548640" y="5074920"/>
            <a:ext cx="11094415" cy="548640"/>
          </a:xfrm>
          <a:prstGeom prst="rect">
            <a:avLst/>
          </a:prstGeom>
          <a:noFill/>
          <a:ln/>
        </p:spPr>
        <p:txBody>
          <a:bodyPr wrap="square" lIns="0" tIns="0" rIns="0" bIns="0" rtlCol="0" anchor="ctr"/>
          <a:lstStyle/>
          <a:p>
            <a:pPr marL="0" indent="0" algn="r">
              <a:buNone/>
            </a:pPr>
            <a:r>
              <a:rPr lang="en-US" sz="1150" i="1" dirty="0">
                <a:solidFill>
                  <a:srgbClr val="6B7280"/>
                </a:solidFill>
                <a:latin typeface="Arial" pitchFamily="34" charset="0"/>
                <a:ea typeface="Arial" pitchFamily="34" charset="-122"/>
                <a:cs typeface="Arial" pitchFamily="34" charset="-120"/>
              </a:rPr>
              <a:t>خيار المعالجة المعتمد لجميع المخاطر ذات الأولوية: التخفيف (Modify) عبر تطبيق ضوابط تقنية وإدارية موثقة ومتابعة تنفيذها ضمن خطط معالجة زمنية محددة.</a:t>
            </a:r>
            <a:endParaRPr lang="en-US" sz="1150" dirty="0"/>
          </a:p>
        </p:txBody>
      </p:sp>
      <p:sp>
        <p:nvSpPr>
          <p:cNvPr id="32" name="Text 29"/>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3" name="Text 30"/>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بيان القابلية للتطبيق</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Statement of Applicability - جميع الضوابط 93 قابلة للتطبيق</a:t>
            </a:r>
            <a:endParaRPr lang="en-US" sz="2800" dirty="0"/>
          </a:p>
        </p:txBody>
      </p:sp>
      <p:graphicFrame>
        <p:nvGraphicFramePr>
          <p:cNvPr id="4" name="Chart 0"/>
          <p:cNvGraphicFramePr/>
          <p:nvPr/>
        </p:nvGraphicFramePr>
        <p:xfrm>
          <a:off x="548640" y="1645920"/>
          <a:ext cx="7315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29600" y="1645920"/>
            <a:ext cx="3383280" cy="1280160"/>
          </a:xfrm>
          <a:prstGeom prst="roundRect">
            <a:avLst>
              <a:gd name="adj" fmla="val 5714"/>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6" name="Text 3"/>
          <p:cNvSpPr txBox="1"/>
          <p:nvPr/>
        </p:nvSpPr>
        <p:spPr>
          <a:xfrm>
            <a:off x="8229600" y="1755648"/>
            <a:ext cx="3383280" cy="704088"/>
          </a:xfrm>
          <a:prstGeom prst="rect">
            <a:avLst/>
          </a:prstGeom>
          <a:noFill/>
          <a:ln/>
        </p:spPr>
        <p:txBody>
          <a:bodyPr wrap="square" lIns="0" tIns="0" rIns="0" bIns="0" rtlCol="0" anchor="ctr"/>
          <a:lstStyle/>
          <a:p>
            <a:pPr marL="0" indent="0" algn="ctr">
              <a:buNone/>
            </a:pPr>
            <a:r>
              <a:rPr lang="en-US" sz="3000" b="1" dirty="0">
                <a:solidFill>
                  <a:srgbClr val="1F3B57"/>
                </a:solidFill>
                <a:latin typeface="Arial" pitchFamily="34" charset="0"/>
                <a:ea typeface="Arial" pitchFamily="34" charset="-122"/>
                <a:cs typeface="Arial" pitchFamily="34" charset="-120"/>
              </a:rPr>
              <a:t>93/93</a:t>
            </a:r>
            <a:endParaRPr lang="en-US" sz="3000" dirty="0"/>
          </a:p>
        </p:txBody>
      </p:sp>
      <p:sp>
        <p:nvSpPr>
          <p:cNvPr id="7" name="Text 4"/>
          <p:cNvSpPr txBox="1"/>
          <p:nvPr/>
        </p:nvSpPr>
        <p:spPr>
          <a:xfrm>
            <a:off x="8321040" y="2414016"/>
            <a:ext cx="3200400" cy="448056"/>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ضابطاً منطبقاً على نطاق البنك</a:t>
            </a:r>
            <a:endParaRPr lang="en-US" sz="1100" dirty="0"/>
          </a:p>
        </p:txBody>
      </p:sp>
      <p:sp>
        <p:nvSpPr>
          <p:cNvPr id="8" name="Shape 5"/>
          <p:cNvSpPr/>
          <p:nvPr/>
        </p:nvSpPr>
        <p:spPr>
          <a:xfrm>
            <a:off x="8229600" y="3108960"/>
            <a:ext cx="3383280" cy="1280160"/>
          </a:xfrm>
          <a:prstGeom prst="roundRect">
            <a:avLst>
              <a:gd name="adj" fmla="val 5714"/>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9" name="Text 6"/>
          <p:cNvSpPr txBox="1"/>
          <p:nvPr/>
        </p:nvSpPr>
        <p:spPr>
          <a:xfrm>
            <a:off x="8229600" y="3218688"/>
            <a:ext cx="3383280" cy="704088"/>
          </a:xfrm>
          <a:prstGeom prst="rect">
            <a:avLst/>
          </a:prstGeom>
          <a:noFill/>
          <a:ln/>
        </p:spPr>
        <p:txBody>
          <a:bodyPr wrap="square" lIns="0" tIns="0" rIns="0" bIns="0" rtlCol="0" anchor="ctr"/>
          <a:lstStyle/>
          <a:p>
            <a:pPr marL="0" indent="0" algn="ctr">
              <a:buNone/>
            </a:pPr>
            <a:r>
              <a:rPr lang="en-US" sz="3000" b="1" dirty="0">
                <a:solidFill>
                  <a:srgbClr val="3A7D44"/>
                </a:solidFill>
                <a:latin typeface="Arial" pitchFamily="34" charset="0"/>
                <a:ea typeface="Arial" pitchFamily="34" charset="-122"/>
                <a:cs typeface="Arial" pitchFamily="34" charset="-120"/>
              </a:rPr>
              <a:t>12</a:t>
            </a:r>
            <a:endParaRPr lang="en-US" sz="3000" dirty="0"/>
          </a:p>
        </p:txBody>
      </p:sp>
      <p:sp>
        <p:nvSpPr>
          <p:cNvPr id="10" name="Text 7"/>
          <p:cNvSpPr txBox="1"/>
          <p:nvPr/>
        </p:nvSpPr>
        <p:spPr>
          <a:xfrm>
            <a:off x="8321040" y="3877056"/>
            <a:ext cx="3200400" cy="448056"/>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ضابطاً مطبقاً بالكامل حالياً</a:t>
            </a:r>
            <a:endParaRPr lang="en-US" sz="1100" dirty="0"/>
          </a:p>
        </p:txBody>
      </p:sp>
      <p:sp>
        <p:nvSpPr>
          <p:cNvPr id="11" name="Shape 8"/>
          <p:cNvSpPr/>
          <p:nvPr/>
        </p:nvSpPr>
        <p:spPr>
          <a:xfrm>
            <a:off x="8229600" y="4572000"/>
            <a:ext cx="3383280" cy="1280160"/>
          </a:xfrm>
          <a:prstGeom prst="roundRect">
            <a:avLst>
              <a:gd name="adj" fmla="val 5714"/>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2" name="Text 9"/>
          <p:cNvSpPr txBox="1"/>
          <p:nvPr/>
        </p:nvSpPr>
        <p:spPr>
          <a:xfrm>
            <a:off x="8229600" y="4681728"/>
            <a:ext cx="3383280" cy="704088"/>
          </a:xfrm>
          <a:prstGeom prst="rect">
            <a:avLst/>
          </a:prstGeom>
          <a:noFill/>
          <a:ln/>
        </p:spPr>
        <p:txBody>
          <a:bodyPr wrap="square" lIns="0" tIns="0" rIns="0" bIns="0" rtlCol="0" anchor="ctr"/>
          <a:lstStyle/>
          <a:p>
            <a:pPr marL="0" indent="0" algn="ctr">
              <a:buNone/>
            </a:pPr>
            <a:r>
              <a:rPr lang="en-US" sz="3000" b="1" dirty="0">
                <a:solidFill>
                  <a:srgbClr val="B3261E"/>
                </a:solidFill>
                <a:latin typeface="Arial" pitchFamily="34" charset="0"/>
                <a:ea typeface="Arial" pitchFamily="34" charset="-122"/>
                <a:cs typeface="Arial" pitchFamily="34" charset="-120"/>
              </a:rPr>
              <a:t>81</a:t>
            </a:r>
            <a:endParaRPr lang="en-US" sz="3000" dirty="0"/>
          </a:p>
        </p:txBody>
      </p:sp>
      <p:sp>
        <p:nvSpPr>
          <p:cNvPr id="13" name="Text 10"/>
          <p:cNvSpPr txBox="1"/>
          <p:nvPr/>
        </p:nvSpPr>
        <p:spPr>
          <a:xfrm>
            <a:off x="8321040" y="5340096"/>
            <a:ext cx="3200400" cy="448056"/>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ضابطاً بحاجة لتطبيق أو استكمال</a:t>
            </a:r>
            <a:endParaRPr lang="en-US" sz="1100" dirty="0"/>
          </a:p>
        </p:txBody>
      </p:sp>
      <p:sp>
        <p:nvSpPr>
          <p:cNvPr id="14" name="Text 11"/>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15" name="Text 12"/>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شهية المخاطر وأهداف أمن المعلومات</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الحوكمة الموجهة لبرنامج أمن المعلومات</a:t>
            </a:r>
            <a:endParaRPr lang="en-US" sz="2800" b="1" dirty="0"/>
          </a:p>
        </p:txBody>
      </p:sp>
      <p:sp>
        <p:nvSpPr>
          <p:cNvPr id="4" name="Text 2"/>
          <p:cNvSpPr txBox="1"/>
          <p:nvPr/>
        </p:nvSpPr>
        <p:spPr>
          <a:xfrm>
            <a:off x="548640" y="1554480"/>
            <a:ext cx="539496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بيان شهية المخاطر</a:t>
            </a:r>
            <a:endParaRPr lang="en-US" sz="1400" b="1" dirty="0"/>
          </a:p>
        </p:txBody>
      </p:sp>
      <p:sp>
        <p:nvSpPr>
          <p:cNvPr id="5" name="Shape 3"/>
          <p:cNvSpPr/>
          <p:nvPr/>
        </p:nvSpPr>
        <p:spPr>
          <a:xfrm>
            <a:off x="548640" y="1965960"/>
            <a:ext cx="5394960" cy="457200"/>
          </a:xfrm>
          <a:prstGeom prst="roundRect">
            <a:avLst>
              <a:gd name="adj" fmla="val 14000"/>
            </a:avLst>
          </a:prstGeom>
          <a:solidFill>
            <a:srgbClr val="FFFFFF"/>
          </a:solidFill>
          <a:ln w="12700">
            <a:solidFill>
              <a:srgbClr val="E3E7EE"/>
            </a:solidFill>
            <a:prstDash val="solid"/>
          </a:ln>
        </p:spPr>
      </p:sp>
      <p:sp>
        <p:nvSpPr>
          <p:cNvPr id="6" name="Text 4"/>
          <p:cNvSpPr txBox="1"/>
          <p:nvPr/>
        </p:nvSpPr>
        <p:spPr>
          <a:xfrm>
            <a:off x="685800" y="2011680"/>
            <a:ext cx="3200400" cy="36576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بيانات العملاء والخصوصية</a:t>
            </a:r>
            <a:endParaRPr lang="en-US" sz="1150" b="1" dirty="0"/>
          </a:p>
        </p:txBody>
      </p:sp>
      <p:sp>
        <p:nvSpPr>
          <p:cNvPr id="7" name="Shape 5"/>
          <p:cNvSpPr/>
          <p:nvPr/>
        </p:nvSpPr>
        <p:spPr>
          <a:xfrm>
            <a:off x="3931920" y="2039112"/>
            <a:ext cx="1874520" cy="310896"/>
          </a:xfrm>
          <a:prstGeom prst="roundRect">
            <a:avLst>
              <a:gd name="adj" fmla="val 50000"/>
            </a:avLst>
          </a:prstGeom>
          <a:solidFill>
            <a:srgbClr val="1F3B57"/>
          </a:solidFill>
          <a:ln/>
        </p:spPr>
      </p:sp>
      <p:sp>
        <p:nvSpPr>
          <p:cNvPr id="8" name="Text 6"/>
          <p:cNvSpPr txBox="1"/>
          <p:nvPr/>
        </p:nvSpPr>
        <p:spPr>
          <a:xfrm>
            <a:off x="3931920" y="2039112"/>
            <a:ext cx="187452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منخفض جداً</a:t>
            </a:r>
            <a:endParaRPr lang="en-US" sz="1000" b="1" dirty="0"/>
          </a:p>
        </p:txBody>
      </p:sp>
      <p:sp>
        <p:nvSpPr>
          <p:cNvPr id="9" name="Shape 7"/>
          <p:cNvSpPr/>
          <p:nvPr/>
        </p:nvSpPr>
        <p:spPr>
          <a:xfrm>
            <a:off x="548640" y="2532888"/>
            <a:ext cx="5394960" cy="457200"/>
          </a:xfrm>
          <a:prstGeom prst="roundRect">
            <a:avLst>
              <a:gd name="adj" fmla="val 14000"/>
            </a:avLst>
          </a:prstGeom>
          <a:solidFill>
            <a:srgbClr val="FFFFFF"/>
          </a:solidFill>
          <a:ln w="12700">
            <a:solidFill>
              <a:srgbClr val="E3E7EE"/>
            </a:solidFill>
            <a:prstDash val="solid"/>
          </a:ln>
        </p:spPr>
      </p:sp>
      <p:sp>
        <p:nvSpPr>
          <p:cNvPr id="10" name="Text 8"/>
          <p:cNvSpPr txBox="1"/>
          <p:nvPr/>
        </p:nvSpPr>
        <p:spPr>
          <a:xfrm>
            <a:off x="685800" y="2578608"/>
            <a:ext cx="3200400" cy="36576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استمرارية الخدمات الرقمية والاحتيال المالي</a:t>
            </a:r>
            <a:endParaRPr lang="en-US" sz="1150" b="1" dirty="0"/>
          </a:p>
        </p:txBody>
      </p:sp>
      <p:sp>
        <p:nvSpPr>
          <p:cNvPr id="11" name="Shape 9"/>
          <p:cNvSpPr/>
          <p:nvPr/>
        </p:nvSpPr>
        <p:spPr>
          <a:xfrm>
            <a:off x="3931920" y="2606040"/>
            <a:ext cx="1874520" cy="310896"/>
          </a:xfrm>
          <a:prstGeom prst="roundRect">
            <a:avLst>
              <a:gd name="adj" fmla="val 50000"/>
            </a:avLst>
          </a:prstGeom>
          <a:solidFill>
            <a:srgbClr val="1F3B57"/>
          </a:solidFill>
          <a:ln/>
        </p:spPr>
      </p:sp>
      <p:sp>
        <p:nvSpPr>
          <p:cNvPr id="12" name="Text 10"/>
          <p:cNvSpPr txBox="1"/>
          <p:nvPr/>
        </p:nvSpPr>
        <p:spPr>
          <a:xfrm>
            <a:off x="3931920" y="2606040"/>
            <a:ext cx="187452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منخفض</a:t>
            </a:r>
            <a:endParaRPr lang="en-US" sz="1000" b="1" dirty="0"/>
          </a:p>
        </p:txBody>
      </p:sp>
      <p:sp>
        <p:nvSpPr>
          <p:cNvPr id="13" name="Shape 11"/>
          <p:cNvSpPr/>
          <p:nvPr/>
        </p:nvSpPr>
        <p:spPr>
          <a:xfrm>
            <a:off x="548640" y="3099816"/>
            <a:ext cx="5394960" cy="457200"/>
          </a:xfrm>
          <a:prstGeom prst="roundRect">
            <a:avLst>
              <a:gd name="adj" fmla="val 14000"/>
            </a:avLst>
          </a:prstGeom>
          <a:solidFill>
            <a:srgbClr val="FFFFFF"/>
          </a:solidFill>
          <a:ln w="12700">
            <a:solidFill>
              <a:srgbClr val="E3E7EE"/>
            </a:solidFill>
            <a:prstDash val="solid"/>
          </a:ln>
        </p:spPr>
      </p:sp>
      <p:sp>
        <p:nvSpPr>
          <p:cNvPr id="14" name="Text 12"/>
          <p:cNvSpPr txBox="1"/>
          <p:nvPr/>
        </p:nvSpPr>
        <p:spPr>
          <a:xfrm>
            <a:off x="685800" y="3145536"/>
            <a:ext cx="3200400" cy="36576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المخاطر التشغيلية محدودة الأثر</a:t>
            </a:r>
            <a:endParaRPr lang="en-US" sz="1150" b="1" dirty="0"/>
          </a:p>
        </p:txBody>
      </p:sp>
      <p:sp>
        <p:nvSpPr>
          <p:cNvPr id="15" name="Shape 13"/>
          <p:cNvSpPr/>
          <p:nvPr/>
        </p:nvSpPr>
        <p:spPr>
          <a:xfrm>
            <a:off x="3931920" y="3172968"/>
            <a:ext cx="1874520" cy="310896"/>
          </a:xfrm>
          <a:prstGeom prst="roundRect">
            <a:avLst>
              <a:gd name="adj" fmla="val 50000"/>
            </a:avLst>
          </a:prstGeom>
          <a:solidFill>
            <a:srgbClr val="1F3B57"/>
          </a:solidFill>
          <a:ln/>
        </p:spPr>
      </p:sp>
      <p:sp>
        <p:nvSpPr>
          <p:cNvPr id="16" name="Text 14"/>
          <p:cNvSpPr txBox="1"/>
          <p:nvPr/>
        </p:nvSpPr>
        <p:spPr>
          <a:xfrm>
            <a:off x="3931920" y="3172968"/>
            <a:ext cx="187452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متوسط</a:t>
            </a:r>
            <a:endParaRPr lang="en-US" sz="1000" b="1" dirty="0"/>
          </a:p>
        </p:txBody>
      </p:sp>
      <p:sp>
        <p:nvSpPr>
          <p:cNvPr id="17" name="Shape 15"/>
          <p:cNvSpPr/>
          <p:nvPr/>
        </p:nvSpPr>
        <p:spPr>
          <a:xfrm>
            <a:off x="548640" y="3666744"/>
            <a:ext cx="5394960" cy="457200"/>
          </a:xfrm>
          <a:prstGeom prst="roundRect">
            <a:avLst>
              <a:gd name="adj" fmla="val 14000"/>
            </a:avLst>
          </a:prstGeom>
          <a:solidFill>
            <a:srgbClr val="FFFFFF"/>
          </a:solidFill>
          <a:ln w="12700">
            <a:solidFill>
              <a:srgbClr val="E3E7EE"/>
            </a:solidFill>
            <a:prstDash val="solid"/>
          </a:ln>
        </p:spPr>
      </p:sp>
      <p:sp>
        <p:nvSpPr>
          <p:cNvPr id="18" name="Text 16"/>
          <p:cNvSpPr txBox="1"/>
          <p:nvPr/>
        </p:nvSpPr>
        <p:spPr>
          <a:xfrm>
            <a:off x="685800" y="3712464"/>
            <a:ext cx="3200400" cy="36576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مشاريع الابتكار والتحول الرقمي</a:t>
            </a:r>
            <a:endParaRPr lang="en-US" sz="1150" b="1" dirty="0"/>
          </a:p>
        </p:txBody>
      </p:sp>
      <p:sp>
        <p:nvSpPr>
          <p:cNvPr id="19" name="Shape 17"/>
          <p:cNvSpPr/>
          <p:nvPr/>
        </p:nvSpPr>
        <p:spPr>
          <a:xfrm>
            <a:off x="3931920" y="3739896"/>
            <a:ext cx="1874520" cy="310896"/>
          </a:xfrm>
          <a:prstGeom prst="roundRect">
            <a:avLst>
              <a:gd name="adj" fmla="val 50000"/>
            </a:avLst>
          </a:prstGeom>
          <a:solidFill>
            <a:srgbClr val="1F3B57"/>
          </a:solidFill>
          <a:ln/>
        </p:spPr>
      </p:sp>
      <p:sp>
        <p:nvSpPr>
          <p:cNvPr id="20" name="Text 18"/>
          <p:cNvSpPr txBox="1"/>
          <p:nvPr/>
        </p:nvSpPr>
        <p:spPr>
          <a:xfrm>
            <a:off x="3931920" y="3739896"/>
            <a:ext cx="187452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متوسط-عالٍ محسوب</a:t>
            </a:r>
            <a:endParaRPr lang="en-US" sz="1000" b="1" dirty="0"/>
          </a:p>
        </p:txBody>
      </p:sp>
      <p:sp>
        <p:nvSpPr>
          <p:cNvPr id="21" name="Text 19"/>
          <p:cNvSpPr txBox="1"/>
          <p:nvPr/>
        </p:nvSpPr>
        <p:spPr>
          <a:xfrm>
            <a:off x="6309360" y="1554480"/>
            <a:ext cx="539496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أبرز أهداف أمن المعلومات ومؤشرات القياس</a:t>
            </a:r>
            <a:endParaRPr lang="en-US" sz="1400" b="1" dirty="0"/>
          </a:p>
        </p:txBody>
      </p:sp>
      <p:sp>
        <p:nvSpPr>
          <p:cNvPr id="22" name="Shape 20"/>
          <p:cNvSpPr/>
          <p:nvPr/>
        </p:nvSpPr>
        <p:spPr>
          <a:xfrm>
            <a:off x="6309360" y="1965960"/>
            <a:ext cx="5349240" cy="658368"/>
          </a:xfrm>
          <a:prstGeom prst="roundRect">
            <a:avLst>
              <a:gd name="adj" fmla="val 11111"/>
            </a:avLst>
          </a:prstGeom>
          <a:solidFill>
            <a:srgbClr val="F5F7FA"/>
          </a:solidFill>
          <a:ln w="12700">
            <a:solidFill>
              <a:srgbClr val="E3E7EE"/>
            </a:solidFill>
            <a:prstDash val="solid"/>
          </a:ln>
        </p:spPr>
      </p:sp>
      <p:sp>
        <p:nvSpPr>
          <p:cNvPr id="23" name="Text 21"/>
          <p:cNvSpPr txBox="1"/>
          <p:nvPr/>
        </p:nvSpPr>
        <p:spPr>
          <a:xfrm>
            <a:off x="6446520" y="2011680"/>
            <a:ext cx="5074920" cy="274320"/>
          </a:xfrm>
          <a:prstGeom prst="rect">
            <a:avLst/>
          </a:prstGeom>
          <a:noFill/>
          <a:ln/>
        </p:spPr>
        <p:txBody>
          <a:bodyPr wrap="square" lIns="0" tIns="0" rIns="0" bIns="0" rtlCol="0" anchor="ctr"/>
          <a:lstStyle/>
          <a:p>
            <a:pPr marL="0" indent="0" algn="r">
              <a:buNone/>
            </a:pPr>
            <a:r>
              <a:rPr lang="en-US" sz="1200" b="1" dirty="0">
                <a:solidFill>
                  <a:srgbClr val="1F3B57"/>
                </a:solidFill>
                <a:latin typeface="Arial" pitchFamily="34" charset="0"/>
                <a:ea typeface="Arial" pitchFamily="34" charset="-122"/>
                <a:cs typeface="Arial" pitchFamily="34" charset="-120"/>
              </a:rPr>
              <a:t>حماية بيانات العملاء</a:t>
            </a:r>
            <a:endParaRPr lang="en-US" sz="1200" b="1" dirty="0"/>
          </a:p>
        </p:txBody>
      </p:sp>
      <p:sp>
        <p:nvSpPr>
          <p:cNvPr id="24" name="Text 22"/>
          <p:cNvSpPr txBox="1"/>
          <p:nvPr/>
        </p:nvSpPr>
        <p:spPr>
          <a:xfrm>
            <a:off x="6446520" y="2295144"/>
            <a:ext cx="5074920" cy="274320"/>
          </a:xfrm>
          <a:prstGeom prst="rect">
            <a:avLst/>
          </a:prstGeom>
          <a:noFill/>
          <a:ln/>
        </p:spPr>
        <p:txBody>
          <a:bodyPr wrap="square" lIns="0" tIns="0" rIns="0" bIns="0" rtlCol="0" anchor="ctr"/>
          <a:lstStyle/>
          <a:p>
            <a:pPr marL="0" indent="0" algn="r">
              <a:buNone/>
            </a:pPr>
            <a:r>
              <a:rPr lang="en-US" sz="1050" b="1" dirty="0">
                <a:solidFill>
                  <a:srgbClr val="B08D27"/>
                </a:solidFill>
                <a:latin typeface="Arial" pitchFamily="34" charset="0"/>
                <a:ea typeface="Arial" pitchFamily="34" charset="-122"/>
                <a:cs typeface="Arial" pitchFamily="34" charset="-120"/>
              </a:rPr>
              <a:t>صفر حوادث تسريب جوهرية سنوياً</a:t>
            </a:r>
            <a:endParaRPr lang="en-US" sz="1050" b="1" dirty="0"/>
          </a:p>
        </p:txBody>
      </p:sp>
      <p:sp>
        <p:nvSpPr>
          <p:cNvPr id="25" name="Shape 23"/>
          <p:cNvSpPr/>
          <p:nvPr/>
        </p:nvSpPr>
        <p:spPr>
          <a:xfrm>
            <a:off x="6309360" y="2743200"/>
            <a:ext cx="5349240" cy="658368"/>
          </a:xfrm>
          <a:prstGeom prst="roundRect">
            <a:avLst>
              <a:gd name="adj" fmla="val 11111"/>
            </a:avLst>
          </a:prstGeom>
          <a:solidFill>
            <a:srgbClr val="F5F7FA"/>
          </a:solidFill>
          <a:ln w="12700">
            <a:solidFill>
              <a:srgbClr val="E3E7EE"/>
            </a:solidFill>
            <a:prstDash val="solid"/>
          </a:ln>
        </p:spPr>
      </p:sp>
      <p:sp>
        <p:nvSpPr>
          <p:cNvPr id="26" name="Text 24"/>
          <p:cNvSpPr txBox="1"/>
          <p:nvPr/>
        </p:nvSpPr>
        <p:spPr>
          <a:xfrm>
            <a:off x="6446520" y="2788920"/>
            <a:ext cx="5074920" cy="274320"/>
          </a:xfrm>
          <a:prstGeom prst="rect">
            <a:avLst/>
          </a:prstGeom>
          <a:noFill/>
          <a:ln/>
        </p:spPr>
        <p:txBody>
          <a:bodyPr wrap="square" lIns="0" tIns="0" rIns="0" bIns="0" rtlCol="0" anchor="ctr"/>
          <a:lstStyle/>
          <a:p>
            <a:pPr marL="0" indent="0" algn="r">
              <a:buNone/>
            </a:pPr>
            <a:r>
              <a:rPr lang="en-US" sz="1200" b="1" dirty="0">
                <a:solidFill>
                  <a:srgbClr val="1F3B57"/>
                </a:solidFill>
                <a:latin typeface="Arial" pitchFamily="34" charset="0"/>
                <a:ea typeface="Arial" pitchFamily="34" charset="-122"/>
                <a:cs typeface="Arial" pitchFamily="34" charset="-120"/>
              </a:rPr>
              <a:t>استمرارية الخدمات الرقمية</a:t>
            </a:r>
            <a:endParaRPr lang="en-US" sz="1200" b="1" dirty="0"/>
          </a:p>
        </p:txBody>
      </p:sp>
      <p:sp>
        <p:nvSpPr>
          <p:cNvPr id="27" name="Text 25"/>
          <p:cNvSpPr txBox="1"/>
          <p:nvPr/>
        </p:nvSpPr>
        <p:spPr>
          <a:xfrm>
            <a:off x="6446520" y="3072384"/>
            <a:ext cx="5074920" cy="274320"/>
          </a:xfrm>
          <a:prstGeom prst="rect">
            <a:avLst/>
          </a:prstGeom>
          <a:noFill/>
          <a:ln/>
        </p:spPr>
        <p:txBody>
          <a:bodyPr wrap="square" lIns="0" tIns="0" rIns="0" bIns="0" rtlCol="0" anchor="ctr"/>
          <a:lstStyle/>
          <a:p>
            <a:pPr marL="0" indent="0" algn="r">
              <a:buNone/>
            </a:pPr>
            <a:r>
              <a:rPr lang="en-US" sz="1050" b="1" dirty="0">
                <a:solidFill>
                  <a:srgbClr val="B08D27"/>
                </a:solidFill>
                <a:latin typeface="Arial" pitchFamily="34" charset="0"/>
                <a:ea typeface="Arial" pitchFamily="34" charset="-122"/>
                <a:cs typeface="Arial" pitchFamily="34" charset="-120"/>
              </a:rPr>
              <a:t>99.9% نسبة توفر سنوية</a:t>
            </a:r>
            <a:endParaRPr lang="en-US" sz="1050" b="1" dirty="0"/>
          </a:p>
        </p:txBody>
      </p:sp>
      <p:sp>
        <p:nvSpPr>
          <p:cNvPr id="28" name="Shape 26"/>
          <p:cNvSpPr/>
          <p:nvPr/>
        </p:nvSpPr>
        <p:spPr>
          <a:xfrm>
            <a:off x="6309360" y="3520440"/>
            <a:ext cx="5349240" cy="658368"/>
          </a:xfrm>
          <a:prstGeom prst="roundRect">
            <a:avLst>
              <a:gd name="adj" fmla="val 11111"/>
            </a:avLst>
          </a:prstGeom>
          <a:solidFill>
            <a:srgbClr val="F5F7FA"/>
          </a:solidFill>
          <a:ln w="12700">
            <a:solidFill>
              <a:srgbClr val="E3E7EE"/>
            </a:solidFill>
            <a:prstDash val="solid"/>
          </a:ln>
        </p:spPr>
      </p:sp>
      <p:sp>
        <p:nvSpPr>
          <p:cNvPr id="29" name="Text 27"/>
          <p:cNvSpPr txBox="1"/>
          <p:nvPr/>
        </p:nvSpPr>
        <p:spPr>
          <a:xfrm>
            <a:off x="6446520" y="3566160"/>
            <a:ext cx="5074920" cy="274320"/>
          </a:xfrm>
          <a:prstGeom prst="rect">
            <a:avLst/>
          </a:prstGeom>
          <a:noFill/>
          <a:ln/>
        </p:spPr>
        <p:txBody>
          <a:bodyPr wrap="square" lIns="0" tIns="0" rIns="0" bIns="0" rtlCol="0" anchor="ctr"/>
          <a:lstStyle/>
          <a:p>
            <a:pPr marL="0" indent="0" algn="r">
              <a:buNone/>
            </a:pPr>
            <a:r>
              <a:rPr lang="en-US" sz="1200" b="1" dirty="0">
                <a:solidFill>
                  <a:srgbClr val="1F3B57"/>
                </a:solidFill>
                <a:latin typeface="Arial" pitchFamily="34" charset="0"/>
                <a:ea typeface="Arial" pitchFamily="34" charset="-122"/>
                <a:cs typeface="Arial" pitchFamily="34" charset="-120"/>
              </a:rPr>
              <a:t>الوعي الأمني</a:t>
            </a:r>
            <a:endParaRPr lang="en-US" sz="1200" b="1" dirty="0"/>
          </a:p>
        </p:txBody>
      </p:sp>
      <p:sp>
        <p:nvSpPr>
          <p:cNvPr id="30" name="Text 28"/>
          <p:cNvSpPr txBox="1"/>
          <p:nvPr/>
        </p:nvSpPr>
        <p:spPr>
          <a:xfrm>
            <a:off x="6446520" y="3849624"/>
            <a:ext cx="5074920" cy="274320"/>
          </a:xfrm>
          <a:prstGeom prst="rect">
            <a:avLst/>
          </a:prstGeom>
          <a:noFill/>
          <a:ln/>
        </p:spPr>
        <p:txBody>
          <a:bodyPr wrap="square" lIns="0" tIns="0" rIns="0" bIns="0" rtlCol="0" anchor="ctr"/>
          <a:lstStyle/>
          <a:p>
            <a:pPr marL="0" indent="0" algn="r">
              <a:buNone/>
            </a:pPr>
            <a:r>
              <a:rPr lang="en-US" sz="1050" b="1" dirty="0">
                <a:solidFill>
                  <a:srgbClr val="B08D27"/>
                </a:solidFill>
                <a:latin typeface="Arial" pitchFamily="34" charset="0"/>
                <a:ea typeface="Arial" pitchFamily="34" charset="-122"/>
                <a:cs typeface="Arial" pitchFamily="34" charset="-120"/>
              </a:rPr>
              <a:t>أقل من 10% نسبة نقر على التصيد التجريبي</a:t>
            </a:r>
            <a:endParaRPr lang="en-US" sz="1050" b="1" dirty="0"/>
          </a:p>
        </p:txBody>
      </p:sp>
      <p:sp>
        <p:nvSpPr>
          <p:cNvPr id="31" name="Shape 29"/>
          <p:cNvSpPr/>
          <p:nvPr/>
        </p:nvSpPr>
        <p:spPr>
          <a:xfrm>
            <a:off x="6309360" y="4297680"/>
            <a:ext cx="5349240" cy="658368"/>
          </a:xfrm>
          <a:prstGeom prst="roundRect">
            <a:avLst>
              <a:gd name="adj" fmla="val 11111"/>
            </a:avLst>
          </a:prstGeom>
          <a:solidFill>
            <a:srgbClr val="F5F7FA"/>
          </a:solidFill>
          <a:ln w="12700">
            <a:solidFill>
              <a:srgbClr val="E3E7EE"/>
            </a:solidFill>
            <a:prstDash val="solid"/>
          </a:ln>
        </p:spPr>
      </p:sp>
      <p:sp>
        <p:nvSpPr>
          <p:cNvPr id="32" name="Text 30"/>
          <p:cNvSpPr txBox="1"/>
          <p:nvPr/>
        </p:nvSpPr>
        <p:spPr>
          <a:xfrm>
            <a:off x="6446520" y="4343400"/>
            <a:ext cx="5074920" cy="274320"/>
          </a:xfrm>
          <a:prstGeom prst="rect">
            <a:avLst/>
          </a:prstGeom>
          <a:noFill/>
          <a:ln/>
        </p:spPr>
        <p:txBody>
          <a:bodyPr wrap="square" lIns="0" tIns="0" rIns="0" bIns="0" rtlCol="0" anchor="ctr"/>
          <a:lstStyle/>
          <a:p>
            <a:pPr marL="0" indent="0" algn="r">
              <a:buNone/>
            </a:pPr>
            <a:r>
              <a:rPr lang="en-US" sz="1200" b="1" dirty="0">
                <a:solidFill>
                  <a:srgbClr val="1F3B57"/>
                </a:solidFill>
                <a:latin typeface="Arial" pitchFamily="34" charset="0"/>
                <a:ea typeface="Arial" pitchFamily="34" charset="-122"/>
                <a:cs typeface="Arial" pitchFamily="34" charset="-120"/>
              </a:rPr>
              <a:t>إدارة الثغرات</a:t>
            </a:r>
            <a:endParaRPr lang="en-US" sz="1200" b="1" dirty="0"/>
          </a:p>
        </p:txBody>
      </p:sp>
      <p:sp>
        <p:nvSpPr>
          <p:cNvPr id="33" name="Text 31"/>
          <p:cNvSpPr txBox="1"/>
          <p:nvPr/>
        </p:nvSpPr>
        <p:spPr>
          <a:xfrm>
            <a:off x="6446520" y="4626864"/>
            <a:ext cx="5074920" cy="274320"/>
          </a:xfrm>
          <a:prstGeom prst="rect">
            <a:avLst/>
          </a:prstGeom>
          <a:noFill/>
          <a:ln/>
        </p:spPr>
        <p:txBody>
          <a:bodyPr wrap="square" lIns="0" tIns="0" rIns="0" bIns="0" rtlCol="0" anchor="ctr"/>
          <a:lstStyle/>
          <a:p>
            <a:pPr marL="0" indent="0" algn="r">
              <a:buNone/>
            </a:pPr>
            <a:r>
              <a:rPr lang="en-US" sz="1050" b="1" dirty="0">
                <a:solidFill>
                  <a:srgbClr val="B08D27"/>
                </a:solidFill>
                <a:latin typeface="Arial" pitchFamily="34" charset="0"/>
                <a:ea typeface="Arial" pitchFamily="34" charset="-122"/>
                <a:cs typeface="Arial" pitchFamily="34" charset="-120"/>
              </a:rPr>
              <a:t>100% من الثغرات عالية الخطورة خلال 30 يوماً</a:t>
            </a:r>
            <a:endParaRPr lang="en-US" sz="1050" b="1" dirty="0"/>
          </a:p>
        </p:txBody>
      </p:sp>
      <p:sp>
        <p:nvSpPr>
          <p:cNvPr id="34" name="Text 32"/>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35" name="Text 33"/>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14</a:t>
            </a:r>
            <a:endParaRPr lang="en-US" sz="9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63B"/>
        </a:solidFill>
        <a:effectLst/>
      </p:bgPr>
    </p:bg>
    <p:spTree>
      <p:nvGrpSpPr>
        <p:cNvPr id="1" name=""/>
        <p:cNvGrpSpPr/>
        <p:nvPr/>
      </p:nvGrpSpPr>
      <p:grpSpPr>
        <a:xfrm>
          <a:off x="0" y="0"/>
          <a:ext cx="0" cy="0"/>
          <a:chOff x="0" y="0"/>
          <a:chExt cx="0" cy="0"/>
        </a:xfrm>
      </p:grpSpPr>
      <p:sp>
        <p:nvSpPr>
          <p:cNvPr id="2" name="Shape 0"/>
          <p:cNvSpPr/>
          <p:nvPr/>
        </p:nvSpPr>
        <p:spPr>
          <a:xfrm>
            <a:off x="5684368" y="1051560"/>
            <a:ext cx="822960" cy="822960"/>
          </a:xfrm>
          <a:prstGeom prst="ellipse">
            <a:avLst/>
          </a:prstGeom>
          <a:solidFill>
            <a:srgbClr val="B08D27"/>
          </a:solidFill>
          <a:ln/>
        </p:spPr>
      </p:sp>
      <p:sp>
        <p:nvSpPr>
          <p:cNvPr id="3" name="Text 1"/>
          <p:cNvSpPr txBox="1"/>
          <p:nvPr/>
        </p:nvSpPr>
        <p:spPr>
          <a:xfrm>
            <a:off x="5684368" y="1051560"/>
            <a:ext cx="822960" cy="822960"/>
          </a:xfrm>
          <a:prstGeom prst="rect">
            <a:avLst/>
          </a:prstGeom>
          <a:noFill/>
          <a:ln/>
        </p:spPr>
        <p:txBody>
          <a:bodyPr wrap="square" lIns="0" tIns="0" rIns="0" bIns="0" rtlCol="0" anchor="ctr"/>
          <a:lstStyle/>
          <a:p>
            <a:pPr marL="0" indent="0" algn="ctr">
              <a:buNone/>
            </a:pPr>
            <a:r>
              <a:rPr lang="en-US" sz="2000" b="1" dirty="0">
                <a:solidFill>
                  <a:srgbClr val="13263B"/>
                </a:solidFill>
                <a:latin typeface="Arial" pitchFamily="34" charset="0"/>
                <a:ea typeface="Arial" pitchFamily="34" charset="-122"/>
                <a:cs typeface="Arial" pitchFamily="34" charset="-120"/>
              </a:rPr>
              <a:t>3</a:t>
            </a:r>
            <a:endParaRPr lang="en-US" sz="2000" dirty="0"/>
          </a:p>
        </p:txBody>
      </p:sp>
      <p:sp>
        <p:nvSpPr>
          <p:cNvPr id="4" name="Text 2"/>
          <p:cNvSpPr txBox="1"/>
          <p:nvPr/>
        </p:nvSpPr>
        <p:spPr>
          <a:xfrm>
            <a:off x="914400" y="2148840"/>
            <a:ext cx="10362895" cy="365760"/>
          </a:xfrm>
          <a:prstGeom prst="rect">
            <a:avLst/>
          </a:prstGeom>
          <a:noFill/>
          <a:ln/>
        </p:spPr>
        <p:txBody>
          <a:bodyPr wrap="square" lIns="0" tIns="0" rIns="0" bIns="0" rtlCol="0" anchor="ctr"/>
          <a:lstStyle/>
          <a:p>
            <a:pPr marL="0" indent="0" algn="ctr">
              <a:buNone/>
            </a:pPr>
            <a:r>
              <a:rPr lang="en-US" sz="1400" b="1" kern="0" spc="200" dirty="0">
                <a:solidFill>
                  <a:srgbClr val="D9BE6E"/>
                </a:solidFill>
                <a:latin typeface="Arial" pitchFamily="34" charset="0"/>
                <a:ea typeface="Arial" pitchFamily="34" charset="-122"/>
                <a:cs typeface="Arial" pitchFamily="34" charset="-120"/>
              </a:rPr>
              <a:t>المحور الثالث</a:t>
            </a:r>
            <a:endParaRPr lang="en-US" sz="1400" dirty="0"/>
          </a:p>
        </p:txBody>
      </p:sp>
      <p:sp>
        <p:nvSpPr>
          <p:cNvPr id="5" name="Text 3"/>
          <p:cNvSpPr txBox="1"/>
          <p:nvPr/>
        </p:nvSpPr>
        <p:spPr>
          <a:xfrm>
            <a:off x="914400" y="2560320"/>
            <a:ext cx="10362895" cy="100584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الوثائق التأسيسية والسياسات</a:t>
            </a:r>
            <a:endParaRPr lang="en-US" sz="3400" dirty="0"/>
          </a:p>
        </p:txBody>
      </p:sp>
      <p:sp>
        <p:nvSpPr>
          <p:cNvPr id="6" name="Text 4"/>
          <p:cNvSpPr txBox="1"/>
          <p:nvPr/>
        </p:nvSpPr>
        <p:spPr>
          <a:xfrm>
            <a:off x="1828800" y="3657600"/>
            <a:ext cx="8534095" cy="914400"/>
          </a:xfrm>
          <a:prstGeom prst="rect">
            <a:avLst/>
          </a:prstGeom>
          <a:noFill/>
          <a:ln/>
        </p:spPr>
        <p:txBody>
          <a:bodyPr wrap="square" lIns="0" tIns="0" rIns="0" bIns="0" rtlCol="0" anchor="ctr"/>
          <a:lstStyle/>
          <a:p>
            <a:pPr marL="0" indent="0" algn="ctr">
              <a:buNone/>
            </a:pPr>
            <a:r>
              <a:rPr lang="en-US" sz="1400" dirty="0">
                <a:solidFill>
                  <a:srgbClr val="CADCFC"/>
                </a:solidFill>
                <a:latin typeface="Arial" pitchFamily="34" charset="0"/>
                <a:ea typeface="Arial" pitchFamily="34" charset="-122"/>
                <a:cs typeface="Arial" pitchFamily="34" charset="-120"/>
              </a:rPr>
              <a:t>نطاق النظام، سياسة أمن المعلومات، والسياسات والإجراءات الداعمة</a:t>
            </a:r>
            <a:endParaRPr lang="en-US" sz="1400" dirty="0"/>
          </a:p>
        </p:txBody>
      </p:sp>
      <p:sp>
        <p:nvSpPr>
          <p:cNvPr id="7" name="Text 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8" name="Text 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15</a:t>
            </a:r>
            <a:endParaRPr lang="en-US" sz="900" dirty="0"/>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وثيقة السياق والنطاق</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حدود نظام إدارة أمن المعلومات</a:t>
            </a:r>
            <a:endParaRPr lang="en-US" sz="2800" b="1" dirty="0"/>
          </a:p>
        </p:txBody>
      </p:sp>
      <p:sp>
        <p:nvSpPr>
          <p:cNvPr id="4" name="Shape 2"/>
          <p:cNvSpPr/>
          <p:nvPr/>
        </p:nvSpPr>
        <p:spPr>
          <a:xfrm>
            <a:off x="548640" y="1691640"/>
            <a:ext cx="11094415" cy="886968"/>
          </a:xfrm>
          <a:prstGeom prst="roundRect">
            <a:avLst>
              <a:gd name="adj" fmla="val 8247"/>
            </a:avLst>
          </a:prstGeom>
          <a:solidFill>
            <a:srgbClr val="FFFFFF"/>
          </a:solidFill>
          <a:ln w="12700">
            <a:solidFill>
              <a:srgbClr val="E3E7EE"/>
            </a:solidFill>
            <a:prstDash val="solid"/>
          </a:ln>
        </p:spPr>
      </p:sp>
      <p:sp>
        <p:nvSpPr>
          <p:cNvPr id="5" name="Shape 3"/>
          <p:cNvSpPr/>
          <p:nvPr/>
        </p:nvSpPr>
        <p:spPr>
          <a:xfrm>
            <a:off x="10865815" y="1828800"/>
            <a:ext cx="502920" cy="502920"/>
          </a:xfrm>
          <a:prstGeom prst="ellipse">
            <a:avLst/>
          </a:prstGeom>
          <a:solidFill>
            <a:srgbClr val="1F3B57"/>
          </a:solidFill>
          <a:ln/>
        </p:spPr>
      </p:sp>
      <p:sp>
        <p:nvSpPr>
          <p:cNvPr id="6" name="Text 4"/>
          <p:cNvSpPr txBox="1"/>
          <p:nvPr/>
        </p:nvSpPr>
        <p:spPr>
          <a:xfrm>
            <a:off x="10865815" y="18288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b="1" dirty="0"/>
          </a:p>
        </p:txBody>
      </p:sp>
      <p:sp>
        <p:nvSpPr>
          <p:cNvPr id="7" name="Text 5"/>
          <p:cNvSpPr txBox="1"/>
          <p:nvPr/>
        </p:nvSpPr>
        <p:spPr>
          <a:xfrm>
            <a:off x="822960" y="1783080"/>
            <a:ext cx="985997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الحدود التنظيمية</a:t>
            </a:r>
            <a:endParaRPr lang="en-US" sz="1500" b="1" dirty="0"/>
          </a:p>
        </p:txBody>
      </p:sp>
      <p:sp>
        <p:nvSpPr>
          <p:cNvPr id="8" name="Text 6"/>
          <p:cNvSpPr txBox="1"/>
          <p:nvPr/>
        </p:nvSpPr>
        <p:spPr>
          <a:xfrm>
            <a:off x="822960" y="2103120"/>
            <a:ext cx="9859975" cy="50292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إدارة تقنية المعلومات، أمن المعلومات، العمليات المصرفية، المالية، الموارد البشرية، القانونية والالتزام</a:t>
            </a:r>
            <a:endParaRPr lang="en-US" sz="1150" b="1" dirty="0"/>
          </a:p>
        </p:txBody>
      </p:sp>
      <p:sp>
        <p:nvSpPr>
          <p:cNvPr id="9" name="Shape 7"/>
          <p:cNvSpPr/>
          <p:nvPr/>
        </p:nvSpPr>
        <p:spPr>
          <a:xfrm>
            <a:off x="548640" y="2743200"/>
            <a:ext cx="11094415" cy="886968"/>
          </a:xfrm>
          <a:prstGeom prst="roundRect">
            <a:avLst>
              <a:gd name="adj" fmla="val 8247"/>
            </a:avLst>
          </a:prstGeom>
          <a:solidFill>
            <a:srgbClr val="FFFFFF"/>
          </a:solidFill>
          <a:ln w="12700">
            <a:solidFill>
              <a:srgbClr val="E3E7EE"/>
            </a:solidFill>
            <a:prstDash val="solid"/>
          </a:ln>
        </p:spPr>
      </p:sp>
      <p:sp>
        <p:nvSpPr>
          <p:cNvPr id="10" name="Shape 8"/>
          <p:cNvSpPr/>
          <p:nvPr/>
        </p:nvSpPr>
        <p:spPr>
          <a:xfrm>
            <a:off x="10865815" y="2880360"/>
            <a:ext cx="502920" cy="502920"/>
          </a:xfrm>
          <a:prstGeom prst="ellipse">
            <a:avLst/>
          </a:prstGeom>
          <a:solidFill>
            <a:srgbClr val="1F3B57"/>
          </a:solidFill>
          <a:ln/>
        </p:spPr>
      </p:sp>
      <p:sp>
        <p:nvSpPr>
          <p:cNvPr id="11" name="Text 9"/>
          <p:cNvSpPr txBox="1"/>
          <p:nvPr/>
        </p:nvSpPr>
        <p:spPr>
          <a:xfrm>
            <a:off x="10865815" y="28803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b="1" dirty="0"/>
          </a:p>
        </p:txBody>
      </p:sp>
      <p:sp>
        <p:nvSpPr>
          <p:cNvPr id="12" name="Text 10"/>
          <p:cNvSpPr txBox="1"/>
          <p:nvPr/>
        </p:nvSpPr>
        <p:spPr>
          <a:xfrm>
            <a:off x="822960" y="2834640"/>
            <a:ext cx="985997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الحدود المادية</a:t>
            </a:r>
            <a:endParaRPr lang="en-US" sz="1500" b="1" dirty="0"/>
          </a:p>
        </p:txBody>
      </p:sp>
      <p:sp>
        <p:nvSpPr>
          <p:cNvPr id="13" name="Text 11"/>
          <p:cNvSpPr txBox="1"/>
          <p:nvPr/>
        </p:nvSpPr>
        <p:spPr>
          <a:xfrm>
            <a:off x="822960" y="3154680"/>
            <a:ext cx="9859975" cy="50292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المقر الرئيسي بالرياض، مركز التعافي من الكوارث بجدة، 25 فرعاً، شبكة أجهزة الصراف الآلي</a:t>
            </a:r>
            <a:endParaRPr lang="en-US" sz="1150" b="1" dirty="0"/>
          </a:p>
        </p:txBody>
      </p:sp>
      <p:sp>
        <p:nvSpPr>
          <p:cNvPr id="14" name="Shape 12"/>
          <p:cNvSpPr/>
          <p:nvPr/>
        </p:nvSpPr>
        <p:spPr>
          <a:xfrm>
            <a:off x="548640" y="3794760"/>
            <a:ext cx="11094415" cy="886968"/>
          </a:xfrm>
          <a:prstGeom prst="roundRect">
            <a:avLst>
              <a:gd name="adj" fmla="val 8247"/>
            </a:avLst>
          </a:prstGeom>
          <a:solidFill>
            <a:srgbClr val="FFFFFF"/>
          </a:solidFill>
          <a:ln w="12700">
            <a:solidFill>
              <a:srgbClr val="E3E7EE"/>
            </a:solidFill>
            <a:prstDash val="solid"/>
          </a:ln>
        </p:spPr>
      </p:sp>
      <p:sp>
        <p:nvSpPr>
          <p:cNvPr id="15" name="Shape 13"/>
          <p:cNvSpPr/>
          <p:nvPr/>
        </p:nvSpPr>
        <p:spPr>
          <a:xfrm>
            <a:off x="10865815" y="3931920"/>
            <a:ext cx="502920" cy="502920"/>
          </a:xfrm>
          <a:prstGeom prst="ellipse">
            <a:avLst/>
          </a:prstGeom>
          <a:solidFill>
            <a:srgbClr val="1F3B57"/>
          </a:solidFill>
          <a:ln/>
        </p:spPr>
      </p:sp>
      <p:sp>
        <p:nvSpPr>
          <p:cNvPr id="16" name="Text 14"/>
          <p:cNvSpPr txBox="1"/>
          <p:nvPr/>
        </p:nvSpPr>
        <p:spPr>
          <a:xfrm>
            <a:off x="10865815" y="393192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b="1" dirty="0"/>
          </a:p>
        </p:txBody>
      </p:sp>
      <p:sp>
        <p:nvSpPr>
          <p:cNvPr id="17" name="Text 15"/>
          <p:cNvSpPr txBox="1"/>
          <p:nvPr/>
        </p:nvSpPr>
        <p:spPr>
          <a:xfrm>
            <a:off x="822960" y="3886200"/>
            <a:ext cx="985997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الأطراف المعنية</a:t>
            </a:r>
            <a:endParaRPr lang="en-US" sz="1500" b="1" dirty="0"/>
          </a:p>
        </p:txBody>
      </p:sp>
      <p:sp>
        <p:nvSpPr>
          <p:cNvPr id="18" name="Text 16"/>
          <p:cNvSpPr txBox="1"/>
          <p:nvPr/>
        </p:nvSpPr>
        <p:spPr>
          <a:xfrm>
            <a:off x="822960" y="4206240"/>
            <a:ext cx="9859975" cy="50292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مجلس الإدارة، ساما، سدايا، العملاء، الموردون (AWS ومطورو التطبيقات)، المراجعون الخارجيون</a:t>
            </a:r>
            <a:endParaRPr lang="en-US" sz="1150" b="1" dirty="0"/>
          </a:p>
        </p:txBody>
      </p:sp>
      <p:sp>
        <p:nvSpPr>
          <p:cNvPr id="19" name="Shape 17"/>
          <p:cNvSpPr/>
          <p:nvPr/>
        </p:nvSpPr>
        <p:spPr>
          <a:xfrm>
            <a:off x="548640" y="4846320"/>
            <a:ext cx="11094415" cy="886968"/>
          </a:xfrm>
          <a:prstGeom prst="roundRect">
            <a:avLst>
              <a:gd name="adj" fmla="val 8247"/>
            </a:avLst>
          </a:prstGeom>
          <a:solidFill>
            <a:srgbClr val="FFFFFF"/>
          </a:solidFill>
          <a:ln w="12700">
            <a:solidFill>
              <a:srgbClr val="E3E7EE"/>
            </a:solidFill>
            <a:prstDash val="solid"/>
          </a:ln>
        </p:spPr>
      </p:sp>
      <p:sp>
        <p:nvSpPr>
          <p:cNvPr id="20" name="Shape 18"/>
          <p:cNvSpPr/>
          <p:nvPr/>
        </p:nvSpPr>
        <p:spPr>
          <a:xfrm>
            <a:off x="10865815" y="4983480"/>
            <a:ext cx="502920" cy="502920"/>
          </a:xfrm>
          <a:prstGeom prst="ellipse">
            <a:avLst/>
          </a:prstGeom>
          <a:solidFill>
            <a:srgbClr val="1F3B57"/>
          </a:solidFill>
          <a:ln/>
        </p:spPr>
      </p:sp>
      <p:sp>
        <p:nvSpPr>
          <p:cNvPr id="21" name="Text 19"/>
          <p:cNvSpPr txBox="1"/>
          <p:nvPr/>
        </p:nvSpPr>
        <p:spPr>
          <a:xfrm>
            <a:off x="10865815" y="49834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b="1" dirty="0"/>
          </a:p>
        </p:txBody>
      </p:sp>
      <p:sp>
        <p:nvSpPr>
          <p:cNvPr id="22" name="Text 20"/>
          <p:cNvSpPr txBox="1"/>
          <p:nvPr/>
        </p:nvSpPr>
        <p:spPr>
          <a:xfrm>
            <a:off x="822960" y="4937760"/>
            <a:ext cx="9859975" cy="320040"/>
          </a:xfrm>
          <a:prstGeom prst="rect">
            <a:avLst/>
          </a:prstGeom>
          <a:noFill/>
          <a:ln/>
        </p:spPr>
        <p:txBody>
          <a:bodyPr wrap="square" lIns="0" tIns="0" rIns="0" bIns="0" rtlCol="0" anchor="ctr"/>
          <a:lstStyle/>
          <a:p>
            <a:pPr marL="0" indent="0" algn="r">
              <a:buNone/>
            </a:pPr>
            <a:r>
              <a:rPr lang="en-US" sz="1500" b="1" dirty="0">
                <a:solidFill>
                  <a:srgbClr val="1F3B57"/>
                </a:solidFill>
                <a:latin typeface="Arial" pitchFamily="34" charset="0"/>
                <a:ea typeface="Arial" pitchFamily="34" charset="-122"/>
                <a:cs typeface="Arial" pitchFamily="34" charset="-120"/>
              </a:rPr>
              <a:t>الاستثناءات</a:t>
            </a:r>
            <a:endParaRPr lang="en-US" sz="1500" b="1" dirty="0"/>
          </a:p>
        </p:txBody>
      </p:sp>
      <p:sp>
        <p:nvSpPr>
          <p:cNvPr id="23" name="Text 21"/>
          <p:cNvSpPr txBox="1"/>
          <p:nvPr/>
        </p:nvSpPr>
        <p:spPr>
          <a:xfrm>
            <a:off x="822960" y="5257800"/>
            <a:ext cx="9859975" cy="502920"/>
          </a:xfrm>
          <a:prstGeom prst="rect">
            <a:avLst/>
          </a:prstGeom>
          <a:noFill/>
          <a:ln/>
        </p:spPr>
        <p:txBody>
          <a:bodyPr wrap="square" lIns="0" tIns="0" rIns="0" bIns="0" rtlCol="0" anchor="t"/>
          <a:lstStyle/>
          <a:p>
            <a:pPr marL="0" indent="0" algn="r">
              <a:buNone/>
            </a:pPr>
            <a:r>
              <a:rPr lang="en-US" sz="1150" b="1" dirty="0">
                <a:solidFill>
                  <a:srgbClr val="1F2937"/>
                </a:solidFill>
                <a:latin typeface="Arial" pitchFamily="34" charset="0"/>
                <a:ea typeface="Arial" pitchFamily="34" charset="-122"/>
                <a:cs typeface="Arial" pitchFamily="34" charset="-120"/>
              </a:rPr>
              <a:t>الأنشطة التسويقية العامة والمرافق العامة غير المرتبطة مباشرة بأصول معلوماتية حساسة</a:t>
            </a:r>
            <a:endParaRPr lang="en-US" sz="1150" b="1" dirty="0"/>
          </a:p>
        </p:txBody>
      </p:sp>
      <p:sp>
        <p:nvSpPr>
          <p:cNvPr id="24" name="Text 22"/>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25" name="Text 23"/>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16</a:t>
            </a:r>
            <a:endParaRPr lang="en-US" sz="9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سياسة أمن المعلومات</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المبادئ الأساسية الحاكمة</a:t>
            </a:r>
            <a:endParaRPr lang="en-US" sz="2800" dirty="0"/>
          </a:p>
        </p:txBody>
      </p:sp>
      <p:sp>
        <p:nvSpPr>
          <p:cNvPr id="4" name="Shape 2"/>
          <p:cNvSpPr/>
          <p:nvPr/>
        </p:nvSpPr>
        <p:spPr>
          <a:xfrm>
            <a:off x="548640" y="1737360"/>
            <a:ext cx="2651760" cy="1051560"/>
          </a:xfrm>
          <a:prstGeom prst="roundRect">
            <a:avLst>
              <a:gd name="adj" fmla="val 7826"/>
            </a:avLst>
          </a:prstGeom>
          <a:solidFill>
            <a:srgbClr val="1F3B57"/>
          </a:solidFill>
          <a:ln/>
          <a:effectLst>
            <a:outerShdw blurRad="50800" dist="25400" dir="5400000" algn="bl" rotWithShape="0">
              <a:srgbClr val="888888">
                <a:alpha val="15000"/>
              </a:srgbClr>
            </a:outerShdw>
          </a:effectLst>
        </p:spPr>
      </p:sp>
      <p:sp>
        <p:nvSpPr>
          <p:cNvPr id="5" name="Text 3"/>
          <p:cNvSpPr txBox="1"/>
          <p:nvPr/>
        </p:nvSpPr>
        <p:spPr>
          <a:xfrm>
            <a:off x="640080" y="173736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تصنيف المعلومات</a:t>
            </a:r>
            <a:endParaRPr lang="en-US" sz="1250" dirty="0"/>
          </a:p>
        </p:txBody>
      </p:sp>
      <p:sp>
        <p:nvSpPr>
          <p:cNvPr id="6" name="Shape 4"/>
          <p:cNvSpPr/>
          <p:nvPr/>
        </p:nvSpPr>
        <p:spPr>
          <a:xfrm>
            <a:off x="3337560" y="1737360"/>
            <a:ext cx="2651760" cy="1051560"/>
          </a:xfrm>
          <a:prstGeom prst="roundRect">
            <a:avLst>
              <a:gd name="adj" fmla="val 7826"/>
            </a:avLst>
          </a:prstGeom>
          <a:solidFill>
            <a:srgbClr val="B08D27"/>
          </a:solidFill>
          <a:ln/>
          <a:effectLst>
            <a:outerShdw blurRad="50800" dist="25400" dir="5400000" algn="bl" rotWithShape="0">
              <a:srgbClr val="888888">
                <a:alpha val="15000"/>
              </a:srgbClr>
            </a:outerShdw>
          </a:effectLst>
        </p:spPr>
      </p:sp>
      <p:sp>
        <p:nvSpPr>
          <p:cNvPr id="7" name="Text 5"/>
          <p:cNvSpPr txBox="1"/>
          <p:nvPr/>
        </p:nvSpPr>
        <p:spPr>
          <a:xfrm>
            <a:off x="3429000" y="173736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التحكم في الوصول</a:t>
            </a:r>
            <a:endParaRPr lang="en-US" sz="1250" dirty="0"/>
          </a:p>
        </p:txBody>
      </p:sp>
      <p:sp>
        <p:nvSpPr>
          <p:cNvPr id="8" name="Shape 6"/>
          <p:cNvSpPr/>
          <p:nvPr/>
        </p:nvSpPr>
        <p:spPr>
          <a:xfrm>
            <a:off x="6126480" y="1737360"/>
            <a:ext cx="2651760" cy="1051560"/>
          </a:xfrm>
          <a:prstGeom prst="roundRect">
            <a:avLst>
              <a:gd name="adj" fmla="val 7826"/>
            </a:avLst>
          </a:prstGeom>
          <a:solidFill>
            <a:srgbClr val="1F3B57"/>
          </a:solidFill>
          <a:ln/>
          <a:effectLst>
            <a:outerShdw blurRad="50800" dist="25400" dir="5400000" algn="bl" rotWithShape="0">
              <a:srgbClr val="888888">
                <a:alpha val="15000"/>
              </a:srgbClr>
            </a:outerShdw>
          </a:effectLst>
        </p:spPr>
      </p:sp>
      <p:sp>
        <p:nvSpPr>
          <p:cNvPr id="9" name="Text 7"/>
          <p:cNvSpPr txBox="1"/>
          <p:nvPr/>
        </p:nvSpPr>
        <p:spPr>
          <a:xfrm>
            <a:off x="6217920" y="173736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أمن الموارد البشرية</a:t>
            </a:r>
            <a:endParaRPr lang="en-US" sz="1250" dirty="0"/>
          </a:p>
        </p:txBody>
      </p:sp>
      <p:sp>
        <p:nvSpPr>
          <p:cNvPr id="10" name="Shape 8"/>
          <p:cNvSpPr/>
          <p:nvPr/>
        </p:nvSpPr>
        <p:spPr>
          <a:xfrm>
            <a:off x="8915400" y="1737360"/>
            <a:ext cx="2651760" cy="1051560"/>
          </a:xfrm>
          <a:prstGeom prst="roundRect">
            <a:avLst>
              <a:gd name="adj" fmla="val 7826"/>
            </a:avLst>
          </a:prstGeom>
          <a:solidFill>
            <a:srgbClr val="B08D27"/>
          </a:solidFill>
          <a:ln/>
          <a:effectLst>
            <a:outerShdw blurRad="50800" dist="25400" dir="5400000" algn="bl" rotWithShape="0">
              <a:srgbClr val="888888">
                <a:alpha val="15000"/>
              </a:srgbClr>
            </a:outerShdw>
          </a:effectLst>
        </p:spPr>
      </p:sp>
      <p:sp>
        <p:nvSpPr>
          <p:cNvPr id="11" name="Text 9"/>
          <p:cNvSpPr txBox="1"/>
          <p:nvPr/>
        </p:nvSpPr>
        <p:spPr>
          <a:xfrm>
            <a:off x="9006840" y="173736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الأمن المادي والبيئي</a:t>
            </a:r>
            <a:endParaRPr lang="en-US" sz="1250" dirty="0"/>
          </a:p>
        </p:txBody>
      </p:sp>
      <p:sp>
        <p:nvSpPr>
          <p:cNvPr id="12" name="Shape 10"/>
          <p:cNvSpPr/>
          <p:nvPr/>
        </p:nvSpPr>
        <p:spPr>
          <a:xfrm>
            <a:off x="548640" y="2926080"/>
            <a:ext cx="2651760" cy="1051560"/>
          </a:xfrm>
          <a:prstGeom prst="roundRect">
            <a:avLst>
              <a:gd name="adj" fmla="val 7826"/>
            </a:avLst>
          </a:prstGeom>
          <a:solidFill>
            <a:srgbClr val="1F3B57"/>
          </a:solidFill>
          <a:ln/>
          <a:effectLst>
            <a:outerShdw blurRad="50800" dist="25400" dir="5400000" algn="bl" rotWithShape="0">
              <a:srgbClr val="888888">
                <a:alpha val="15000"/>
              </a:srgbClr>
            </a:outerShdw>
          </a:effectLst>
        </p:spPr>
      </p:sp>
      <p:sp>
        <p:nvSpPr>
          <p:cNvPr id="13" name="Text 11"/>
          <p:cNvSpPr txBox="1"/>
          <p:nvPr/>
        </p:nvSpPr>
        <p:spPr>
          <a:xfrm>
            <a:off x="640080" y="292608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أمن العمليات والاتصالات</a:t>
            </a:r>
            <a:endParaRPr lang="en-US" sz="1250" dirty="0"/>
          </a:p>
        </p:txBody>
      </p:sp>
      <p:sp>
        <p:nvSpPr>
          <p:cNvPr id="14" name="Shape 12"/>
          <p:cNvSpPr/>
          <p:nvPr/>
        </p:nvSpPr>
        <p:spPr>
          <a:xfrm>
            <a:off x="3337560" y="2926080"/>
            <a:ext cx="2651760" cy="1051560"/>
          </a:xfrm>
          <a:prstGeom prst="roundRect">
            <a:avLst>
              <a:gd name="adj" fmla="val 7826"/>
            </a:avLst>
          </a:prstGeom>
          <a:solidFill>
            <a:srgbClr val="B08D27"/>
          </a:solidFill>
          <a:ln/>
          <a:effectLst>
            <a:outerShdw blurRad="50800" dist="25400" dir="5400000" algn="bl" rotWithShape="0">
              <a:srgbClr val="888888">
                <a:alpha val="15000"/>
              </a:srgbClr>
            </a:outerShdw>
          </a:effectLst>
        </p:spPr>
      </p:sp>
      <p:sp>
        <p:nvSpPr>
          <p:cNvPr id="15" name="Text 13"/>
          <p:cNvSpPr txBox="1"/>
          <p:nvPr/>
        </p:nvSpPr>
        <p:spPr>
          <a:xfrm>
            <a:off x="3429000" y="292608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التشفير</a:t>
            </a:r>
            <a:endParaRPr lang="en-US" sz="1250" dirty="0"/>
          </a:p>
        </p:txBody>
      </p:sp>
      <p:sp>
        <p:nvSpPr>
          <p:cNvPr id="16" name="Shape 14"/>
          <p:cNvSpPr/>
          <p:nvPr/>
        </p:nvSpPr>
        <p:spPr>
          <a:xfrm>
            <a:off x="6126480" y="2926080"/>
            <a:ext cx="2651760" cy="1051560"/>
          </a:xfrm>
          <a:prstGeom prst="roundRect">
            <a:avLst>
              <a:gd name="adj" fmla="val 7826"/>
            </a:avLst>
          </a:prstGeom>
          <a:solidFill>
            <a:srgbClr val="1F3B57"/>
          </a:solidFill>
          <a:ln/>
          <a:effectLst>
            <a:outerShdw blurRad="50800" dist="25400" dir="5400000" algn="bl" rotWithShape="0">
              <a:srgbClr val="888888">
                <a:alpha val="15000"/>
              </a:srgbClr>
            </a:outerShdw>
          </a:effectLst>
        </p:spPr>
      </p:sp>
      <p:sp>
        <p:nvSpPr>
          <p:cNvPr id="17" name="Text 15"/>
          <p:cNvSpPr txBox="1"/>
          <p:nvPr/>
        </p:nvSpPr>
        <p:spPr>
          <a:xfrm>
            <a:off x="6217920" y="292608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أمن التطبيقات</a:t>
            </a:r>
            <a:endParaRPr lang="en-US" sz="1250" dirty="0"/>
          </a:p>
        </p:txBody>
      </p:sp>
      <p:sp>
        <p:nvSpPr>
          <p:cNvPr id="18" name="Shape 16"/>
          <p:cNvSpPr/>
          <p:nvPr/>
        </p:nvSpPr>
        <p:spPr>
          <a:xfrm>
            <a:off x="8915400" y="2926080"/>
            <a:ext cx="2651760" cy="1051560"/>
          </a:xfrm>
          <a:prstGeom prst="roundRect">
            <a:avLst>
              <a:gd name="adj" fmla="val 7826"/>
            </a:avLst>
          </a:prstGeom>
          <a:solidFill>
            <a:srgbClr val="B08D27"/>
          </a:solidFill>
          <a:ln/>
          <a:effectLst>
            <a:outerShdw blurRad="50800" dist="25400" dir="5400000" algn="bl" rotWithShape="0">
              <a:srgbClr val="888888">
                <a:alpha val="15000"/>
              </a:srgbClr>
            </a:outerShdw>
          </a:effectLst>
        </p:spPr>
      </p:sp>
      <p:sp>
        <p:nvSpPr>
          <p:cNvPr id="19" name="Text 17"/>
          <p:cNvSpPr txBox="1"/>
          <p:nvPr/>
        </p:nvSpPr>
        <p:spPr>
          <a:xfrm>
            <a:off x="9006840" y="292608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إدارة حوادث أمن المعلومات</a:t>
            </a:r>
            <a:endParaRPr lang="en-US" sz="1250" dirty="0"/>
          </a:p>
        </p:txBody>
      </p:sp>
      <p:sp>
        <p:nvSpPr>
          <p:cNvPr id="20" name="Shape 18"/>
          <p:cNvSpPr/>
          <p:nvPr/>
        </p:nvSpPr>
        <p:spPr>
          <a:xfrm>
            <a:off x="548640" y="4114800"/>
            <a:ext cx="2651760" cy="1051560"/>
          </a:xfrm>
          <a:prstGeom prst="roundRect">
            <a:avLst>
              <a:gd name="adj" fmla="val 7826"/>
            </a:avLst>
          </a:prstGeom>
          <a:solidFill>
            <a:srgbClr val="1F3B57"/>
          </a:solidFill>
          <a:ln/>
          <a:effectLst>
            <a:outerShdw blurRad="50800" dist="25400" dir="5400000" algn="bl" rotWithShape="0">
              <a:srgbClr val="888888">
                <a:alpha val="15000"/>
              </a:srgbClr>
            </a:outerShdw>
          </a:effectLst>
        </p:spPr>
      </p:sp>
      <p:sp>
        <p:nvSpPr>
          <p:cNvPr id="21" name="Text 19"/>
          <p:cNvSpPr txBox="1"/>
          <p:nvPr/>
        </p:nvSpPr>
        <p:spPr>
          <a:xfrm>
            <a:off x="640080" y="411480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استمرارية الأعمال</a:t>
            </a:r>
            <a:endParaRPr lang="en-US" sz="1250" dirty="0"/>
          </a:p>
        </p:txBody>
      </p:sp>
      <p:sp>
        <p:nvSpPr>
          <p:cNvPr id="22" name="Shape 20"/>
          <p:cNvSpPr/>
          <p:nvPr/>
        </p:nvSpPr>
        <p:spPr>
          <a:xfrm>
            <a:off x="3337560" y="4114800"/>
            <a:ext cx="2651760" cy="1051560"/>
          </a:xfrm>
          <a:prstGeom prst="roundRect">
            <a:avLst>
              <a:gd name="adj" fmla="val 7826"/>
            </a:avLst>
          </a:prstGeom>
          <a:solidFill>
            <a:srgbClr val="B08D27"/>
          </a:solidFill>
          <a:ln/>
          <a:effectLst>
            <a:outerShdw blurRad="50800" dist="25400" dir="5400000" algn="bl" rotWithShape="0">
              <a:srgbClr val="888888">
                <a:alpha val="15000"/>
              </a:srgbClr>
            </a:outerShdw>
          </a:effectLst>
        </p:spPr>
      </p:sp>
      <p:sp>
        <p:nvSpPr>
          <p:cNvPr id="23" name="Text 21"/>
          <p:cNvSpPr txBox="1"/>
          <p:nvPr/>
        </p:nvSpPr>
        <p:spPr>
          <a:xfrm>
            <a:off x="3429000" y="411480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إدارة الموردين</a:t>
            </a:r>
            <a:endParaRPr lang="en-US" sz="1250" dirty="0"/>
          </a:p>
        </p:txBody>
      </p:sp>
      <p:sp>
        <p:nvSpPr>
          <p:cNvPr id="24" name="Shape 22"/>
          <p:cNvSpPr/>
          <p:nvPr/>
        </p:nvSpPr>
        <p:spPr>
          <a:xfrm>
            <a:off x="6126480" y="4114800"/>
            <a:ext cx="2651760" cy="1051560"/>
          </a:xfrm>
          <a:prstGeom prst="roundRect">
            <a:avLst>
              <a:gd name="adj" fmla="val 7826"/>
            </a:avLst>
          </a:prstGeom>
          <a:solidFill>
            <a:srgbClr val="1F3B57"/>
          </a:solidFill>
          <a:ln/>
          <a:effectLst>
            <a:outerShdw blurRad="50800" dist="25400" dir="5400000" algn="bl" rotWithShape="0">
              <a:srgbClr val="888888">
                <a:alpha val="15000"/>
              </a:srgbClr>
            </a:outerShdw>
          </a:effectLst>
        </p:spPr>
      </p:sp>
      <p:sp>
        <p:nvSpPr>
          <p:cNvPr id="25" name="Text 23"/>
          <p:cNvSpPr txBox="1"/>
          <p:nvPr/>
        </p:nvSpPr>
        <p:spPr>
          <a:xfrm>
            <a:off x="6217920" y="4114800"/>
            <a:ext cx="2468880" cy="10515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الامتثال</a:t>
            </a:r>
            <a:endParaRPr lang="en-US" sz="1250" dirty="0"/>
          </a:p>
        </p:txBody>
      </p:sp>
      <p:sp>
        <p:nvSpPr>
          <p:cNvPr id="26" name="Text 24"/>
          <p:cNvSpPr txBox="1"/>
          <p:nvPr/>
        </p:nvSpPr>
        <p:spPr>
          <a:xfrm>
            <a:off x="548640" y="5440680"/>
            <a:ext cx="11094415" cy="548640"/>
          </a:xfrm>
          <a:prstGeom prst="rect">
            <a:avLst/>
          </a:prstGeom>
          <a:noFill/>
          <a:ln/>
        </p:spPr>
        <p:txBody>
          <a:bodyPr wrap="square" lIns="0" tIns="0" rIns="0" bIns="0" rtlCol="0" anchor="ctr"/>
          <a:lstStyle/>
          <a:p>
            <a:pPr marL="0" indent="0" algn="ctr">
              <a:buNone/>
            </a:pPr>
            <a:r>
              <a:rPr lang="en-US" sz="1250" i="1" dirty="0">
                <a:solidFill>
                  <a:srgbClr val="6B7280"/>
                </a:solidFill>
                <a:latin typeface="Arial" pitchFamily="34" charset="0"/>
                <a:ea typeface="Arial" pitchFamily="34" charset="-122"/>
                <a:cs typeface="Arial" pitchFamily="34" charset="-120"/>
              </a:rPr>
              <a:t>التزام الإدارة العليا: توفير الموارد، اعتماد الأهداف، دمج أمن المعلومات في المشاريع، ومحاسبة جميع العاملين عن مسؤولياتهم.</a:t>
            </a:r>
            <a:endParaRPr lang="en-US" sz="1250" dirty="0"/>
          </a:p>
        </p:txBody>
      </p:sp>
      <p:sp>
        <p:nvSpPr>
          <p:cNvPr id="27" name="Text 2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28" name="Text 2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17</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سياسة الاستخدام المقبول وإجراء الاستجابة للحوادث</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حماية الاستخدام اليومي والاستجابة الفعالة</a:t>
            </a:r>
            <a:endParaRPr lang="en-US" sz="2800" b="1" dirty="0"/>
          </a:p>
        </p:txBody>
      </p:sp>
      <p:sp>
        <p:nvSpPr>
          <p:cNvPr id="4" name="Text 2"/>
          <p:cNvSpPr txBox="1"/>
          <p:nvPr/>
        </p:nvSpPr>
        <p:spPr>
          <a:xfrm>
            <a:off x="548640" y="1554480"/>
            <a:ext cx="539496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سياسة الاستخدام المقبول للأصول</a:t>
            </a:r>
            <a:endParaRPr lang="en-US" sz="1400" b="1" dirty="0"/>
          </a:p>
        </p:txBody>
      </p:sp>
      <p:sp>
        <p:nvSpPr>
          <p:cNvPr id="5" name="Shape 3"/>
          <p:cNvSpPr/>
          <p:nvPr/>
        </p:nvSpPr>
        <p:spPr>
          <a:xfrm>
            <a:off x="5394960" y="2011680"/>
            <a:ext cx="310896" cy="310896"/>
          </a:xfrm>
          <a:prstGeom prst="ellipse">
            <a:avLst/>
          </a:prstGeom>
          <a:solidFill>
            <a:srgbClr val="1F3B57"/>
          </a:solidFill>
          <a:ln/>
        </p:spPr>
      </p:sp>
      <p:sp>
        <p:nvSpPr>
          <p:cNvPr id="6" name="Text 4"/>
          <p:cNvSpPr txBox="1"/>
          <p:nvPr/>
        </p:nvSpPr>
        <p:spPr>
          <a:xfrm>
            <a:off x="5394960" y="201168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b="1" dirty="0"/>
          </a:p>
        </p:txBody>
      </p:sp>
      <p:sp>
        <p:nvSpPr>
          <p:cNvPr id="7" name="Text 5"/>
          <p:cNvSpPr txBox="1"/>
          <p:nvPr/>
        </p:nvSpPr>
        <p:spPr>
          <a:xfrm>
            <a:off x="548640" y="1947672"/>
            <a:ext cx="4709160" cy="45720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تشفير كامل إلزامي لجميع الأجهزة المحمولة</a:t>
            </a:r>
            <a:endParaRPr lang="en-US" sz="1150" b="1" dirty="0"/>
          </a:p>
        </p:txBody>
      </p:sp>
      <p:sp>
        <p:nvSpPr>
          <p:cNvPr id="8" name="Shape 6"/>
          <p:cNvSpPr/>
          <p:nvPr/>
        </p:nvSpPr>
        <p:spPr>
          <a:xfrm>
            <a:off x="5394960" y="2578608"/>
            <a:ext cx="310896" cy="310896"/>
          </a:xfrm>
          <a:prstGeom prst="ellipse">
            <a:avLst/>
          </a:prstGeom>
          <a:solidFill>
            <a:srgbClr val="1F3B57"/>
          </a:solidFill>
          <a:ln/>
        </p:spPr>
      </p:sp>
      <p:sp>
        <p:nvSpPr>
          <p:cNvPr id="9" name="Text 7"/>
          <p:cNvSpPr txBox="1"/>
          <p:nvPr/>
        </p:nvSpPr>
        <p:spPr>
          <a:xfrm>
            <a:off x="5394960" y="257860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b="1" dirty="0"/>
          </a:p>
        </p:txBody>
      </p:sp>
      <p:sp>
        <p:nvSpPr>
          <p:cNvPr id="10" name="Text 8"/>
          <p:cNvSpPr txBox="1"/>
          <p:nvPr/>
        </p:nvSpPr>
        <p:spPr>
          <a:xfrm>
            <a:off x="548640" y="2514600"/>
            <a:ext cx="4709160" cy="45720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حظر مشاركة بيانات الاعتماد ومنع تثبيت برمجيات غير معتمدة</a:t>
            </a:r>
            <a:endParaRPr lang="en-US" sz="1150" b="1" dirty="0"/>
          </a:p>
        </p:txBody>
      </p:sp>
      <p:sp>
        <p:nvSpPr>
          <p:cNvPr id="11" name="Shape 9"/>
          <p:cNvSpPr/>
          <p:nvPr/>
        </p:nvSpPr>
        <p:spPr>
          <a:xfrm>
            <a:off x="5394960" y="3145536"/>
            <a:ext cx="310896" cy="310896"/>
          </a:xfrm>
          <a:prstGeom prst="ellipse">
            <a:avLst/>
          </a:prstGeom>
          <a:solidFill>
            <a:srgbClr val="1F3B57"/>
          </a:solidFill>
          <a:ln/>
        </p:spPr>
      </p:sp>
      <p:sp>
        <p:nvSpPr>
          <p:cNvPr id="12" name="Text 10"/>
          <p:cNvSpPr txBox="1"/>
          <p:nvPr/>
        </p:nvSpPr>
        <p:spPr>
          <a:xfrm>
            <a:off x="5394960" y="314553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b="1" dirty="0"/>
          </a:p>
        </p:txBody>
      </p:sp>
      <p:sp>
        <p:nvSpPr>
          <p:cNvPr id="13" name="Text 11"/>
          <p:cNvSpPr txBox="1"/>
          <p:nvPr/>
        </p:nvSpPr>
        <p:spPr>
          <a:xfrm>
            <a:off x="548640" y="3081528"/>
            <a:ext cx="4709160" cy="45720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إقرار سنوي إلزامي إلكتروني لجميع الموظفين</a:t>
            </a:r>
            <a:endParaRPr lang="en-US" sz="1150" b="1" dirty="0"/>
          </a:p>
        </p:txBody>
      </p:sp>
      <p:sp>
        <p:nvSpPr>
          <p:cNvPr id="14" name="Shape 12"/>
          <p:cNvSpPr/>
          <p:nvPr/>
        </p:nvSpPr>
        <p:spPr>
          <a:xfrm>
            <a:off x="5394960" y="3712464"/>
            <a:ext cx="310896" cy="310896"/>
          </a:xfrm>
          <a:prstGeom prst="ellipse">
            <a:avLst/>
          </a:prstGeom>
          <a:solidFill>
            <a:srgbClr val="1F3B57"/>
          </a:solidFill>
          <a:ln/>
        </p:spPr>
      </p:sp>
      <p:sp>
        <p:nvSpPr>
          <p:cNvPr id="15" name="Text 13"/>
          <p:cNvSpPr txBox="1"/>
          <p:nvPr/>
        </p:nvSpPr>
        <p:spPr>
          <a:xfrm>
            <a:off x="5394960" y="371246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b="1" dirty="0"/>
          </a:p>
        </p:txBody>
      </p:sp>
      <p:sp>
        <p:nvSpPr>
          <p:cNvPr id="16" name="Text 14"/>
          <p:cNvSpPr txBox="1"/>
          <p:nvPr/>
        </p:nvSpPr>
        <p:spPr>
          <a:xfrm>
            <a:off x="548640" y="3648456"/>
            <a:ext cx="4709160" cy="457200"/>
          </a:xfrm>
          <a:prstGeom prst="rect">
            <a:avLst/>
          </a:prstGeom>
          <a:noFill/>
          <a:ln/>
        </p:spPr>
        <p:txBody>
          <a:bodyPr wrap="square" lIns="0" tIns="0" rIns="0" bIns="0" rtlCol="0" anchor="ctr"/>
          <a:lstStyle/>
          <a:p>
            <a:pPr marL="0" indent="0" algn="r">
              <a:buNone/>
            </a:pPr>
            <a:r>
              <a:rPr lang="en-US" sz="1150" b="1" dirty="0">
                <a:solidFill>
                  <a:srgbClr val="1F2937"/>
                </a:solidFill>
                <a:latin typeface="Arial" pitchFamily="34" charset="0"/>
                <a:ea typeface="Arial" pitchFamily="34" charset="-122"/>
                <a:cs typeface="Arial" pitchFamily="34" charset="-120"/>
              </a:rPr>
              <a:t>قفل الشاشة التلقائي والإبلاغ الفوري عن فقدان الأجهزة</a:t>
            </a:r>
            <a:endParaRPr lang="en-US" sz="1150" b="1" dirty="0"/>
          </a:p>
        </p:txBody>
      </p:sp>
      <p:sp>
        <p:nvSpPr>
          <p:cNvPr id="17" name="Text 15"/>
          <p:cNvSpPr txBox="1"/>
          <p:nvPr/>
        </p:nvSpPr>
        <p:spPr>
          <a:xfrm>
            <a:off x="6309360" y="1554480"/>
            <a:ext cx="539496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إجراء الاستجابة لحوادث أمن المعلومات</a:t>
            </a:r>
            <a:endParaRPr lang="en-US" sz="1400" b="1" dirty="0"/>
          </a:p>
        </p:txBody>
      </p:sp>
      <p:sp>
        <p:nvSpPr>
          <p:cNvPr id="18" name="Shape 16"/>
          <p:cNvSpPr/>
          <p:nvPr/>
        </p:nvSpPr>
        <p:spPr>
          <a:xfrm>
            <a:off x="6309360" y="2011680"/>
            <a:ext cx="5257800" cy="347472"/>
          </a:xfrm>
          <a:prstGeom prst="roundRect">
            <a:avLst>
              <a:gd name="adj" fmla="val 50000"/>
            </a:avLst>
          </a:prstGeom>
          <a:solidFill>
            <a:srgbClr val="B08D27"/>
          </a:solidFill>
          <a:ln/>
        </p:spPr>
      </p:sp>
      <p:sp>
        <p:nvSpPr>
          <p:cNvPr id="19" name="Text 17"/>
          <p:cNvSpPr txBox="1"/>
          <p:nvPr/>
        </p:nvSpPr>
        <p:spPr>
          <a:xfrm>
            <a:off x="6309360" y="2011680"/>
            <a:ext cx="525780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‏1 - التحضير</a:t>
            </a:r>
            <a:endParaRPr lang="en-US" sz="1150" b="1" dirty="0"/>
          </a:p>
        </p:txBody>
      </p:sp>
      <p:sp>
        <p:nvSpPr>
          <p:cNvPr id="20" name="Shape 18"/>
          <p:cNvSpPr/>
          <p:nvPr/>
        </p:nvSpPr>
        <p:spPr>
          <a:xfrm>
            <a:off x="6309360" y="2468880"/>
            <a:ext cx="5257800" cy="347472"/>
          </a:xfrm>
          <a:prstGeom prst="roundRect">
            <a:avLst>
              <a:gd name="adj" fmla="val 50000"/>
            </a:avLst>
          </a:prstGeom>
          <a:solidFill>
            <a:srgbClr val="1F3B57"/>
          </a:solidFill>
          <a:ln/>
        </p:spPr>
      </p:sp>
      <p:sp>
        <p:nvSpPr>
          <p:cNvPr id="21" name="Text 19"/>
          <p:cNvSpPr txBox="1"/>
          <p:nvPr/>
        </p:nvSpPr>
        <p:spPr>
          <a:xfrm>
            <a:off x="6309360" y="2468880"/>
            <a:ext cx="525780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‏2 - الكشف والتحليل</a:t>
            </a:r>
            <a:endParaRPr lang="en-US" sz="1150" b="1" dirty="0"/>
          </a:p>
        </p:txBody>
      </p:sp>
      <p:sp>
        <p:nvSpPr>
          <p:cNvPr id="22" name="Shape 20"/>
          <p:cNvSpPr/>
          <p:nvPr/>
        </p:nvSpPr>
        <p:spPr>
          <a:xfrm>
            <a:off x="6309360" y="2926080"/>
            <a:ext cx="5257800" cy="347472"/>
          </a:xfrm>
          <a:prstGeom prst="roundRect">
            <a:avLst>
              <a:gd name="adj" fmla="val 50000"/>
            </a:avLst>
          </a:prstGeom>
          <a:solidFill>
            <a:srgbClr val="B08D27"/>
          </a:solidFill>
          <a:ln/>
        </p:spPr>
      </p:sp>
      <p:sp>
        <p:nvSpPr>
          <p:cNvPr id="23" name="Text 21"/>
          <p:cNvSpPr txBox="1"/>
          <p:nvPr/>
        </p:nvSpPr>
        <p:spPr>
          <a:xfrm>
            <a:off x="6309360" y="2926080"/>
            <a:ext cx="525780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‏3 - الاحتواء</a:t>
            </a:r>
            <a:endParaRPr lang="en-US" sz="1150" b="1" dirty="0"/>
          </a:p>
        </p:txBody>
      </p:sp>
      <p:sp>
        <p:nvSpPr>
          <p:cNvPr id="24" name="Shape 22"/>
          <p:cNvSpPr/>
          <p:nvPr/>
        </p:nvSpPr>
        <p:spPr>
          <a:xfrm>
            <a:off x="6309360" y="3383280"/>
            <a:ext cx="5257800" cy="347472"/>
          </a:xfrm>
          <a:prstGeom prst="roundRect">
            <a:avLst>
              <a:gd name="adj" fmla="val 50000"/>
            </a:avLst>
          </a:prstGeom>
          <a:solidFill>
            <a:srgbClr val="1F3B57"/>
          </a:solidFill>
          <a:ln/>
        </p:spPr>
      </p:sp>
      <p:sp>
        <p:nvSpPr>
          <p:cNvPr id="25" name="Text 23"/>
          <p:cNvSpPr txBox="1"/>
          <p:nvPr/>
        </p:nvSpPr>
        <p:spPr>
          <a:xfrm>
            <a:off x="6309360" y="3383280"/>
            <a:ext cx="525780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‏4 - الاستئصال</a:t>
            </a:r>
            <a:endParaRPr lang="en-US" sz="1150" b="1" dirty="0"/>
          </a:p>
        </p:txBody>
      </p:sp>
      <p:sp>
        <p:nvSpPr>
          <p:cNvPr id="26" name="Shape 24"/>
          <p:cNvSpPr/>
          <p:nvPr/>
        </p:nvSpPr>
        <p:spPr>
          <a:xfrm>
            <a:off x="6309360" y="3840480"/>
            <a:ext cx="5257800" cy="347472"/>
          </a:xfrm>
          <a:prstGeom prst="roundRect">
            <a:avLst>
              <a:gd name="adj" fmla="val 50000"/>
            </a:avLst>
          </a:prstGeom>
          <a:solidFill>
            <a:srgbClr val="B08D27"/>
          </a:solidFill>
          <a:ln/>
        </p:spPr>
      </p:sp>
      <p:sp>
        <p:nvSpPr>
          <p:cNvPr id="27" name="Text 25"/>
          <p:cNvSpPr txBox="1"/>
          <p:nvPr/>
        </p:nvSpPr>
        <p:spPr>
          <a:xfrm>
            <a:off x="6309360" y="3840480"/>
            <a:ext cx="525780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‏5 - الاستعادة</a:t>
            </a:r>
            <a:endParaRPr lang="en-US" sz="1150" b="1" dirty="0"/>
          </a:p>
        </p:txBody>
      </p:sp>
      <p:sp>
        <p:nvSpPr>
          <p:cNvPr id="28" name="Shape 26"/>
          <p:cNvSpPr/>
          <p:nvPr/>
        </p:nvSpPr>
        <p:spPr>
          <a:xfrm>
            <a:off x="6309360" y="4297680"/>
            <a:ext cx="5257800" cy="347472"/>
          </a:xfrm>
          <a:prstGeom prst="roundRect">
            <a:avLst>
              <a:gd name="adj" fmla="val 50000"/>
            </a:avLst>
          </a:prstGeom>
          <a:solidFill>
            <a:srgbClr val="1F3B57"/>
          </a:solidFill>
          <a:ln/>
        </p:spPr>
      </p:sp>
      <p:sp>
        <p:nvSpPr>
          <p:cNvPr id="29" name="Text 27"/>
          <p:cNvSpPr txBox="1"/>
          <p:nvPr/>
        </p:nvSpPr>
        <p:spPr>
          <a:xfrm>
            <a:off x="6309360" y="4297680"/>
            <a:ext cx="525780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‏6 - مراجعة ما بعد الحادثة</a:t>
            </a:r>
            <a:endParaRPr lang="en-US" sz="1150" b="1" dirty="0"/>
          </a:p>
        </p:txBody>
      </p:sp>
      <p:sp>
        <p:nvSpPr>
          <p:cNvPr id="30" name="Shape 28"/>
          <p:cNvSpPr/>
          <p:nvPr/>
        </p:nvSpPr>
        <p:spPr>
          <a:xfrm>
            <a:off x="548640" y="4892040"/>
            <a:ext cx="11064240" cy="1005840"/>
          </a:xfrm>
          <a:prstGeom prst="roundRect">
            <a:avLst>
              <a:gd name="adj" fmla="val 7273"/>
            </a:avLst>
          </a:prstGeom>
          <a:solidFill>
            <a:srgbClr val="1F3B57"/>
          </a:solidFill>
          <a:ln/>
        </p:spPr>
      </p:sp>
      <p:sp>
        <p:nvSpPr>
          <p:cNvPr id="31" name="Text 29"/>
          <p:cNvSpPr txBox="1"/>
          <p:nvPr/>
        </p:nvSpPr>
        <p:spPr>
          <a:xfrm>
            <a:off x="731520" y="4892040"/>
            <a:ext cx="1069848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زمن الاستجابة المستهدف:  حرج ← 15 دقيقة   |   عالٍ ← ساعة واحدة   |   متوسط ← 4 ساعات   |   منخفض ← يوم عمل واحد</a:t>
            </a:r>
            <a:endParaRPr lang="en-US" sz="1300" b="1" dirty="0"/>
          </a:p>
        </p:txBody>
      </p:sp>
      <p:sp>
        <p:nvSpPr>
          <p:cNvPr id="32" name="Text 30"/>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33" name="Text 31"/>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18</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استمرارية الأعمال والتعافي من الكوارث</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أهداف زمنية محددة للأنظمة الحرجة</a:t>
            </a:r>
            <a:endParaRPr lang="en-US" sz="2800" b="1" dirty="0"/>
          </a:p>
        </p:txBody>
      </p:sp>
      <p:sp>
        <p:nvSpPr>
          <p:cNvPr id="4" name="Shape 2"/>
          <p:cNvSpPr/>
          <p:nvPr/>
        </p:nvSpPr>
        <p:spPr>
          <a:xfrm>
            <a:off x="548640" y="1691640"/>
            <a:ext cx="2926080" cy="502920"/>
          </a:xfrm>
          <a:prstGeom prst="rect">
            <a:avLst/>
          </a:prstGeom>
          <a:solidFill>
            <a:srgbClr val="1F3B57"/>
          </a:solidFill>
          <a:ln w="12700">
            <a:solidFill>
              <a:srgbClr val="FFFFFF"/>
            </a:solidFill>
            <a:prstDash val="solid"/>
          </a:ln>
        </p:spPr>
      </p:sp>
      <p:sp>
        <p:nvSpPr>
          <p:cNvPr id="5" name="Text 3"/>
          <p:cNvSpPr txBox="1"/>
          <p:nvPr/>
        </p:nvSpPr>
        <p:spPr>
          <a:xfrm>
            <a:off x="548640" y="1691640"/>
            <a:ext cx="29260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النظام الحرج</a:t>
            </a:r>
            <a:endParaRPr lang="en-US" sz="1200" b="1" dirty="0"/>
          </a:p>
        </p:txBody>
      </p:sp>
      <p:sp>
        <p:nvSpPr>
          <p:cNvPr id="6" name="Shape 4"/>
          <p:cNvSpPr/>
          <p:nvPr/>
        </p:nvSpPr>
        <p:spPr>
          <a:xfrm>
            <a:off x="3474720" y="1691640"/>
            <a:ext cx="1158240" cy="502920"/>
          </a:xfrm>
          <a:prstGeom prst="rect">
            <a:avLst/>
          </a:prstGeom>
          <a:solidFill>
            <a:srgbClr val="1F3B57"/>
          </a:solidFill>
          <a:ln w="12700">
            <a:solidFill>
              <a:srgbClr val="FFFFFF"/>
            </a:solidFill>
            <a:prstDash val="solid"/>
          </a:ln>
        </p:spPr>
      </p:sp>
      <p:sp>
        <p:nvSpPr>
          <p:cNvPr id="7" name="Text 5"/>
          <p:cNvSpPr txBox="1"/>
          <p:nvPr/>
        </p:nvSpPr>
        <p:spPr>
          <a:xfrm>
            <a:off x="3474720" y="1691640"/>
            <a:ext cx="11582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MTD</a:t>
            </a:r>
            <a:endParaRPr lang="en-US" sz="1200" b="1" dirty="0"/>
          </a:p>
        </p:txBody>
      </p:sp>
      <p:sp>
        <p:nvSpPr>
          <p:cNvPr id="8" name="Shape 6"/>
          <p:cNvSpPr/>
          <p:nvPr/>
        </p:nvSpPr>
        <p:spPr>
          <a:xfrm>
            <a:off x="4632960" y="1691640"/>
            <a:ext cx="1158240" cy="502920"/>
          </a:xfrm>
          <a:prstGeom prst="rect">
            <a:avLst/>
          </a:prstGeom>
          <a:solidFill>
            <a:srgbClr val="1F3B57"/>
          </a:solidFill>
          <a:ln w="12700">
            <a:solidFill>
              <a:srgbClr val="FFFFFF"/>
            </a:solidFill>
            <a:prstDash val="solid"/>
          </a:ln>
        </p:spPr>
      </p:sp>
      <p:sp>
        <p:nvSpPr>
          <p:cNvPr id="9" name="Text 7"/>
          <p:cNvSpPr txBox="1"/>
          <p:nvPr/>
        </p:nvSpPr>
        <p:spPr>
          <a:xfrm>
            <a:off x="4632960" y="1691640"/>
            <a:ext cx="11582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RTO</a:t>
            </a:r>
            <a:endParaRPr lang="en-US" sz="1200" b="1" dirty="0"/>
          </a:p>
        </p:txBody>
      </p:sp>
      <p:sp>
        <p:nvSpPr>
          <p:cNvPr id="10" name="Shape 8"/>
          <p:cNvSpPr/>
          <p:nvPr/>
        </p:nvSpPr>
        <p:spPr>
          <a:xfrm>
            <a:off x="5791200" y="1691640"/>
            <a:ext cx="1158240" cy="502920"/>
          </a:xfrm>
          <a:prstGeom prst="rect">
            <a:avLst/>
          </a:prstGeom>
          <a:solidFill>
            <a:srgbClr val="1F3B57"/>
          </a:solidFill>
          <a:ln w="12700">
            <a:solidFill>
              <a:srgbClr val="FFFFFF"/>
            </a:solidFill>
            <a:prstDash val="solid"/>
          </a:ln>
        </p:spPr>
      </p:sp>
      <p:sp>
        <p:nvSpPr>
          <p:cNvPr id="11" name="Text 9"/>
          <p:cNvSpPr txBox="1"/>
          <p:nvPr/>
        </p:nvSpPr>
        <p:spPr>
          <a:xfrm>
            <a:off x="5791200" y="1691640"/>
            <a:ext cx="11582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RPO</a:t>
            </a:r>
            <a:endParaRPr lang="en-US" sz="1200" b="1" dirty="0"/>
          </a:p>
        </p:txBody>
      </p:sp>
      <p:sp>
        <p:nvSpPr>
          <p:cNvPr id="12" name="Shape 10"/>
          <p:cNvSpPr/>
          <p:nvPr/>
        </p:nvSpPr>
        <p:spPr>
          <a:xfrm>
            <a:off x="548640" y="2194560"/>
            <a:ext cx="2926080" cy="502920"/>
          </a:xfrm>
          <a:prstGeom prst="rect">
            <a:avLst/>
          </a:prstGeom>
          <a:solidFill>
            <a:srgbClr val="FFFFFF"/>
          </a:solidFill>
          <a:ln w="12700">
            <a:solidFill>
              <a:srgbClr val="E3E7EE"/>
            </a:solidFill>
            <a:prstDash val="solid"/>
          </a:ln>
        </p:spPr>
      </p:sp>
      <p:sp>
        <p:nvSpPr>
          <p:cNvPr id="13" name="Text 11"/>
          <p:cNvSpPr txBox="1"/>
          <p:nvPr/>
        </p:nvSpPr>
        <p:spPr>
          <a:xfrm>
            <a:off x="548640" y="2194560"/>
            <a:ext cx="2926080" cy="502920"/>
          </a:xfrm>
          <a:prstGeom prst="rect">
            <a:avLst/>
          </a:prstGeom>
          <a:noFill/>
          <a:ln/>
        </p:spPr>
        <p:txBody>
          <a:bodyPr wrap="square" lIns="0" tIns="0" rIns="0" bIns="0" rtlCol="0" anchor="ctr"/>
          <a:lstStyle/>
          <a:p>
            <a:pPr marL="0" indent="0" algn="ctr">
              <a:buNone/>
            </a:pPr>
            <a:r>
              <a:rPr lang="en-US" sz="1050" b="1" dirty="0">
                <a:solidFill>
                  <a:srgbClr val="1F2937"/>
                </a:solidFill>
                <a:latin typeface="Arial" pitchFamily="34" charset="0"/>
                <a:ea typeface="Arial" pitchFamily="34" charset="-122"/>
                <a:cs typeface="Arial" pitchFamily="34" charset="-120"/>
              </a:rPr>
              <a:t>Core Banking</a:t>
            </a:r>
            <a:endParaRPr lang="en-US" sz="1050" b="1" dirty="0"/>
          </a:p>
        </p:txBody>
      </p:sp>
      <p:sp>
        <p:nvSpPr>
          <p:cNvPr id="14" name="Shape 12"/>
          <p:cNvSpPr/>
          <p:nvPr/>
        </p:nvSpPr>
        <p:spPr>
          <a:xfrm>
            <a:off x="3474720" y="2194560"/>
            <a:ext cx="1158240" cy="502920"/>
          </a:xfrm>
          <a:prstGeom prst="rect">
            <a:avLst/>
          </a:prstGeom>
          <a:solidFill>
            <a:srgbClr val="FFFFFF"/>
          </a:solidFill>
          <a:ln w="12700">
            <a:solidFill>
              <a:srgbClr val="E3E7EE"/>
            </a:solidFill>
            <a:prstDash val="solid"/>
          </a:ln>
        </p:spPr>
      </p:sp>
      <p:sp>
        <p:nvSpPr>
          <p:cNvPr id="15" name="Text 13"/>
          <p:cNvSpPr txBox="1"/>
          <p:nvPr/>
        </p:nvSpPr>
        <p:spPr>
          <a:xfrm>
            <a:off x="3474720" y="219456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2 ساعة</a:t>
            </a:r>
            <a:endParaRPr lang="en-US" sz="1100" b="1" dirty="0"/>
          </a:p>
        </p:txBody>
      </p:sp>
      <p:sp>
        <p:nvSpPr>
          <p:cNvPr id="16" name="Shape 14"/>
          <p:cNvSpPr/>
          <p:nvPr/>
        </p:nvSpPr>
        <p:spPr>
          <a:xfrm>
            <a:off x="4632960" y="2194560"/>
            <a:ext cx="1158240" cy="502920"/>
          </a:xfrm>
          <a:prstGeom prst="rect">
            <a:avLst/>
          </a:prstGeom>
          <a:solidFill>
            <a:srgbClr val="FFFFFF"/>
          </a:solidFill>
          <a:ln w="12700">
            <a:solidFill>
              <a:srgbClr val="E3E7EE"/>
            </a:solidFill>
            <a:prstDash val="solid"/>
          </a:ln>
        </p:spPr>
      </p:sp>
      <p:sp>
        <p:nvSpPr>
          <p:cNvPr id="17" name="Text 15"/>
          <p:cNvSpPr txBox="1"/>
          <p:nvPr/>
        </p:nvSpPr>
        <p:spPr>
          <a:xfrm>
            <a:off x="4632960" y="219456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 ساعة</a:t>
            </a:r>
            <a:endParaRPr lang="en-US" sz="1100" b="1" dirty="0"/>
          </a:p>
        </p:txBody>
      </p:sp>
      <p:sp>
        <p:nvSpPr>
          <p:cNvPr id="18" name="Shape 16"/>
          <p:cNvSpPr/>
          <p:nvPr/>
        </p:nvSpPr>
        <p:spPr>
          <a:xfrm>
            <a:off x="5791200" y="2194560"/>
            <a:ext cx="1158240" cy="502920"/>
          </a:xfrm>
          <a:prstGeom prst="rect">
            <a:avLst/>
          </a:prstGeom>
          <a:solidFill>
            <a:srgbClr val="FFFFFF"/>
          </a:solidFill>
          <a:ln w="12700">
            <a:solidFill>
              <a:srgbClr val="E3E7EE"/>
            </a:solidFill>
            <a:prstDash val="solid"/>
          </a:ln>
        </p:spPr>
      </p:sp>
      <p:sp>
        <p:nvSpPr>
          <p:cNvPr id="19" name="Text 17"/>
          <p:cNvSpPr txBox="1"/>
          <p:nvPr/>
        </p:nvSpPr>
        <p:spPr>
          <a:xfrm>
            <a:off x="5791200" y="219456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15 دقيقة</a:t>
            </a:r>
            <a:endParaRPr lang="en-US" sz="1100" b="1" dirty="0"/>
          </a:p>
        </p:txBody>
      </p:sp>
      <p:sp>
        <p:nvSpPr>
          <p:cNvPr id="20" name="Shape 18"/>
          <p:cNvSpPr/>
          <p:nvPr/>
        </p:nvSpPr>
        <p:spPr>
          <a:xfrm>
            <a:off x="548640" y="2697480"/>
            <a:ext cx="2926080" cy="502920"/>
          </a:xfrm>
          <a:prstGeom prst="rect">
            <a:avLst/>
          </a:prstGeom>
          <a:solidFill>
            <a:srgbClr val="F5F7FA"/>
          </a:solidFill>
          <a:ln w="12700">
            <a:solidFill>
              <a:srgbClr val="E3E7EE"/>
            </a:solidFill>
            <a:prstDash val="solid"/>
          </a:ln>
        </p:spPr>
      </p:sp>
      <p:sp>
        <p:nvSpPr>
          <p:cNvPr id="21" name="Text 19"/>
          <p:cNvSpPr txBox="1"/>
          <p:nvPr/>
        </p:nvSpPr>
        <p:spPr>
          <a:xfrm>
            <a:off x="548640" y="2697480"/>
            <a:ext cx="2926080" cy="502920"/>
          </a:xfrm>
          <a:prstGeom prst="rect">
            <a:avLst/>
          </a:prstGeom>
          <a:noFill/>
          <a:ln/>
        </p:spPr>
        <p:txBody>
          <a:bodyPr wrap="square" lIns="0" tIns="0" rIns="0" bIns="0" rtlCol="0" anchor="ctr"/>
          <a:lstStyle/>
          <a:p>
            <a:pPr marL="0" indent="0" algn="ctr">
              <a:buNone/>
            </a:pPr>
            <a:r>
              <a:rPr lang="en-US" sz="1050" b="1" dirty="0">
                <a:solidFill>
                  <a:srgbClr val="1F2937"/>
                </a:solidFill>
                <a:latin typeface="Arial" pitchFamily="34" charset="0"/>
                <a:ea typeface="Arial" pitchFamily="34" charset="-122"/>
                <a:cs typeface="Arial" pitchFamily="34" charset="-120"/>
              </a:rPr>
              <a:t>آفاق بلس وآفاق نت</a:t>
            </a:r>
            <a:endParaRPr lang="en-US" sz="1050" b="1" dirty="0"/>
          </a:p>
        </p:txBody>
      </p:sp>
      <p:sp>
        <p:nvSpPr>
          <p:cNvPr id="22" name="Shape 20"/>
          <p:cNvSpPr/>
          <p:nvPr/>
        </p:nvSpPr>
        <p:spPr>
          <a:xfrm>
            <a:off x="3474720" y="2697480"/>
            <a:ext cx="1158240" cy="502920"/>
          </a:xfrm>
          <a:prstGeom prst="rect">
            <a:avLst/>
          </a:prstGeom>
          <a:solidFill>
            <a:srgbClr val="F5F7FA"/>
          </a:solidFill>
          <a:ln w="12700">
            <a:solidFill>
              <a:srgbClr val="E3E7EE"/>
            </a:solidFill>
            <a:prstDash val="solid"/>
          </a:ln>
        </p:spPr>
      </p:sp>
      <p:sp>
        <p:nvSpPr>
          <p:cNvPr id="23" name="Text 21"/>
          <p:cNvSpPr txBox="1"/>
          <p:nvPr/>
        </p:nvSpPr>
        <p:spPr>
          <a:xfrm>
            <a:off x="3474720" y="269748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2 ساعة</a:t>
            </a:r>
            <a:endParaRPr lang="en-US" sz="1100" b="1" dirty="0"/>
          </a:p>
        </p:txBody>
      </p:sp>
      <p:sp>
        <p:nvSpPr>
          <p:cNvPr id="24" name="Shape 22"/>
          <p:cNvSpPr/>
          <p:nvPr/>
        </p:nvSpPr>
        <p:spPr>
          <a:xfrm>
            <a:off x="4632960" y="2697480"/>
            <a:ext cx="1158240" cy="502920"/>
          </a:xfrm>
          <a:prstGeom prst="rect">
            <a:avLst/>
          </a:prstGeom>
          <a:solidFill>
            <a:srgbClr val="F5F7FA"/>
          </a:solidFill>
          <a:ln w="12700">
            <a:solidFill>
              <a:srgbClr val="E3E7EE"/>
            </a:solidFill>
            <a:prstDash val="solid"/>
          </a:ln>
        </p:spPr>
      </p:sp>
      <p:sp>
        <p:nvSpPr>
          <p:cNvPr id="25" name="Text 23"/>
          <p:cNvSpPr txBox="1"/>
          <p:nvPr/>
        </p:nvSpPr>
        <p:spPr>
          <a:xfrm>
            <a:off x="4632960" y="269748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 ساعة</a:t>
            </a:r>
            <a:endParaRPr lang="en-US" sz="1100" b="1" dirty="0"/>
          </a:p>
        </p:txBody>
      </p:sp>
      <p:sp>
        <p:nvSpPr>
          <p:cNvPr id="26" name="Shape 24"/>
          <p:cNvSpPr/>
          <p:nvPr/>
        </p:nvSpPr>
        <p:spPr>
          <a:xfrm>
            <a:off x="5791200" y="2697480"/>
            <a:ext cx="1158240" cy="502920"/>
          </a:xfrm>
          <a:prstGeom prst="rect">
            <a:avLst/>
          </a:prstGeom>
          <a:solidFill>
            <a:srgbClr val="F5F7FA"/>
          </a:solidFill>
          <a:ln w="12700">
            <a:solidFill>
              <a:srgbClr val="E3E7EE"/>
            </a:solidFill>
            <a:prstDash val="solid"/>
          </a:ln>
        </p:spPr>
      </p:sp>
      <p:sp>
        <p:nvSpPr>
          <p:cNvPr id="27" name="Text 25"/>
          <p:cNvSpPr txBox="1"/>
          <p:nvPr/>
        </p:nvSpPr>
        <p:spPr>
          <a:xfrm>
            <a:off x="5791200" y="269748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15 دقيقة</a:t>
            </a:r>
            <a:endParaRPr lang="en-US" sz="1100" b="1" dirty="0"/>
          </a:p>
        </p:txBody>
      </p:sp>
      <p:sp>
        <p:nvSpPr>
          <p:cNvPr id="28" name="Shape 26"/>
          <p:cNvSpPr/>
          <p:nvPr/>
        </p:nvSpPr>
        <p:spPr>
          <a:xfrm>
            <a:off x="548640" y="3200400"/>
            <a:ext cx="2926080" cy="502920"/>
          </a:xfrm>
          <a:prstGeom prst="rect">
            <a:avLst/>
          </a:prstGeom>
          <a:solidFill>
            <a:srgbClr val="FFFFFF"/>
          </a:solidFill>
          <a:ln w="12700">
            <a:solidFill>
              <a:srgbClr val="E3E7EE"/>
            </a:solidFill>
            <a:prstDash val="solid"/>
          </a:ln>
        </p:spPr>
      </p:sp>
      <p:sp>
        <p:nvSpPr>
          <p:cNvPr id="29" name="Text 27"/>
          <p:cNvSpPr txBox="1"/>
          <p:nvPr/>
        </p:nvSpPr>
        <p:spPr>
          <a:xfrm>
            <a:off x="548640" y="3200400"/>
            <a:ext cx="2926080" cy="502920"/>
          </a:xfrm>
          <a:prstGeom prst="rect">
            <a:avLst/>
          </a:prstGeom>
          <a:noFill/>
          <a:ln/>
        </p:spPr>
        <p:txBody>
          <a:bodyPr wrap="square" lIns="0" tIns="0" rIns="0" bIns="0" rtlCol="0" anchor="ctr"/>
          <a:lstStyle/>
          <a:p>
            <a:pPr marL="0" indent="0" algn="ctr">
              <a:buNone/>
            </a:pPr>
            <a:r>
              <a:rPr lang="en-US" sz="1050" b="1" dirty="0">
                <a:solidFill>
                  <a:srgbClr val="1F2937"/>
                </a:solidFill>
                <a:latin typeface="Arial" pitchFamily="34" charset="0"/>
                <a:ea typeface="Arial" pitchFamily="34" charset="-122"/>
                <a:cs typeface="Arial" pitchFamily="34" charset="-120"/>
              </a:rPr>
              <a:t>البطاقات والدفعات الفورية</a:t>
            </a:r>
            <a:endParaRPr lang="en-US" sz="1050" b="1" dirty="0"/>
          </a:p>
        </p:txBody>
      </p:sp>
      <p:sp>
        <p:nvSpPr>
          <p:cNvPr id="30" name="Shape 28"/>
          <p:cNvSpPr/>
          <p:nvPr/>
        </p:nvSpPr>
        <p:spPr>
          <a:xfrm>
            <a:off x="3474720" y="3200400"/>
            <a:ext cx="1158240" cy="502920"/>
          </a:xfrm>
          <a:prstGeom prst="rect">
            <a:avLst/>
          </a:prstGeom>
          <a:solidFill>
            <a:srgbClr val="FFFFFF"/>
          </a:solidFill>
          <a:ln w="12700">
            <a:solidFill>
              <a:srgbClr val="E3E7EE"/>
            </a:solidFill>
            <a:prstDash val="solid"/>
          </a:ln>
        </p:spPr>
      </p:sp>
      <p:sp>
        <p:nvSpPr>
          <p:cNvPr id="31" name="Text 29"/>
          <p:cNvSpPr txBox="1"/>
          <p:nvPr/>
        </p:nvSpPr>
        <p:spPr>
          <a:xfrm>
            <a:off x="3474720" y="320040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 ساعة</a:t>
            </a:r>
            <a:endParaRPr lang="en-US" sz="1100" b="1" dirty="0"/>
          </a:p>
        </p:txBody>
      </p:sp>
      <p:sp>
        <p:nvSpPr>
          <p:cNvPr id="32" name="Shape 30"/>
          <p:cNvSpPr/>
          <p:nvPr/>
        </p:nvSpPr>
        <p:spPr>
          <a:xfrm>
            <a:off x="4632960" y="3200400"/>
            <a:ext cx="1158240" cy="502920"/>
          </a:xfrm>
          <a:prstGeom prst="rect">
            <a:avLst/>
          </a:prstGeom>
          <a:solidFill>
            <a:srgbClr val="FFFFFF"/>
          </a:solidFill>
          <a:ln w="12700">
            <a:solidFill>
              <a:srgbClr val="E3E7EE"/>
            </a:solidFill>
            <a:prstDash val="solid"/>
          </a:ln>
        </p:spPr>
      </p:sp>
      <p:sp>
        <p:nvSpPr>
          <p:cNvPr id="33" name="Text 31"/>
          <p:cNvSpPr txBox="1"/>
          <p:nvPr/>
        </p:nvSpPr>
        <p:spPr>
          <a:xfrm>
            <a:off x="4632960" y="320040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30 دقيقة</a:t>
            </a:r>
            <a:endParaRPr lang="en-US" sz="1100" b="1" dirty="0"/>
          </a:p>
        </p:txBody>
      </p:sp>
      <p:sp>
        <p:nvSpPr>
          <p:cNvPr id="34" name="Shape 32"/>
          <p:cNvSpPr/>
          <p:nvPr/>
        </p:nvSpPr>
        <p:spPr>
          <a:xfrm>
            <a:off x="5791200" y="3200400"/>
            <a:ext cx="1158240" cy="502920"/>
          </a:xfrm>
          <a:prstGeom prst="rect">
            <a:avLst/>
          </a:prstGeom>
          <a:solidFill>
            <a:srgbClr val="FFFFFF"/>
          </a:solidFill>
          <a:ln w="12700">
            <a:solidFill>
              <a:srgbClr val="E3E7EE"/>
            </a:solidFill>
            <a:prstDash val="solid"/>
          </a:ln>
        </p:spPr>
      </p:sp>
      <p:sp>
        <p:nvSpPr>
          <p:cNvPr id="35" name="Text 33"/>
          <p:cNvSpPr txBox="1"/>
          <p:nvPr/>
        </p:nvSpPr>
        <p:spPr>
          <a:xfrm>
            <a:off x="5791200" y="320040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5 دقائق</a:t>
            </a:r>
            <a:endParaRPr lang="en-US" sz="1100" b="1" dirty="0"/>
          </a:p>
        </p:txBody>
      </p:sp>
      <p:sp>
        <p:nvSpPr>
          <p:cNvPr id="36" name="Shape 34"/>
          <p:cNvSpPr/>
          <p:nvPr/>
        </p:nvSpPr>
        <p:spPr>
          <a:xfrm>
            <a:off x="548640" y="3703320"/>
            <a:ext cx="2926080" cy="502920"/>
          </a:xfrm>
          <a:prstGeom prst="rect">
            <a:avLst/>
          </a:prstGeom>
          <a:solidFill>
            <a:srgbClr val="F5F7FA"/>
          </a:solidFill>
          <a:ln w="12700">
            <a:solidFill>
              <a:srgbClr val="E3E7EE"/>
            </a:solidFill>
            <a:prstDash val="solid"/>
          </a:ln>
        </p:spPr>
      </p:sp>
      <p:sp>
        <p:nvSpPr>
          <p:cNvPr id="37" name="Text 35"/>
          <p:cNvSpPr txBox="1"/>
          <p:nvPr/>
        </p:nvSpPr>
        <p:spPr>
          <a:xfrm>
            <a:off x="548640" y="3703320"/>
            <a:ext cx="2926080" cy="502920"/>
          </a:xfrm>
          <a:prstGeom prst="rect">
            <a:avLst/>
          </a:prstGeom>
          <a:noFill/>
          <a:ln/>
        </p:spPr>
        <p:txBody>
          <a:bodyPr wrap="square" lIns="0" tIns="0" rIns="0" bIns="0" rtlCol="0" anchor="ctr"/>
          <a:lstStyle/>
          <a:p>
            <a:pPr marL="0" indent="0" algn="ctr">
              <a:buNone/>
            </a:pPr>
            <a:r>
              <a:rPr lang="en-US" sz="1050" b="1" dirty="0">
                <a:solidFill>
                  <a:srgbClr val="1F2937"/>
                </a:solidFill>
                <a:latin typeface="Arial" pitchFamily="34" charset="0"/>
                <a:ea typeface="Arial" pitchFamily="34" charset="-122"/>
                <a:cs typeface="Arial" pitchFamily="34" charset="-120"/>
              </a:rPr>
              <a:t>قواعد بيانات العملاء</a:t>
            </a:r>
            <a:endParaRPr lang="en-US" sz="1050" b="1" dirty="0"/>
          </a:p>
        </p:txBody>
      </p:sp>
      <p:sp>
        <p:nvSpPr>
          <p:cNvPr id="38" name="Shape 36"/>
          <p:cNvSpPr/>
          <p:nvPr/>
        </p:nvSpPr>
        <p:spPr>
          <a:xfrm>
            <a:off x="3474720" y="3703320"/>
            <a:ext cx="1158240" cy="502920"/>
          </a:xfrm>
          <a:prstGeom prst="rect">
            <a:avLst/>
          </a:prstGeom>
          <a:solidFill>
            <a:srgbClr val="F5F7FA"/>
          </a:solidFill>
          <a:ln w="12700">
            <a:solidFill>
              <a:srgbClr val="E3E7EE"/>
            </a:solidFill>
            <a:prstDash val="solid"/>
          </a:ln>
        </p:spPr>
      </p:sp>
      <p:sp>
        <p:nvSpPr>
          <p:cNvPr id="39" name="Text 37"/>
          <p:cNvSpPr txBox="1"/>
          <p:nvPr/>
        </p:nvSpPr>
        <p:spPr>
          <a:xfrm>
            <a:off x="3474720" y="370332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 ساعة</a:t>
            </a:r>
            <a:endParaRPr lang="en-US" sz="1100" b="1" dirty="0"/>
          </a:p>
        </p:txBody>
      </p:sp>
      <p:sp>
        <p:nvSpPr>
          <p:cNvPr id="40" name="Shape 38"/>
          <p:cNvSpPr/>
          <p:nvPr/>
        </p:nvSpPr>
        <p:spPr>
          <a:xfrm>
            <a:off x="4632960" y="3703320"/>
            <a:ext cx="1158240" cy="502920"/>
          </a:xfrm>
          <a:prstGeom prst="rect">
            <a:avLst/>
          </a:prstGeom>
          <a:solidFill>
            <a:srgbClr val="F5F7FA"/>
          </a:solidFill>
          <a:ln w="12700">
            <a:solidFill>
              <a:srgbClr val="E3E7EE"/>
            </a:solidFill>
            <a:prstDash val="solid"/>
          </a:ln>
        </p:spPr>
      </p:sp>
      <p:sp>
        <p:nvSpPr>
          <p:cNvPr id="41" name="Text 39"/>
          <p:cNvSpPr txBox="1"/>
          <p:nvPr/>
        </p:nvSpPr>
        <p:spPr>
          <a:xfrm>
            <a:off x="4632960" y="370332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 ساعة</a:t>
            </a:r>
            <a:endParaRPr lang="en-US" sz="1100" b="1" dirty="0"/>
          </a:p>
        </p:txBody>
      </p:sp>
      <p:sp>
        <p:nvSpPr>
          <p:cNvPr id="42" name="Shape 40"/>
          <p:cNvSpPr/>
          <p:nvPr/>
        </p:nvSpPr>
        <p:spPr>
          <a:xfrm>
            <a:off x="5791200" y="3703320"/>
            <a:ext cx="1158240" cy="502920"/>
          </a:xfrm>
          <a:prstGeom prst="rect">
            <a:avLst/>
          </a:prstGeom>
          <a:solidFill>
            <a:srgbClr val="F5F7FA"/>
          </a:solidFill>
          <a:ln w="12700">
            <a:solidFill>
              <a:srgbClr val="E3E7EE"/>
            </a:solidFill>
            <a:prstDash val="solid"/>
          </a:ln>
        </p:spPr>
      </p:sp>
      <p:sp>
        <p:nvSpPr>
          <p:cNvPr id="43" name="Text 41"/>
          <p:cNvSpPr txBox="1"/>
          <p:nvPr/>
        </p:nvSpPr>
        <p:spPr>
          <a:xfrm>
            <a:off x="5791200" y="370332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15 دقيقة</a:t>
            </a:r>
            <a:endParaRPr lang="en-US" sz="1100" b="1" dirty="0"/>
          </a:p>
        </p:txBody>
      </p:sp>
      <p:sp>
        <p:nvSpPr>
          <p:cNvPr id="44" name="Shape 42"/>
          <p:cNvSpPr/>
          <p:nvPr/>
        </p:nvSpPr>
        <p:spPr>
          <a:xfrm>
            <a:off x="548640" y="4206240"/>
            <a:ext cx="2926080" cy="502920"/>
          </a:xfrm>
          <a:prstGeom prst="rect">
            <a:avLst/>
          </a:prstGeom>
          <a:solidFill>
            <a:srgbClr val="FFFFFF"/>
          </a:solidFill>
          <a:ln w="12700">
            <a:solidFill>
              <a:srgbClr val="E3E7EE"/>
            </a:solidFill>
            <a:prstDash val="solid"/>
          </a:ln>
        </p:spPr>
      </p:sp>
      <p:sp>
        <p:nvSpPr>
          <p:cNvPr id="45" name="Text 43"/>
          <p:cNvSpPr txBox="1"/>
          <p:nvPr/>
        </p:nvSpPr>
        <p:spPr>
          <a:xfrm>
            <a:off x="548640" y="4206240"/>
            <a:ext cx="2926080" cy="502920"/>
          </a:xfrm>
          <a:prstGeom prst="rect">
            <a:avLst/>
          </a:prstGeom>
          <a:noFill/>
          <a:ln/>
        </p:spPr>
        <p:txBody>
          <a:bodyPr wrap="square" lIns="0" tIns="0" rIns="0" bIns="0" rtlCol="0" anchor="ctr"/>
          <a:lstStyle/>
          <a:p>
            <a:pPr marL="0" indent="0" algn="ctr">
              <a:buNone/>
            </a:pPr>
            <a:r>
              <a:rPr lang="en-US" sz="1050" b="1" dirty="0">
                <a:solidFill>
                  <a:srgbClr val="1F2937"/>
                </a:solidFill>
                <a:latin typeface="Arial" pitchFamily="34" charset="0"/>
                <a:ea typeface="Arial" pitchFamily="34" charset="-122"/>
                <a:cs typeface="Arial" pitchFamily="34" charset="-120"/>
              </a:rPr>
              <a:t>الأنظمة الداعمة (ERP/CRM/بريد)</a:t>
            </a:r>
            <a:endParaRPr lang="en-US" sz="1050" b="1" dirty="0"/>
          </a:p>
        </p:txBody>
      </p:sp>
      <p:sp>
        <p:nvSpPr>
          <p:cNvPr id="46" name="Shape 44"/>
          <p:cNvSpPr/>
          <p:nvPr/>
        </p:nvSpPr>
        <p:spPr>
          <a:xfrm>
            <a:off x="3474720" y="4206240"/>
            <a:ext cx="1158240" cy="502920"/>
          </a:xfrm>
          <a:prstGeom prst="rect">
            <a:avLst/>
          </a:prstGeom>
          <a:solidFill>
            <a:srgbClr val="FFFFFF"/>
          </a:solidFill>
          <a:ln w="12700">
            <a:solidFill>
              <a:srgbClr val="E3E7EE"/>
            </a:solidFill>
            <a:prstDash val="solid"/>
          </a:ln>
        </p:spPr>
      </p:sp>
      <p:sp>
        <p:nvSpPr>
          <p:cNvPr id="47" name="Text 45"/>
          <p:cNvSpPr txBox="1"/>
          <p:nvPr/>
        </p:nvSpPr>
        <p:spPr>
          <a:xfrm>
            <a:off x="3474720" y="420624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24 ساعة</a:t>
            </a:r>
            <a:endParaRPr lang="en-US" sz="1100" b="1" dirty="0"/>
          </a:p>
        </p:txBody>
      </p:sp>
      <p:sp>
        <p:nvSpPr>
          <p:cNvPr id="48" name="Shape 46"/>
          <p:cNvSpPr/>
          <p:nvPr/>
        </p:nvSpPr>
        <p:spPr>
          <a:xfrm>
            <a:off x="4632960" y="4206240"/>
            <a:ext cx="1158240" cy="502920"/>
          </a:xfrm>
          <a:prstGeom prst="rect">
            <a:avLst/>
          </a:prstGeom>
          <a:solidFill>
            <a:srgbClr val="FFFFFF"/>
          </a:solidFill>
          <a:ln w="12700">
            <a:solidFill>
              <a:srgbClr val="E3E7EE"/>
            </a:solidFill>
            <a:prstDash val="solid"/>
          </a:ln>
        </p:spPr>
      </p:sp>
      <p:sp>
        <p:nvSpPr>
          <p:cNvPr id="49" name="Text 47"/>
          <p:cNvSpPr txBox="1"/>
          <p:nvPr/>
        </p:nvSpPr>
        <p:spPr>
          <a:xfrm>
            <a:off x="4632960" y="420624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8 ساعات</a:t>
            </a:r>
            <a:endParaRPr lang="en-US" sz="1100" b="1" dirty="0"/>
          </a:p>
        </p:txBody>
      </p:sp>
      <p:sp>
        <p:nvSpPr>
          <p:cNvPr id="50" name="Shape 48"/>
          <p:cNvSpPr/>
          <p:nvPr/>
        </p:nvSpPr>
        <p:spPr>
          <a:xfrm>
            <a:off x="5791200" y="4206240"/>
            <a:ext cx="1158240" cy="502920"/>
          </a:xfrm>
          <a:prstGeom prst="rect">
            <a:avLst/>
          </a:prstGeom>
          <a:solidFill>
            <a:srgbClr val="FFFFFF"/>
          </a:solidFill>
          <a:ln w="12700">
            <a:solidFill>
              <a:srgbClr val="E3E7EE"/>
            </a:solidFill>
            <a:prstDash val="solid"/>
          </a:ln>
        </p:spPr>
      </p:sp>
      <p:sp>
        <p:nvSpPr>
          <p:cNvPr id="51" name="Text 49"/>
          <p:cNvSpPr txBox="1"/>
          <p:nvPr/>
        </p:nvSpPr>
        <p:spPr>
          <a:xfrm>
            <a:off x="5791200" y="4206240"/>
            <a:ext cx="1158240" cy="502920"/>
          </a:xfrm>
          <a:prstGeom prst="rect">
            <a:avLst/>
          </a:prstGeom>
          <a:noFill/>
          <a:ln/>
        </p:spPr>
        <p:txBody>
          <a:bodyPr wrap="square" lIns="0" tIns="0" rIns="0" bIns="0" rtlCol="0" anchor="ctr"/>
          <a:lstStyle/>
          <a:p>
            <a:pPr marL="0" indent="0" algn="ctr">
              <a:buNone/>
            </a:pPr>
            <a:r>
              <a:rPr lang="en-US" sz="1100" b="1" dirty="0">
                <a:solidFill>
                  <a:srgbClr val="1F2937"/>
                </a:solidFill>
                <a:latin typeface="Arial" pitchFamily="34" charset="0"/>
                <a:ea typeface="Arial" pitchFamily="34" charset="-122"/>
                <a:cs typeface="Arial" pitchFamily="34" charset="-120"/>
              </a:rPr>
              <a:t>4 ساعات</a:t>
            </a:r>
            <a:endParaRPr lang="en-US" sz="1100" b="1" dirty="0"/>
          </a:p>
        </p:txBody>
      </p:sp>
      <p:sp>
        <p:nvSpPr>
          <p:cNvPr id="52" name="Text 50"/>
          <p:cNvSpPr txBox="1"/>
          <p:nvPr/>
        </p:nvSpPr>
        <p:spPr>
          <a:xfrm>
            <a:off x="7315200" y="1691640"/>
            <a:ext cx="429768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استراتيجية التعافي</a:t>
            </a:r>
            <a:endParaRPr lang="en-US" sz="1400" b="1" dirty="0"/>
          </a:p>
        </p:txBody>
      </p:sp>
      <p:sp>
        <p:nvSpPr>
          <p:cNvPr id="53" name="Shape 51"/>
          <p:cNvSpPr/>
          <p:nvPr/>
        </p:nvSpPr>
        <p:spPr>
          <a:xfrm>
            <a:off x="11292840" y="2148840"/>
            <a:ext cx="292608" cy="292608"/>
          </a:xfrm>
          <a:prstGeom prst="ellipse">
            <a:avLst/>
          </a:prstGeom>
          <a:solidFill>
            <a:srgbClr val="B08D27"/>
          </a:solidFill>
          <a:ln/>
        </p:spPr>
      </p:sp>
      <p:sp>
        <p:nvSpPr>
          <p:cNvPr id="54" name="Text 52"/>
          <p:cNvSpPr txBox="1"/>
          <p:nvPr/>
        </p:nvSpPr>
        <p:spPr>
          <a:xfrm>
            <a:off x="11292840" y="214884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b="1" dirty="0"/>
          </a:p>
        </p:txBody>
      </p:sp>
      <p:sp>
        <p:nvSpPr>
          <p:cNvPr id="55" name="Text 53"/>
          <p:cNvSpPr txBox="1"/>
          <p:nvPr/>
        </p:nvSpPr>
        <p:spPr>
          <a:xfrm>
            <a:off x="7315200" y="2084832"/>
            <a:ext cx="3794760" cy="45720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مركز تعافي بجدة (Warm Site) بعزل جغرافي 400 كم</a:t>
            </a:r>
            <a:endParaRPr lang="en-US" sz="1100" b="1" dirty="0"/>
          </a:p>
        </p:txBody>
      </p:sp>
      <p:sp>
        <p:nvSpPr>
          <p:cNvPr id="56" name="Shape 54"/>
          <p:cNvSpPr/>
          <p:nvPr/>
        </p:nvSpPr>
        <p:spPr>
          <a:xfrm>
            <a:off x="11292840" y="2715768"/>
            <a:ext cx="292608" cy="292608"/>
          </a:xfrm>
          <a:prstGeom prst="ellipse">
            <a:avLst/>
          </a:prstGeom>
          <a:solidFill>
            <a:srgbClr val="B08D27"/>
          </a:solidFill>
          <a:ln/>
        </p:spPr>
      </p:sp>
      <p:sp>
        <p:nvSpPr>
          <p:cNvPr id="57" name="Text 55"/>
          <p:cNvSpPr txBox="1"/>
          <p:nvPr/>
        </p:nvSpPr>
        <p:spPr>
          <a:xfrm>
            <a:off x="11292840" y="2715768"/>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b="1" dirty="0"/>
          </a:p>
        </p:txBody>
      </p:sp>
      <p:sp>
        <p:nvSpPr>
          <p:cNvPr id="58" name="Text 56"/>
          <p:cNvSpPr txBox="1"/>
          <p:nvPr/>
        </p:nvSpPr>
        <p:spPr>
          <a:xfrm>
            <a:off x="7315200" y="2651760"/>
            <a:ext cx="3794760" cy="45720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نسخ متماثل مستمر لقواعد البيانات الحرجة</a:t>
            </a:r>
            <a:endParaRPr lang="en-US" sz="1100" b="1" dirty="0"/>
          </a:p>
        </p:txBody>
      </p:sp>
      <p:sp>
        <p:nvSpPr>
          <p:cNvPr id="59" name="Shape 57"/>
          <p:cNvSpPr/>
          <p:nvPr/>
        </p:nvSpPr>
        <p:spPr>
          <a:xfrm>
            <a:off x="11292840" y="3282696"/>
            <a:ext cx="292608" cy="292608"/>
          </a:xfrm>
          <a:prstGeom prst="ellipse">
            <a:avLst/>
          </a:prstGeom>
          <a:solidFill>
            <a:srgbClr val="B08D27"/>
          </a:solidFill>
          <a:ln/>
        </p:spPr>
      </p:sp>
      <p:sp>
        <p:nvSpPr>
          <p:cNvPr id="60" name="Text 58"/>
          <p:cNvSpPr txBox="1"/>
          <p:nvPr/>
        </p:nvSpPr>
        <p:spPr>
          <a:xfrm>
            <a:off x="11292840" y="3282696"/>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b="1" dirty="0"/>
          </a:p>
        </p:txBody>
      </p:sp>
      <p:sp>
        <p:nvSpPr>
          <p:cNvPr id="61" name="Text 59"/>
          <p:cNvSpPr txBox="1"/>
          <p:nvPr/>
        </p:nvSpPr>
        <p:spPr>
          <a:xfrm>
            <a:off x="7315200" y="3218688"/>
            <a:ext cx="3794760" cy="45720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اختبار تبديل (Failover) مرتين سنوياً على الأقل</a:t>
            </a:r>
            <a:endParaRPr lang="en-US" sz="1100" b="1" dirty="0"/>
          </a:p>
        </p:txBody>
      </p:sp>
      <p:sp>
        <p:nvSpPr>
          <p:cNvPr id="62" name="Shape 60"/>
          <p:cNvSpPr/>
          <p:nvPr/>
        </p:nvSpPr>
        <p:spPr>
          <a:xfrm>
            <a:off x="11292840" y="3849624"/>
            <a:ext cx="292608" cy="292608"/>
          </a:xfrm>
          <a:prstGeom prst="ellipse">
            <a:avLst/>
          </a:prstGeom>
          <a:solidFill>
            <a:srgbClr val="B08D27"/>
          </a:solidFill>
          <a:ln/>
        </p:spPr>
      </p:sp>
      <p:sp>
        <p:nvSpPr>
          <p:cNvPr id="63" name="Text 61"/>
          <p:cNvSpPr txBox="1"/>
          <p:nvPr/>
        </p:nvSpPr>
        <p:spPr>
          <a:xfrm>
            <a:off x="11292840" y="3849624"/>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b="1" dirty="0"/>
          </a:p>
        </p:txBody>
      </p:sp>
      <p:sp>
        <p:nvSpPr>
          <p:cNvPr id="64" name="Text 62"/>
          <p:cNvSpPr txBox="1"/>
          <p:nvPr/>
        </p:nvSpPr>
        <p:spPr>
          <a:xfrm>
            <a:off x="7315200" y="3785616"/>
            <a:ext cx="3794760" cy="45720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نسخ احتياطي يومي عبر Veritas NetBackup</a:t>
            </a:r>
            <a:endParaRPr lang="en-US" sz="1100" b="1" dirty="0"/>
          </a:p>
        </p:txBody>
      </p:sp>
      <p:sp>
        <p:nvSpPr>
          <p:cNvPr id="65" name="Text 63"/>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66" name="Text 64"/>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19</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إجراءات التشغيل الآمن وخط الأساس الأمني</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معالجة جذور الحوادث السابقة</a:t>
            </a:r>
            <a:endParaRPr lang="en-US" sz="2800" b="1" dirty="0"/>
          </a:p>
        </p:txBody>
      </p:sp>
      <p:sp>
        <p:nvSpPr>
          <p:cNvPr id="4" name="Shape 2"/>
          <p:cNvSpPr/>
          <p:nvPr/>
        </p:nvSpPr>
        <p:spPr>
          <a:xfrm>
            <a:off x="548640" y="1691640"/>
            <a:ext cx="2697480" cy="1600200"/>
          </a:xfrm>
          <a:prstGeom prst="roundRect">
            <a:avLst>
              <a:gd name="adj" fmla="val 4571"/>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5" name="Shape 3"/>
          <p:cNvSpPr/>
          <p:nvPr/>
        </p:nvSpPr>
        <p:spPr>
          <a:xfrm>
            <a:off x="1641348" y="1856232"/>
            <a:ext cx="512064" cy="512064"/>
          </a:xfrm>
          <a:prstGeom prst="ellipse">
            <a:avLst/>
          </a:prstGeom>
          <a:solidFill>
            <a:srgbClr val="1F3B57"/>
          </a:solidFill>
          <a:ln/>
        </p:spPr>
      </p:sp>
      <p:sp>
        <p:nvSpPr>
          <p:cNvPr id="6" name="Text 4"/>
          <p:cNvSpPr txBox="1"/>
          <p:nvPr/>
        </p:nvSpPr>
        <p:spPr>
          <a:xfrm>
            <a:off x="1641348" y="1856232"/>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b="1" dirty="0"/>
          </a:p>
        </p:txBody>
      </p:sp>
      <p:sp>
        <p:nvSpPr>
          <p:cNvPr id="7" name="Text 5"/>
          <p:cNvSpPr txBox="1"/>
          <p:nvPr/>
        </p:nvSpPr>
        <p:spPr>
          <a:xfrm>
            <a:off x="640080" y="2468880"/>
            <a:ext cx="2514600" cy="32004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النسخ الاحتياطي</a:t>
            </a:r>
            <a:endParaRPr lang="en-US" sz="1250" b="1" dirty="0"/>
          </a:p>
        </p:txBody>
      </p:sp>
      <p:sp>
        <p:nvSpPr>
          <p:cNvPr id="8" name="Text 6"/>
          <p:cNvSpPr txBox="1"/>
          <p:nvPr/>
        </p:nvSpPr>
        <p:spPr>
          <a:xfrm>
            <a:off x="640080" y="2788920"/>
            <a:ext cx="2514600" cy="457200"/>
          </a:xfrm>
          <a:prstGeom prst="rect">
            <a:avLst/>
          </a:prstGeom>
          <a:noFill/>
          <a:ln/>
        </p:spPr>
        <p:txBody>
          <a:bodyPr wrap="square" lIns="0" tIns="0" rIns="0" bIns="0" rtlCol="0" anchor="t"/>
          <a:lstStyle/>
          <a:p>
            <a:pPr marL="0" indent="0" algn="ctr">
              <a:buNone/>
            </a:pPr>
            <a:r>
              <a:rPr lang="en-US" sz="950" b="1" dirty="0">
                <a:solidFill>
                  <a:srgbClr val="1F2937"/>
                </a:solidFill>
                <a:latin typeface="Arial" pitchFamily="34" charset="0"/>
                <a:ea typeface="Arial" pitchFamily="34" charset="-122"/>
                <a:cs typeface="Arial" pitchFamily="34" charset="-120"/>
              </a:rPr>
              <a:t>نسخ يومي مشفر + اختبار استعادة ربع سنوي</a:t>
            </a:r>
            <a:endParaRPr lang="en-US" sz="950" b="1" dirty="0"/>
          </a:p>
        </p:txBody>
      </p:sp>
      <p:sp>
        <p:nvSpPr>
          <p:cNvPr id="9" name="Shape 7"/>
          <p:cNvSpPr/>
          <p:nvPr/>
        </p:nvSpPr>
        <p:spPr>
          <a:xfrm>
            <a:off x="3429000" y="1691640"/>
            <a:ext cx="2697480" cy="1600200"/>
          </a:xfrm>
          <a:prstGeom prst="roundRect">
            <a:avLst>
              <a:gd name="adj" fmla="val 4571"/>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10" name="Shape 8"/>
          <p:cNvSpPr/>
          <p:nvPr/>
        </p:nvSpPr>
        <p:spPr>
          <a:xfrm>
            <a:off x="4521708" y="1856232"/>
            <a:ext cx="512064" cy="512064"/>
          </a:xfrm>
          <a:prstGeom prst="ellipse">
            <a:avLst/>
          </a:prstGeom>
          <a:solidFill>
            <a:srgbClr val="1F3B57"/>
          </a:solidFill>
          <a:ln/>
        </p:spPr>
      </p:sp>
      <p:sp>
        <p:nvSpPr>
          <p:cNvPr id="11" name="Text 9"/>
          <p:cNvSpPr txBox="1"/>
          <p:nvPr/>
        </p:nvSpPr>
        <p:spPr>
          <a:xfrm>
            <a:off x="4521708" y="1856232"/>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b="1" dirty="0"/>
          </a:p>
        </p:txBody>
      </p:sp>
      <p:sp>
        <p:nvSpPr>
          <p:cNvPr id="12" name="Text 10"/>
          <p:cNvSpPr txBox="1"/>
          <p:nvPr/>
        </p:nvSpPr>
        <p:spPr>
          <a:xfrm>
            <a:off x="3520440" y="2468880"/>
            <a:ext cx="2514600" cy="32004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إدارة التصحيحات</a:t>
            </a:r>
            <a:endParaRPr lang="en-US" sz="1250" b="1" dirty="0"/>
          </a:p>
        </p:txBody>
      </p:sp>
      <p:sp>
        <p:nvSpPr>
          <p:cNvPr id="13" name="Text 11"/>
          <p:cNvSpPr txBox="1"/>
          <p:nvPr/>
        </p:nvSpPr>
        <p:spPr>
          <a:xfrm>
            <a:off x="3520440" y="2788920"/>
            <a:ext cx="2514600" cy="457200"/>
          </a:xfrm>
          <a:prstGeom prst="rect">
            <a:avLst/>
          </a:prstGeom>
          <a:noFill/>
          <a:ln/>
        </p:spPr>
        <p:txBody>
          <a:bodyPr wrap="square" lIns="0" tIns="0" rIns="0" bIns="0" rtlCol="0" anchor="t"/>
          <a:lstStyle/>
          <a:p>
            <a:pPr marL="0" indent="0" algn="ctr">
              <a:buNone/>
            </a:pPr>
            <a:r>
              <a:rPr lang="en-US" sz="950" b="1" dirty="0">
                <a:solidFill>
                  <a:srgbClr val="1F2937"/>
                </a:solidFill>
                <a:latin typeface="Arial" pitchFamily="34" charset="0"/>
                <a:ea typeface="Arial" pitchFamily="34" charset="-122"/>
                <a:cs typeface="Arial" pitchFamily="34" charset="-120"/>
              </a:rPr>
              <a:t>تطبيق التصحيحات الحرجة خلال 7 أيام</a:t>
            </a:r>
            <a:endParaRPr lang="en-US" sz="950" b="1" dirty="0"/>
          </a:p>
        </p:txBody>
      </p:sp>
      <p:sp>
        <p:nvSpPr>
          <p:cNvPr id="14" name="Shape 12"/>
          <p:cNvSpPr/>
          <p:nvPr/>
        </p:nvSpPr>
        <p:spPr>
          <a:xfrm>
            <a:off x="6309360" y="1691640"/>
            <a:ext cx="2697480" cy="1600200"/>
          </a:xfrm>
          <a:prstGeom prst="roundRect">
            <a:avLst>
              <a:gd name="adj" fmla="val 4571"/>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15" name="Shape 13"/>
          <p:cNvSpPr/>
          <p:nvPr/>
        </p:nvSpPr>
        <p:spPr>
          <a:xfrm>
            <a:off x="7402068" y="1856232"/>
            <a:ext cx="512064" cy="512064"/>
          </a:xfrm>
          <a:prstGeom prst="ellipse">
            <a:avLst/>
          </a:prstGeom>
          <a:solidFill>
            <a:srgbClr val="1F3B57"/>
          </a:solidFill>
          <a:ln/>
        </p:spPr>
      </p:sp>
      <p:sp>
        <p:nvSpPr>
          <p:cNvPr id="16" name="Text 14"/>
          <p:cNvSpPr txBox="1"/>
          <p:nvPr/>
        </p:nvSpPr>
        <p:spPr>
          <a:xfrm>
            <a:off x="7402068" y="1856232"/>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b="1" dirty="0"/>
          </a:p>
        </p:txBody>
      </p:sp>
      <p:sp>
        <p:nvSpPr>
          <p:cNvPr id="17" name="Text 15"/>
          <p:cNvSpPr txBox="1"/>
          <p:nvPr/>
        </p:nvSpPr>
        <p:spPr>
          <a:xfrm>
            <a:off x="6400800" y="2468880"/>
            <a:ext cx="2514600" cy="32004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إدارة الثغرات</a:t>
            </a:r>
            <a:endParaRPr lang="en-US" sz="1250" b="1" dirty="0"/>
          </a:p>
        </p:txBody>
      </p:sp>
      <p:sp>
        <p:nvSpPr>
          <p:cNvPr id="18" name="Text 16"/>
          <p:cNvSpPr txBox="1"/>
          <p:nvPr/>
        </p:nvSpPr>
        <p:spPr>
          <a:xfrm>
            <a:off x="6400800" y="2788920"/>
            <a:ext cx="2514600" cy="457200"/>
          </a:xfrm>
          <a:prstGeom prst="rect">
            <a:avLst/>
          </a:prstGeom>
          <a:noFill/>
          <a:ln/>
        </p:spPr>
        <p:txBody>
          <a:bodyPr wrap="square" lIns="0" tIns="0" rIns="0" bIns="0" rtlCol="0" anchor="t"/>
          <a:lstStyle/>
          <a:p>
            <a:pPr marL="0" indent="0" algn="ctr">
              <a:buNone/>
            </a:pPr>
            <a:r>
              <a:rPr lang="en-US" sz="950" b="1" dirty="0">
                <a:solidFill>
                  <a:srgbClr val="1F2937"/>
                </a:solidFill>
                <a:latin typeface="Arial" pitchFamily="34" charset="0"/>
                <a:ea typeface="Arial" pitchFamily="34" charset="-122"/>
                <a:cs typeface="Arial" pitchFamily="34" charset="-120"/>
              </a:rPr>
              <a:t>فحص ربع سنوي ومعالجة إلزامية بمهل محددة</a:t>
            </a:r>
            <a:endParaRPr lang="en-US" sz="950" b="1" dirty="0"/>
          </a:p>
        </p:txBody>
      </p:sp>
      <p:sp>
        <p:nvSpPr>
          <p:cNvPr id="19" name="Shape 17"/>
          <p:cNvSpPr/>
          <p:nvPr/>
        </p:nvSpPr>
        <p:spPr>
          <a:xfrm>
            <a:off x="9189720" y="1691640"/>
            <a:ext cx="2697480" cy="1600200"/>
          </a:xfrm>
          <a:prstGeom prst="roundRect">
            <a:avLst>
              <a:gd name="adj" fmla="val 4571"/>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20" name="Shape 18"/>
          <p:cNvSpPr/>
          <p:nvPr/>
        </p:nvSpPr>
        <p:spPr>
          <a:xfrm>
            <a:off x="10282428" y="1856232"/>
            <a:ext cx="512064" cy="512064"/>
          </a:xfrm>
          <a:prstGeom prst="ellipse">
            <a:avLst/>
          </a:prstGeom>
          <a:solidFill>
            <a:srgbClr val="1F3B57"/>
          </a:solidFill>
          <a:ln/>
        </p:spPr>
      </p:sp>
      <p:sp>
        <p:nvSpPr>
          <p:cNvPr id="21" name="Text 19"/>
          <p:cNvSpPr txBox="1"/>
          <p:nvPr/>
        </p:nvSpPr>
        <p:spPr>
          <a:xfrm>
            <a:off x="10282428" y="1856232"/>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b="1" dirty="0"/>
          </a:p>
        </p:txBody>
      </p:sp>
      <p:sp>
        <p:nvSpPr>
          <p:cNvPr id="22" name="Text 20"/>
          <p:cNvSpPr txBox="1"/>
          <p:nvPr/>
        </p:nvSpPr>
        <p:spPr>
          <a:xfrm>
            <a:off x="9281160" y="2468880"/>
            <a:ext cx="2514600" cy="32004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إدارة التغيير</a:t>
            </a:r>
            <a:endParaRPr lang="en-US" sz="1250" b="1" dirty="0"/>
          </a:p>
        </p:txBody>
      </p:sp>
      <p:sp>
        <p:nvSpPr>
          <p:cNvPr id="23" name="Text 21"/>
          <p:cNvSpPr txBox="1"/>
          <p:nvPr/>
        </p:nvSpPr>
        <p:spPr>
          <a:xfrm>
            <a:off x="9281160" y="2788920"/>
            <a:ext cx="2514600" cy="457200"/>
          </a:xfrm>
          <a:prstGeom prst="rect">
            <a:avLst/>
          </a:prstGeom>
          <a:noFill/>
          <a:ln/>
        </p:spPr>
        <p:txBody>
          <a:bodyPr wrap="square" lIns="0" tIns="0" rIns="0" bIns="0" rtlCol="0" anchor="t"/>
          <a:lstStyle/>
          <a:p>
            <a:pPr marL="0" indent="0" algn="ctr">
              <a:buNone/>
            </a:pPr>
            <a:r>
              <a:rPr lang="en-US" sz="950" b="1" dirty="0">
                <a:solidFill>
                  <a:srgbClr val="1F2937"/>
                </a:solidFill>
                <a:latin typeface="Arial" pitchFamily="34" charset="0"/>
                <a:ea typeface="Arial" pitchFamily="34" charset="-122"/>
                <a:cs typeface="Arial" pitchFamily="34" charset="-120"/>
              </a:rPr>
              <a:t>مراجعة ثنائية (Four-Eyes) إلزامية للتغييرات الحرجة</a:t>
            </a:r>
            <a:endParaRPr lang="en-US" sz="950" b="1" dirty="0"/>
          </a:p>
        </p:txBody>
      </p:sp>
      <p:sp>
        <p:nvSpPr>
          <p:cNvPr id="24" name="Text 22"/>
          <p:cNvSpPr txBox="1"/>
          <p:nvPr/>
        </p:nvSpPr>
        <p:spPr>
          <a:xfrm>
            <a:off x="548640" y="3520440"/>
            <a:ext cx="11094415"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خط الأساس للإعدادات الأمنية (أمثلة)</a:t>
            </a:r>
            <a:endParaRPr lang="en-US" sz="1400" b="1" dirty="0"/>
          </a:p>
        </p:txBody>
      </p:sp>
      <p:sp>
        <p:nvSpPr>
          <p:cNvPr id="25" name="Shape 23"/>
          <p:cNvSpPr/>
          <p:nvPr/>
        </p:nvSpPr>
        <p:spPr>
          <a:xfrm>
            <a:off x="548640" y="3931920"/>
            <a:ext cx="11094415" cy="457200"/>
          </a:xfrm>
          <a:prstGeom prst="roundRect">
            <a:avLst>
              <a:gd name="adj" fmla="val 14000"/>
            </a:avLst>
          </a:prstGeom>
          <a:solidFill>
            <a:srgbClr val="F5F7FA"/>
          </a:solidFill>
          <a:ln w="12700">
            <a:solidFill>
              <a:srgbClr val="E3E7EE"/>
            </a:solidFill>
            <a:prstDash val="solid"/>
          </a:ln>
        </p:spPr>
      </p:sp>
      <p:sp>
        <p:nvSpPr>
          <p:cNvPr id="26" name="Text 24"/>
          <p:cNvSpPr txBox="1"/>
          <p:nvPr/>
        </p:nvSpPr>
        <p:spPr>
          <a:xfrm>
            <a:off x="7315200" y="3986784"/>
            <a:ext cx="3931920" cy="347472"/>
          </a:xfrm>
          <a:prstGeom prst="rect">
            <a:avLst/>
          </a:prstGeom>
          <a:noFill/>
          <a:ln/>
        </p:spPr>
        <p:txBody>
          <a:bodyPr wrap="square" lIns="0" tIns="0" rIns="0" bIns="0" rtlCol="0" anchor="ctr"/>
          <a:lstStyle/>
          <a:p>
            <a:pPr marL="0" indent="0" algn="r">
              <a:buNone/>
            </a:pPr>
            <a:r>
              <a:rPr lang="en-US" sz="1100" b="1" dirty="0">
                <a:solidFill>
                  <a:srgbClr val="1F3B57"/>
                </a:solidFill>
                <a:latin typeface="Arial" pitchFamily="34" charset="0"/>
                <a:ea typeface="Arial" pitchFamily="34" charset="-122"/>
                <a:cs typeface="Arial" pitchFamily="34" charset="-120"/>
              </a:rPr>
              <a:t>مزامنة الوقت NTP مركزي</a:t>
            </a:r>
            <a:endParaRPr lang="en-US" sz="1100" b="1" dirty="0"/>
          </a:p>
        </p:txBody>
      </p:sp>
      <p:sp>
        <p:nvSpPr>
          <p:cNvPr id="27" name="Text 25"/>
          <p:cNvSpPr txBox="1"/>
          <p:nvPr/>
        </p:nvSpPr>
        <p:spPr>
          <a:xfrm>
            <a:off x="685800" y="3986784"/>
            <a:ext cx="6492240" cy="347472"/>
          </a:xfrm>
          <a:prstGeom prst="rect">
            <a:avLst/>
          </a:prstGeom>
          <a:noFill/>
          <a:ln/>
        </p:spPr>
        <p:txBody>
          <a:bodyPr wrap="square" lIns="0" tIns="0" rIns="0" bIns="0" rtlCol="0" anchor="ctr"/>
          <a:lstStyle/>
          <a:p>
            <a:pPr marL="0" indent="0" algn="r">
              <a:buNone/>
            </a:pPr>
            <a:r>
              <a:rPr lang="en-US" sz="1050" b="1" dirty="0">
                <a:solidFill>
                  <a:srgbClr val="1F2937"/>
                </a:solidFill>
                <a:latin typeface="Arial" pitchFamily="34" charset="0"/>
                <a:ea typeface="Arial" pitchFamily="34" charset="-122"/>
                <a:cs typeface="Arial" pitchFamily="34" charset="-120"/>
              </a:rPr>
              <a:t>معالجة فجوة عدم تزامن الساعات (فارق 7 دقائق سابقاً)</a:t>
            </a:r>
            <a:endParaRPr lang="en-US" sz="1050" b="1" dirty="0"/>
          </a:p>
        </p:txBody>
      </p:sp>
      <p:sp>
        <p:nvSpPr>
          <p:cNvPr id="28" name="Shape 26"/>
          <p:cNvSpPr/>
          <p:nvPr/>
        </p:nvSpPr>
        <p:spPr>
          <a:xfrm>
            <a:off x="548640" y="4498848"/>
            <a:ext cx="11094415" cy="457200"/>
          </a:xfrm>
          <a:prstGeom prst="roundRect">
            <a:avLst>
              <a:gd name="adj" fmla="val 14000"/>
            </a:avLst>
          </a:prstGeom>
          <a:solidFill>
            <a:srgbClr val="F5F7FA"/>
          </a:solidFill>
          <a:ln w="12700">
            <a:solidFill>
              <a:srgbClr val="E3E7EE"/>
            </a:solidFill>
            <a:prstDash val="solid"/>
          </a:ln>
        </p:spPr>
      </p:sp>
      <p:sp>
        <p:nvSpPr>
          <p:cNvPr id="29" name="Text 27"/>
          <p:cNvSpPr txBox="1"/>
          <p:nvPr/>
        </p:nvSpPr>
        <p:spPr>
          <a:xfrm>
            <a:off x="7315200" y="4553712"/>
            <a:ext cx="3931920" cy="347472"/>
          </a:xfrm>
          <a:prstGeom prst="rect">
            <a:avLst/>
          </a:prstGeom>
          <a:noFill/>
          <a:ln/>
        </p:spPr>
        <p:txBody>
          <a:bodyPr wrap="square" lIns="0" tIns="0" rIns="0" bIns="0" rtlCol="0" anchor="ctr"/>
          <a:lstStyle/>
          <a:p>
            <a:pPr marL="0" indent="0" algn="r">
              <a:buNone/>
            </a:pPr>
            <a:r>
              <a:rPr lang="en-US" sz="1100" b="1" dirty="0">
                <a:solidFill>
                  <a:srgbClr val="1F3B57"/>
                </a:solidFill>
                <a:latin typeface="Arial" pitchFamily="34" charset="0"/>
                <a:ea typeface="Arial" pitchFamily="34" charset="-122"/>
                <a:cs typeface="Arial" pitchFamily="34" charset="-120"/>
              </a:rPr>
              <a:t>تعطيل بروتوكولات TLS القديمة</a:t>
            </a:r>
            <a:endParaRPr lang="en-US" sz="1100" b="1" dirty="0"/>
          </a:p>
        </p:txBody>
      </p:sp>
      <p:sp>
        <p:nvSpPr>
          <p:cNvPr id="30" name="Text 28"/>
          <p:cNvSpPr txBox="1"/>
          <p:nvPr/>
        </p:nvSpPr>
        <p:spPr>
          <a:xfrm>
            <a:off x="685800" y="4553712"/>
            <a:ext cx="6492240" cy="347472"/>
          </a:xfrm>
          <a:prstGeom prst="rect">
            <a:avLst/>
          </a:prstGeom>
          <a:noFill/>
          <a:ln/>
        </p:spPr>
        <p:txBody>
          <a:bodyPr wrap="square" lIns="0" tIns="0" rIns="0" bIns="0" rtlCol="0" anchor="ctr"/>
          <a:lstStyle/>
          <a:p>
            <a:pPr marL="0" indent="0" algn="r">
              <a:buNone/>
            </a:pPr>
            <a:r>
              <a:rPr lang="en-US" sz="1050" b="1" dirty="0">
                <a:solidFill>
                  <a:srgbClr val="1F2937"/>
                </a:solidFill>
                <a:latin typeface="Arial" pitchFamily="34" charset="0"/>
                <a:ea typeface="Arial" pitchFamily="34" charset="-122"/>
                <a:cs typeface="Arial" pitchFamily="34" charset="-120"/>
              </a:rPr>
              <a:t>منع استغلال ثغرات معروفة في الاتصالات المشفرة</a:t>
            </a:r>
            <a:endParaRPr lang="en-US" sz="1050" b="1" dirty="0"/>
          </a:p>
        </p:txBody>
      </p:sp>
      <p:sp>
        <p:nvSpPr>
          <p:cNvPr id="31" name="Shape 29"/>
          <p:cNvSpPr/>
          <p:nvPr/>
        </p:nvSpPr>
        <p:spPr>
          <a:xfrm>
            <a:off x="548640" y="5065776"/>
            <a:ext cx="11094415" cy="457200"/>
          </a:xfrm>
          <a:prstGeom prst="roundRect">
            <a:avLst>
              <a:gd name="adj" fmla="val 14000"/>
            </a:avLst>
          </a:prstGeom>
          <a:solidFill>
            <a:srgbClr val="F5F7FA"/>
          </a:solidFill>
          <a:ln w="12700">
            <a:solidFill>
              <a:srgbClr val="E3E7EE"/>
            </a:solidFill>
            <a:prstDash val="solid"/>
          </a:ln>
        </p:spPr>
      </p:sp>
      <p:sp>
        <p:nvSpPr>
          <p:cNvPr id="32" name="Text 30"/>
          <p:cNvSpPr txBox="1"/>
          <p:nvPr/>
        </p:nvSpPr>
        <p:spPr>
          <a:xfrm>
            <a:off x="7315200" y="5120640"/>
            <a:ext cx="3931920" cy="347472"/>
          </a:xfrm>
          <a:prstGeom prst="rect">
            <a:avLst/>
          </a:prstGeom>
          <a:noFill/>
          <a:ln/>
        </p:spPr>
        <p:txBody>
          <a:bodyPr wrap="square" lIns="0" tIns="0" rIns="0" bIns="0" rtlCol="0" anchor="ctr"/>
          <a:lstStyle/>
          <a:p>
            <a:pPr marL="0" indent="0" algn="r">
              <a:buNone/>
            </a:pPr>
            <a:r>
              <a:rPr lang="en-US" sz="1100" b="1" dirty="0">
                <a:solidFill>
                  <a:srgbClr val="1F3B57"/>
                </a:solidFill>
                <a:latin typeface="Arial" pitchFamily="34" charset="0"/>
                <a:ea typeface="Arial" pitchFamily="34" charset="-122"/>
                <a:cs typeface="Arial" pitchFamily="34" charset="-120"/>
              </a:rPr>
              <a:t>فصل بيئات الإنتاج والاختبار</a:t>
            </a:r>
            <a:endParaRPr lang="en-US" sz="1100" b="1" dirty="0"/>
          </a:p>
        </p:txBody>
      </p:sp>
      <p:sp>
        <p:nvSpPr>
          <p:cNvPr id="33" name="Text 31"/>
          <p:cNvSpPr txBox="1"/>
          <p:nvPr/>
        </p:nvSpPr>
        <p:spPr>
          <a:xfrm>
            <a:off x="685800" y="5120640"/>
            <a:ext cx="6492240" cy="347472"/>
          </a:xfrm>
          <a:prstGeom prst="rect">
            <a:avLst/>
          </a:prstGeom>
          <a:noFill/>
          <a:ln/>
        </p:spPr>
        <p:txBody>
          <a:bodyPr wrap="square" lIns="0" tIns="0" rIns="0" bIns="0" rtlCol="0" anchor="ctr"/>
          <a:lstStyle/>
          <a:p>
            <a:pPr marL="0" indent="0" algn="r">
              <a:buNone/>
            </a:pPr>
            <a:r>
              <a:rPr lang="en-US" sz="1050" b="1" dirty="0">
                <a:solidFill>
                  <a:srgbClr val="1F2937"/>
                </a:solidFill>
                <a:latin typeface="Arial" pitchFamily="34" charset="0"/>
                <a:ea typeface="Arial" pitchFamily="34" charset="-122"/>
                <a:cs typeface="Arial" pitchFamily="34" charset="-120"/>
              </a:rPr>
              <a:t>منع استخدام بيانات عملاء حقيقية في الاختبار</a:t>
            </a:r>
            <a:endParaRPr lang="en-US" sz="1050" b="1" dirty="0"/>
          </a:p>
        </p:txBody>
      </p:sp>
      <p:sp>
        <p:nvSpPr>
          <p:cNvPr id="34" name="Shape 32"/>
          <p:cNvSpPr/>
          <p:nvPr/>
        </p:nvSpPr>
        <p:spPr>
          <a:xfrm>
            <a:off x="548640" y="5632704"/>
            <a:ext cx="11094415" cy="457200"/>
          </a:xfrm>
          <a:prstGeom prst="roundRect">
            <a:avLst>
              <a:gd name="adj" fmla="val 14000"/>
            </a:avLst>
          </a:prstGeom>
          <a:solidFill>
            <a:srgbClr val="F5F7FA"/>
          </a:solidFill>
          <a:ln w="12700">
            <a:solidFill>
              <a:srgbClr val="E3E7EE"/>
            </a:solidFill>
            <a:prstDash val="solid"/>
          </a:ln>
        </p:spPr>
      </p:sp>
      <p:sp>
        <p:nvSpPr>
          <p:cNvPr id="35" name="Text 33"/>
          <p:cNvSpPr txBox="1"/>
          <p:nvPr/>
        </p:nvSpPr>
        <p:spPr>
          <a:xfrm>
            <a:off x="7315200" y="5687568"/>
            <a:ext cx="3931920" cy="347472"/>
          </a:xfrm>
          <a:prstGeom prst="rect">
            <a:avLst/>
          </a:prstGeom>
          <a:noFill/>
          <a:ln/>
        </p:spPr>
        <p:txBody>
          <a:bodyPr wrap="square" lIns="0" tIns="0" rIns="0" bIns="0" rtlCol="0" anchor="ctr"/>
          <a:lstStyle/>
          <a:p>
            <a:pPr marL="0" indent="0" algn="r">
              <a:buNone/>
            </a:pPr>
            <a:r>
              <a:rPr lang="en-US" sz="1100" b="1" dirty="0">
                <a:solidFill>
                  <a:srgbClr val="1F3B57"/>
                </a:solidFill>
                <a:latin typeface="Arial" pitchFamily="34" charset="0"/>
                <a:ea typeface="Arial" pitchFamily="34" charset="-122"/>
                <a:cs typeface="Arial" pitchFamily="34" charset="-120"/>
              </a:rPr>
              <a:t>مراجعة ثنائية لقواعد جدار الحماية</a:t>
            </a:r>
            <a:endParaRPr lang="en-US" sz="1100" b="1" dirty="0"/>
          </a:p>
        </p:txBody>
      </p:sp>
      <p:sp>
        <p:nvSpPr>
          <p:cNvPr id="36" name="Text 34"/>
          <p:cNvSpPr txBox="1"/>
          <p:nvPr/>
        </p:nvSpPr>
        <p:spPr>
          <a:xfrm>
            <a:off x="685800" y="5687568"/>
            <a:ext cx="6492240" cy="347472"/>
          </a:xfrm>
          <a:prstGeom prst="rect">
            <a:avLst/>
          </a:prstGeom>
          <a:noFill/>
          <a:ln/>
        </p:spPr>
        <p:txBody>
          <a:bodyPr wrap="square" lIns="0" tIns="0" rIns="0" bIns="0" rtlCol="0" anchor="ctr"/>
          <a:lstStyle/>
          <a:p>
            <a:pPr marL="0" indent="0" algn="r">
              <a:buNone/>
            </a:pPr>
            <a:r>
              <a:rPr lang="en-US" sz="1050" b="1" dirty="0">
                <a:solidFill>
                  <a:srgbClr val="1F2937"/>
                </a:solidFill>
                <a:latin typeface="Arial" pitchFamily="34" charset="0"/>
                <a:ea typeface="Arial" pitchFamily="34" charset="-122"/>
                <a:cs typeface="Arial" pitchFamily="34" charset="-120"/>
              </a:rPr>
              <a:t>منع تكرار حادثة انقطاع الخدمة السابقة</a:t>
            </a:r>
            <a:endParaRPr lang="en-US" sz="1050" b="1" dirty="0"/>
          </a:p>
        </p:txBody>
      </p:sp>
      <p:sp>
        <p:nvSpPr>
          <p:cNvPr id="37" name="Text 3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38" name="Text 3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20</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263B"/>
        </a:solidFill>
        <a:effectLst/>
      </p:bgPr>
    </p:bg>
    <p:spTree>
      <p:nvGrpSpPr>
        <p:cNvPr id="1" name=""/>
        <p:cNvGrpSpPr/>
        <p:nvPr/>
      </p:nvGrpSpPr>
      <p:grpSpPr>
        <a:xfrm>
          <a:off x="0" y="0"/>
          <a:ext cx="0" cy="0"/>
          <a:chOff x="0" y="0"/>
          <a:chExt cx="0" cy="0"/>
        </a:xfrm>
      </p:grpSpPr>
      <p:sp>
        <p:nvSpPr>
          <p:cNvPr id="2" name="Shape 0"/>
          <p:cNvSpPr/>
          <p:nvPr/>
        </p:nvSpPr>
        <p:spPr>
          <a:xfrm>
            <a:off x="5684368" y="1051560"/>
            <a:ext cx="822960" cy="822960"/>
          </a:xfrm>
          <a:prstGeom prst="ellipse">
            <a:avLst/>
          </a:prstGeom>
          <a:solidFill>
            <a:srgbClr val="B08D27"/>
          </a:solidFill>
          <a:ln/>
        </p:spPr>
      </p:sp>
      <p:sp>
        <p:nvSpPr>
          <p:cNvPr id="3" name="Text 1"/>
          <p:cNvSpPr txBox="1"/>
          <p:nvPr/>
        </p:nvSpPr>
        <p:spPr>
          <a:xfrm>
            <a:off x="5684368" y="1051560"/>
            <a:ext cx="822960" cy="822960"/>
          </a:xfrm>
          <a:prstGeom prst="rect">
            <a:avLst/>
          </a:prstGeom>
          <a:noFill/>
          <a:ln/>
        </p:spPr>
        <p:txBody>
          <a:bodyPr wrap="square" lIns="0" tIns="0" rIns="0" bIns="0" rtlCol="0" anchor="ctr"/>
          <a:lstStyle/>
          <a:p>
            <a:pPr marL="0" indent="0" algn="ctr">
              <a:buNone/>
            </a:pPr>
            <a:r>
              <a:rPr lang="en-US" sz="2000" b="1" dirty="0">
                <a:solidFill>
                  <a:srgbClr val="13263B"/>
                </a:solidFill>
                <a:latin typeface="Arial" pitchFamily="34" charset="0"/>
                <a:ea typeface="Arial" pitchFamily="34" charset="-122"/>
                <a:cs typeface="Arial" pitchFamily="34" charset="-120"/>
              </a:rPr>
              <a:t>4</a:t>
            </a:r>
            <a:endParaRPr lang="en-US" sz="2000" dirty="0"/>
          </a:p>
        </p:txBody>
      </p:sp>
      <p:sp>
        <p:nvSpPr>
          <p:cNvPr id="4" name="Text 2"/>
          <p:cNvSpPr txBox="1"/>
          <p:nvPr/>
        </p:nvSpPr>
        <p:spPr>
          <a:xfrm>
            <a:off x="914400" y="2148840"/>
            <a:ext cx="10362895" cy="365760"/>
          </a:xfrm>
          <a:prstGeom prst="rect">
            <a:avLst/>
          </a:prstGeom>
          <a:noFill/>
          <a:ln/>
        </p:spPr>
        <p:txBody>
          <a:bodyPr wrap="square" lIns="0" tIns="0" rIns="0" bIns="0" rtlCol="0" anchor="ctr"/>
          <a:lstStyle/>
          <a:p>
            <a:pPr marL="0" indent="0" algn="ctr">
              <a:buNone/>
            </a:pPr>
            <a:r>
              <a:rPr lang="en-US" sz="1400" b="1" kern="0" spc="200" dirty="0">
                <a:solidFill>
                  <a:srgbClr val="D9BE6E"/>
                </a:solidFill>
                <a:latin typeface="Arial" pitchFamily="34" charset="0"/>
                <a:ea typeface="Arial" pitchFamily="34" charset="-122"/>
                <a:cs typeface="Arial" pitchFamily="34" charset="-120"/>
              </a:rPr>
              <a:t>المحور الرابع</a:t>
            </a:r>
            <a:endParaRPr lang="en-US" sz="1400" dirty="0"/>
          </a:p>
        </p:txBody>
      </p:sp>
      <p:sp>
        <p:nvSpPr>
          <p:cNvPr id="5" name="Text 3"/>
          <p:cNvSpPr txBox="1"/>
          <p:nvPr/>
        </p:nvSpPr>
        <p:spPr>
          <a:xfrm>
            <a:off x="914400" y="2560320"/>
            <a:ext cx="10362895" cy="100584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القياس والرقابة والتحسين</a:t>
            </a:r>
            <a:endParaRPr lang="en-US" sz="3400" dirty="0"/>
          </a:p>
        </p:txBody>
      </p:sp>
      <p:sp>
        <p:nvSpPr>
          <p:cNvPr id="6" name="Text 4"/>
          <p:cNvSpPr txBox="1"/>
          <p:nvPr/>
        </p:nvSpPr>
        <p:spPr>
          <a:xfrm>
            <a:off x="1828800" y="3657600"/>
            <a:ext cx="8534095" cy="914400"/>
          </a:xfrm>
          <a:prstGeom prst="rect">
            <a:avLst/>
          </a:prstGeom>
          <a:noFill/>
          <a:ln/>
        </p:spPr>
        <p:txBody>
          <a:bodyPr wrap="square" lIns="0" tIns="0" rIns="0" bIns="0" rtlCol="0" anchor="ctr"/>
          <a:lstStyle/>
          <a:p>
            <a:pPr marL="0" indent="0" algn="ctr">
              <a:buNone/>
            </a:pPr>
            <a:r>
              <a:rPr lang="en-US" sz="1400" dirty="0">
                <a:solidFill>
                  <a:srgbClr val="CADCFC"/>
                </a:solidFill>
                <a:latin typeface="Arial" pitchFamily="34" charset="0"/>
                <a:ea typeface="Arial" pitchFamily="34" charset="-122"/>
                <a:cs typeface="Arial" pitchFamily="34" charset="-120"/>
              </a:rPr>
              <a:t>المراقبة والقياس، أداء النظام، والتدقيق الداخلي</a:t>
            </a:r>
            <a:endParaRPr lang="en-US" sz="1400" dirty="0"/>
          </a:p>
        </p:txBody>
      </p:sp>
      <p:sp>
        <p:nvSpPr>
          <p:cNvPr id="7" name="Text 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8" name="Text 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21</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المراقبة والقياس وأداء النظام</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مؤشرات رئيسية من تقرير أداء ISMS</a:t>
            </a:r>
            <a:endParaRPr lang="en-US" sz="2800" b="1" dirty="0"/>
          </a:p>
        </p:txBody>
      </p:sp>
      <p:sp>
        <p:nvSpPr>
          <p:cNvPr id="4" name="Shape 2"/>
          <p:cNvSpPr/>
          <p:nvPr/>
        </p:nvSpPr>
        <p:spPr>
          <a:xfrm>
            <a:off x="548640" y="1691640"/>
            <a:ext cx="2697480" cy="2011680"/>
          </a:xfrm>
          <a:prstGeom prst="roundRect">
            <a:avLst>
              <a:gd name="adj" fmla="val 3636"/>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5" name="Text 3"/>
          <p:cNvSpPr txBox="1"/>
          <p:nvPr/>
        </p:nvSpPr>
        <p:spPr>
          <a:xfrm>
            <a:off x="658368" y="1828800"/>
            <a:ext cx="2478024" cy="594360"/>
          </a:xfrm>
          <a:prstGeom prst="rect">
            <a:avLst/>
          </a:prstGeom>
          <a:noFill/>
          <a:ln/>
        </p:spPr>
        <p:txBody>
          <a:bodyPr wrap="square" lIns="0" tIns="0" rIns="0" bIns="0" rtlCol="0" anchor="t"/>
          <a:lstStyle/>
          <a:p>
            <a:pPr marL="0" indent="0" algn="ctr">
              <a:buNone/>
            </a:pPr>
            <a:r>
              <a:rPr lang="en-US" sz="1200" b="1" dirty="0">
                <a:solidFill>
                  <a:srgbClr val="1F3B57"/>
                </a:solidFill>
                <a:latin typeface="Arial" pitchFamily="34" charset="0"/>
                <a:ea typeface="Arial" pitchFamily="34" charset="-122"/>
                <a:cs typeface="Arial" pitchFamily="34" charset="-120"/>
              </a:rPr>
              <a:t>نسبة توفر الأنظمة الحرجة</a:t>
            </a:r>
            <a:endParaRPr lang="en-US" sz="1200" b="1" dirty="0"/>
          </a:p>
        </p:txBody>
      </p:sp>
      <p:sp>
        <p:nvSpPr>
          <p:cNvPr id="6" name="Text 4"/>
          <p:cNvSpPr txBox="1"/>
          <p:nvPr/>
        </p:nvSpPr>
        <p:spPr>
          <a:xfrm>
            <a:off x="658368" y="2468880"/>
            <a:ext cx="2478024" cy="365760"/>
          </a:xfrm>
          <a:prstGeom prst="rect">
            <a:avLst/>
          </a:prstGeom>
          <a:noFill/>
          <a:ln/>
        </p:spPr>
        <p:txBody>
          <a:bodyPr wrap="square" lIns="0" tIns="0" rIns="0" bIns="0" rtlCol="0" anchor="ctr"/>
          <a:lstStyle/>
          <a:p>
            <a:pPr marL="0" indent="0" algn="ctr">
              <a:buNone/>
            </a:pPr>
            <a:r>
              <a:rPr lang="en-US" sz="1000" b="1" dirty="0">
                <a:solidFill>
                  <a:srgbClr val="6B7280"/>
                </a:solidFill>
                <a:latin typeface="Arial" pitchFamily="34" charset="0"/>
                <a:ea typeface="Arial" pitchFamily="34" charset="-122"/>
                <a:cs typeface="Arial" pitchFamily="34" charset="-120"/>
              </a:rPr>
              <a:t>المستهدف 99.9%</a:t>
            </a:r>
            <a:endParaRPr lang="en-US" sz="1000" b="1" dirty="0"/>
          </a:p>
        </p:txBody>
      </p:sp>
      <p:sp>
        <p:nvSpPr>
          <p:cNvPr id="7" name="Shape 5"/>
          <p:cNvSpPr/>
          <p:nvPr/>
        </p:nvSpPr>
        <p:spPr>
          <a:xfrm>
            <a:off x="777240" y="2971800"/>
            <a:ext cx="2240280" cy="502920"/>
          </a:xfrm>
          <a:prstGeom prst="roundRect">
            <a:avLst>
              <a:gd name="adj" fmla="val 18182"/>
            </a:avLst>
          </a:prstGeom>
          <a:solidFill>
            <a:srgbClr val="B08D27"/>
          </a:solidFill>
          <a:ln/>
        </p:spPr>
      </p:sp>
      <p:sp>
        <p:nvSpPr>
          <p:cNvPr id="8" name="Text 6"/>
          <p:cNvSpPr txBox="1"/>
          <p:nvPr/>
        </p:nvSpPr>
        <p:spPr>
          <a:xfrm>
            <a:off x="777240" y="2971800"/>
            <a:ext cx="22402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قيد التحسين</a:t>
            </a:r>
            <a:endParaRPr lang="en-US" sz="1050" b="1" dirty="0"/>
          </a:p>
        </p:txBody>
      </p:sp>
      <p:sp>
        <p:nvSpPr>
          <p:cNvPr id="9" name="Shape 7"/>
          <p:cNvSpPr/>
          <p:nvPr/>
        </p:nvSpPr>
        <p:spPr>
          <a:xfrm>
            <a:off x="3429000" y="1691640"/>
            <a:ext cx="2697480" cy="2011680"/>
          </a:xfrm>
          <a:prstGeom prst="roundRect">
            <a:avLst>
              <a:gd name="adj" fmla="val 3636"/>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10" name="Text 8"/>
          <p:cNvSpPr txBox="1"/>
          <p:nvPr/>
        </p:nvSpPr>
        <p:spPr>
          <a:xfrm>
            <a:off x="3538728" y="1828800"/>
            <a:ext cx="2478024" cy="594360"/>
          </a:xfrm>
          <a:prstGeom prst="rect">
            <a:avLst/>
          </a:prstGeom>
          <a:noFill/>
          <a:ln/>
        </p:spPr>
        <p:txBody>
          <a:bodyPr wrap="square" lIns="0" tIns="0" rIns="0" bIns="0" rtlCol="0" anchor="t"/>
          <a:lstStyle/>
          <a:p>
            <a:pPr marL="0" indent="0" algn="ctr">
              <a:buNone/>
            </a:pPr>
            <a:r>
              <a:rPr lang="en-US" sz="1200" b="1" dirty="0">
                <a:solidFill>
                  <a:srgbClr val="1F3B57"/>
                </a:solidFill>
                <a:latin typeface="Arial" pitchFamily="34" charset="0"/>
                <a:ea typeface="Arial" pitchFamily="34" charset="-122"/>
                <a:cs typeface="Arial" pitchFamily="34" charset="-120"/>
              </a:rPr>
              <a:t>نسبة النقر على التصيد التجريبي</a:t>
            </a:r>
            <a:endParaRPr lang="en-US" sz="1200" b="1" dirty="0"/>
          </a:p>
        </p:txBody>
      </p:sp>
      <p:sp>
        <p:nvSpPr>
          <p:cNvPr id="11" name="Text 9"/>
          <p:cNvSpPr txBox="1"/>
          <p:nvPr/>
        </p:nvSpPr>
        <p:spPr>
          <a:xfrm>
            <a:off x="3538728" y="2468880"/>
            <a:ext cx="2478024" cy="365760"/>
          </a:xfrm>
          <a:prstGeom prst="rect">
            <a:avLst/>
          </a:prstGeom>
          <a:noFill/>
          <a:ln/>
        </p:spPr>
        <p:txBody>
          <a:bodyPr wrap="square" lIns="0" tIns="0" rIns="0" bIns="0" rtlCol="0" anchor="ctr"/>
          <a:lstStyle/>
          <a:p>
            <a:pPr marL="0" indent="0" algn="ctr">
              <a:buNone/>
            </a:pPr>
            <a:r>
              <a:rPr lang="en-US" sz="1000" b="1" dirty="0">
                <a:solidFill>
                  <a:srgbClr val="6B7280"/>
                </a:solidFill>
                <a:latin typeface="Arial" pitchFamily="34" charset="0"/>
                <a:ea typeface="Arial" pitchFamily="34" charset="-122"/>
                <a:cs typeface="Arial" pitchFamily="34" charset="-120"/>
              </a:rPr>
              <a:t>المستهدف أقل من 10%</a:t>
            </a:r>
            <a:endParaRPr lang="en-US" sz="1000" b="1" dirty="0"/>
          </a:p>
        </p:txBody>
      </p:sp>
      <p:sp>
        <p:nvSpPr>
          <p:cNvPr id="12" name="Shape 10"/>
          <p:cNvSpPr/>
          <p:nvPr/>
        </p:nvSpPr>
        <p:spPr>
          <a:xfrm>
            <a:off x="3657600" y="2971800"/>
            <a:ext cx="2240280" cy="502920"/>
          </a:xfrm>
          <a:prstGeom prst="roundRect">
            <a:avLst>
              <a:gd name="adj" fmla="val 18182"/>
            </a:avLst>
          </a:prstGeom>
          <a:solidFill>
            <a:srgbClr val="B3261E"/>
          </a:solidFill>
          <a:ln/>
        </p:spPr>
      </p:sp>
      <p:sp>
        <p:nvSpPr>
          <p:cNvPr id="13" name="Text 11"/>
          <p:cNvSpPr txBox="1"/>
          <p:nvPr/>
        </p:nvSpPr>
        <p:spPr>
          <a:xfrm>
            <a:off x="3657600" y="2971800"/>
            <a:ext cx="22402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25% - بحاجة لتحسين</a:t>
            </a:r>
            <a:endParaRPr lang="en-US" sz="1050" b="1" dirty="0"/>
          </a:p>
        </p:txBody>
      </p:sp>
      <p:sp>
        <p:nvSpPr>
          <p:cNvPr id="14" name="Shape 12"/>
          <p:cNvSpPr/>
          <p:nvPr/>
        </p:nvSpPr>
        <p:spPr>
          <a:xfrm>
            <a:off x="6309360" y="1691640"/>
            <a:ext cx="2697480" cy="2011680"/>
          </a:xfrm>
          <a:prstGeom prst="roundRect">
            <a:avLst>
              <a:gd name="adj" fmla="val 3636"/>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15" name="Text 13"/>
          <p:cNvSpPr txBox="1"/>
          <p:nvPr/>
        </p:nvSpPr>
        <p:spPr>
          <a:xfrm>
            <a:off x="6419088" y="1828800"/>
            <a:ext cx="2478024" cy="594360"/>
          </a:xfrm>
          <a:prstGeom prst="rect">
            <a:avLst/>
          </a:prstGeom>
          <a:noFill/>
          <a:ln/>
        </p:spPr>
        <p:txBody>
          <a:bodyPr wrap="square" lIns="0" tIns="0" rIns="0" bIns="0" rtlCol="0" anchor="t"/>
          <a:lstStyle/>
          <a:p>
            <a:pPr marL="0" indent="0" algn="ctr">
              <a:buNone/>
            </a:pPr>
            <a:r>
              <a:rPr lang="en-US" sz="1200" b="1" dirty="0">
                <a:solidFill>
                  <a:srgbClr val="1F3B57"/>
                </a:solidFill>
                <a:latin typeface="Arial" pitchFamily="34" charset="0"/>
                <a:ea typeface="Arial" pitchFamily="34" charset="-122"/>
                <a:cs typeface="Arial" pitchFamily="34" charset="-120"/>
              </a:rPr>
              <a:t>نسبة معالجة الثغرات عالية الخطورة</a:t>
            </a:r>
            <a:endParaRPr lang="en-US" sz="1200" b="1" dirty="0"/>
          </a:p>
        </p:txBody>
      </p:sp>
      <p:sp>
        <p:nvSpPr>
          <p:cNvPr id="16" name="Text 14"/>
          <p:cNvSpPr txBox="1"/>
          <p:nvPr/>
        </p:nvSpPr>
        <p:spPr>
          <a:xfrm>
            <a:off x="6419088" y="2468880"/>
            <a:ext cx="2478024" cy="365760"/>
          </a:xfrm>
          <a:prstGeom prst="rect">
            <a:avLst/>
          </a:prstGeom>
          <a:noFill/>
          <a:ln/>
        </p:spPr>
        <p:txBody>
          <a:bodyPr wrap="square" lIns="0" tIns="0" rIns="0" bIns="0" rtlCol="0" anchor="ctr"/>
          <a:lstStyle/>
          <a:p>
            <a:pPr marL="0" indent="0" algn="ctr">
              <a:buNone/>
            </a:pPr>
            <a:r>
              <a:rPr lang="en-US" sz="1000" b="1" dirty="0">
                <a:solidFill>
                  <a:srgbClr val="6B7280"/>
                </a:solidFill>
                <a:latin typeface="Arial" pitchFamily="34" charset="0"/>
                <a:ea typeface="Arial" pitchFamily="34" charset="-122"/>
                <a:cs typeface="Arial" pitchFamily="34" charset="-120"/>
              </a:rPr>
              <a:t>المستهدف 100% خلال 30 يوماً</a:t>
            </a:r>
            <a:endParaRPr lang="en-US" sz="1000" b="1" dirty="0"/>
          </a:p>
        </p:txBody>
      </p:sp>
      <p:sp>
        <p:nvSpPr>
          <p:cNvPr id="17" name="Shape 15"/>
          <p:cNvSpPr/>
          <p:nvPr/>
        </p:nvSpPr>
        <p:spPr>
          <a:xfrm>
            <a:off x="6537960" y="2971800"/>
            <a:ext cx="2240280" cy="502920"/>
          </a:xfrm>
          <a:prstGeom prst="roundRect">
            <a:avLst>
              <a:gd name="adj" fmla="val 18182"/>
            </a:avLst>
          </a:prstGeom>
          <a:solidFill>
            <a:srgbClr val="B08D27"/>
          </a:solidFill>
          <a:ln/>
        </p:spPr>
      </p:sp>
      <p:sp>
        <p:nvSpPr>
          <p:cNvPr id="18" name="Text 16"/>
          <p:cNvSpPr txBox="1"/>
          <p:nvPr/>
        </p:nvSpPr>
        <p:spPr>
          <a:xfrm>
            <a:off x="6537960" y="2971800"/>
            <a:ext cx="22402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67% - قيد المعالجة</a:t>
            </a:r>
            <a:endParaRPr lang="en-US" sz="1050" b="1" dirty="0"/>
          </a:p>
        </p:txBody>
      </p:sp>
      <p:sp>
        <p:nvSpPr>
          <p:cNvPr id="19" name="Shape 17"/>
          <p:cNvSpPr/>
          <p:nvPr/>
        </p:nvSpPr>
        <p:spPr>
          <a:xfrm>
            <a:off x="9189720" y="1691640"/>
            <a:ext cx="2697480" cy="2011680"/>
          </a:xfrm>
          <a:prstGeom prst="roundRect">
            <a:avLst>
              <a:gd name="adj" fmla="val 3636"/>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20" name="Text 18"/>
          <p:cNvSpPr txBox="1"/>
          <p:nvPr/>
        </p:nvSpPr>
        <p:spPr>
          <a:xfrm>
            <a:off x="9299448" y="1828800"/>
            <a:ext cx="2478024" cy="594360"/>
          </a:xfrm>
          <a:prstGeom prst="rect">
            <a:avLst/>
          </a:prstGeom>
          <a:noFill/>
          <a:ln/>
        </p:spPr>
        <p:txBody>
          <a:bodyPr wrap="square" lIns="0" tIns="0" rIns="0" bIns="0" rtlCol="0" anchor="t"/>
          <a:lstStyle/>
          <a:p>
            <a:pPr marL="0" indent="0" algn="ctr">
              <a:buNone/>
            </a:pPr>
            <a:r>
              <a:rPr lang="en-US" sz="1200" b="1" dirty="0">
                <a:solidFill>
                  <a:srgbClr val="1F3B57"/>
                </a:solidFill>
                <a:latin typeface="Arial" pitchFamily="34" charset="0"/>
                <a:ea typeface="Arial" pitchFamily="34" charset="-122"/>
                <a:cs typeface="Arial" pitchFamily="34" charset="-120"/>
              </a:rPr>
              <a:t>اكتمال مراجعة صلاحيات الوصول</a:t>
            </a:r>
            <a:endParaRPr lang="en-US" sz="1200" b="1" dirty="0"/>
          </a:p>
        </p:txBody>
      </p:sp>
      <p:sp>
        <p:nvSpPr>
          <p:cNvPr id="21" name="Text 19"/>
          <p:cNvSpPr txBox="1"/>
          <p:nvPr/>
        </p:nvSpPr>
        <p:spPr>
          <a:xfrm>
            <a:off x="9299448" y="2468880"/>
            <a:ext cx="2478024" cy="365760"/>
          </a:xfrm>
          <a:prstGeom prst="rect">
            <a:avLst/>
          </a:prstGeom>
          <a:noFill/>
          <a:ln/>
        </p:spPr>
        <p:txBody>
          <a:bodyPr wrap="square" lIns="0" tIns="0" rIns="0" bIns="0" rtlCol="0" anchor="ctr"/>
          <a:lstStyle/>
          <a:p>
            <a:pPr marL="0" indent="0" algn="ctr">
              <a:buNone/>
            </a:pPr>
            <a:r>
              <a:rPr lang="en-US" sz="1000" b="1" dirty="0">
                <a:solidFill>
                  <a:srgbClr val="6B7280"/>
                </a:solidFill>
                <a:latin typeface="Arial" pitchFamily="34" charset="0"/>
                <a:ea typeface="Arial" pitchFamily="34" charset="-122"/>
                <a:cs typeface="Arial" pitchFamily="34" charset="-120"/>
              </a:rPr>
              <a:t>المستهدف كل 6 أشهر</a:t>
            </a:r>
            <a:endParaRPr lang="en-US" sz="1000" b="1" dirty="0"/>
          </a:p>
        </p:txBody>
      </p:sp>
      <p:sp>
        <p:nvSpPr>
          <p:cNvPr id="22" name="Shape 20"/>
          <p:cNvSpPr/>
          <p:nvPr/>
        </p:nvSpPr>
        <p:spPr>
          <a:xfrm>
            <a:off x="9418320" y="2971800"/>
            <a:ext cx="2240280" cy="502920"/>
          </a:xfrm>
          <a:prstGeom prst="roundRect">
            <a:avLst>
              <a:gd name="adj" fmla="val 18182"/>
            </a:avLst>
          </a:prstGeom>
          <a:solidFill>
            <a:srgbClr val="B3261E"/>
          </a:solidFill>
          <a:ln/>
        </p:spPr>
      </p:sp>
      <p:sp>
        <p:nvSpPr>
          <p:cNvPr id="23" name="Text 21"/>
          <p:cNvSpPr txBox="1"/>
          <p:nvPr/>
        </p:nvSpPr>
        <p:spPr>
          <a:xfrm>
            <a:off x="9418320" y="2971800"/>
            <a:ext cx="22402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لم تُوثق سابقاً</a:t>
            </a:r>
            <a:endParaRPr lang="en-US" sz="1050" b="1" dirty="0"/>
          </a:p>
        </p:txBody>
      </p:sp>
      <p:sp>
        <p:nvSpPr>
          <p:cNvPr id="24" name="Text 22"/>
          <p:cNvSpPr txBox="1"/>
          <p:nvPr/>
        </p:nvSpPr>
        <p:spPr>
          <a:xfrm>
            <a:off x="548640" y="3977640"/>
            <a:ext cx="11094415"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ماذا نراقب وكيف؟</a:t>
            </a:r>
            <a:endParaRPr lang="en-US" sz="1400" b="1" dirty="0"/>
          </a:p>
        </p:txBody>
      </p:sp>
      <p:sp>
        <p:nvSpPr>
          <p:cNvPr id="25" name="Shape 23"/>
          <p:cNvSpPr/>
          <p:nvPr/>
        </p:nvSpPr>
        <p:spPr>
          <a:xfrm>
            <a:off x="5760720" y="4389120"/>
            <a:ext cx="274320" cy="274320"/>
          </a:xfrm>
          <a:prstGeom prst="ellipse">
            <a:avLst/>
          </a:prstGeom>
          <a:solidFill>
            <a:srgbClr val="3A7D44"/>
          </a:solidFill>
          <a:ln/>
        </p:spPr>
      </p:sp>
      <p:sp>
        <p:nvSpPr>
          <p:cNvPr id="26" name="Text 24"/>
          <p:cNvSpPr txBox="1"/>
          <p:nvPr/>
        </p:nvSpPr>
        <p:spPr>
          <a:xfrm>
            <a:off x="5760720" y="438912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b="1" dirty="0"/>
          </a:p>
        </p:txBody>
      </p:sp>
      <p:sp>
        <p:nvSpPr>
          <p:cNvPr id="27" name="Text 25"/>
          <p:cNvSpPr txBox="1"/>
          <p:nvPr/>
        </p:nvSpPr>
        <p:spPr>
          <a:xfrm>
            <a:off x="548640" y="4334256"/>
            <a:ext cx="5120640" cy="41148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توفر الأنظمة الحرجة - مراقبة آلية مستمرة وتقرير شهري</a:t>
            </a:r>
            <a:endParaRPr lang="en-US" sz="1100" b="1" dirty="0"/>
          </a:p>
        </p:txBody>
      </p:sp>
      <p:sp>
        <p:nvSpPr>
          <p:cNvPr id="28" name="Shape 26"/>
          <p:cNvSpPr/>
          <p:nvPr/>
        </p:nvSpPr>
        <p:spPr>
          <a:xfrm>
            <a:off x="11384280" y="4389120"/>
            <a:ext cx="274320" cy="274320"/>
          </a:xfrm>
          <a:prstGeom prst="ellipse">
            <a:avLst/>
          </a:prstGeom>
          <a:solidFill>
            <a:srgbClr val="3A7D44"/>
          </a:solidFill>
          <a:ln/>
        </p:spPr>
      </p:sp>
      <p:sp>
        <p:nvSpPr>
          <p:cNvPr id="29" name="Text 27"/>
          <p:cNvSpPr txBox="1"/>
          <p:nvPr/>
        </p:nvSpPr>
        <p:spPr>
          <a:xfrm>
            <a:off x="11384280" y="438912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b="1" dirty="0"/>
          </a:p>
        </p:txBody>
      </p:sp>
      <p:sp>
        <p:nvSpPr>
          <p:cNvPr id="30" name="Text 28"/>
          <p:cNvSpPr txBox="1"/>
          <p:nvPr/>
        </p:nvSpPr>
        <p:spPr>
          <a:xfrm>
            <a:off x="6172200" y="4334256"/>
            <a:ext cx="5120640" cy="41148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فعالية إدارة الحوادث - زمن الاستجابة الفعلي مقابل المستهدف</a:t>
            </a:r>
            <a:endParaRPr lang="en-US" sz="1100" b="1" dirty="0"/>
          </a:p>
        </p:txBody>
      </p:sp>
      <p:sp>
        <p:nvSpPr>
          <p:cNvPr id="31" name="Shape 29"/>
          <p:cNvSpPr/>
          <p:nvPr/>
        </p:nvSpPr>
        <p:spPr>
          <a:xfrm>
            <a:off x="5760720" y="4937760"/>
            <a:ext cx="274320" cy="274320"/>
          </a:xfrm>
          <a:prstGeom prst="ellipse">
            <a:avLst/>
          </a:prstGeom>
          <a:solidFill>
            <a:srgbClr val="3A7D44"/>
          </a:solidFill>
          <a:ln/>
        </p:spPr>
      </p:sp>
      <p:sp>
        <p:nvSpPr>
          <p:cNvPr id="32" name="Text 30"/>
          <p:cNvSpPr txBox="1"/>
          <p:nvPr/>
        </p:nvSpPr>
        <p:spPr>
          <a:xfrm>
            <a:off x="5760720" y="49377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b="1" dirty="0"/>
          </a:p>
        </p:txBody>
      </p:sp>
      <p:sp>
        <p:nvSpPr>
          <p:cNvPr id="33" name="Text 31"/>
          <p:cNvSpPr txBox="1"/>
          <p:nvPr/>
        </p:nvSpPr>
        <p:spPr>
          <a:xfrm>
            <a:off x="548640" y="4882896"/>
            <a:ext cx="5120640" cy="41148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الوعي الأمني - محاكاة تصيد احتيالي ربع سنوية</a:t>
            </a:r>
            <a:endParaRPr lang="en-US" sz="1100" b="1" dirty="0"/>
          </a:p>
        </p:txBody>
      </p:sp>
      <p:sp>
        <p:nvSpPr>
          <p:cNvPr id="34" name="Shape 32"/>
          <p:cNvSpPr/>
          <p:nvPr/>
        </p:nvSpPr>
        <p:spPr>
          <a:xfrm>
            <a:off x="11384280" y="4937760"/>
            <a:ext cx="274320" cy="274320"/>
          </a:xfrm>
          <a:prstGeom prst="ellipse">
            <a:avLst/>
          </a:prstGeom>
          <a:solidFill>
            <a:srgbClr val="3A7D44"/>
          </a:solidFill>
          <a:ln/>
        </p:spPr>
      </p:sp>
      <p:sp>
        <p:nvSpPr>
          <p:cNvPr id="35" name="Text 33"/>
          <p:cNvSpPr txBox="1"/>
          <p:nvPr/>
        </p:nvSpPr>
        <p:spPr>
          <a:xfrm>
            <a:off x="11384280" y="49377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b="1" dirty="0"/>
          </a:p>
        </p:txBody>
      </p:sp>
      <p:sp>
        <p:nvSpPr>
          <p:cNvPr id="36" name="Text 34"/>
          <p:cNvSpPr txBox="1"/>
          <p:nvPr/>
        </p:nvSpPr>
        <p:spPr>
          <a:xfrm>
            <a:off x="6172200" y="4882896"/>
            <a:ext cx="5120640" cy="41148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فعالية النسخ الاحتياطي - اختبار استعادة ربع سنوي</a:t>
            </a:r>
            <a:endParaRPr lang="en-US" sz="1100" b="1" dirty="0"/>
          </a:p>
        </p:txBody>
      </p:sp>
      <p:sp>
        <p:nvSpPr>
          <p:cNvPr id="37" name="Text 35"/>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38" name="Text 36"/>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22</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التدقيق الداخلي</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نتائج الدورة الأولى من التدقيق</a:t>
            </a:r>
            <a:endParaRPr lang="en-US" sz="2800" b="1" dirty="0"/>
          </a:p>
        </p:txBody>
      </p:sp>
      <p:graphicFrame>
        <p:nvGraphicFramePr>
          <p:cNvPr id="4" name="Chart 0"/>
          <p:cNvGraphicFramePr/>
          <p:nvPr>
            <p:extLst>
              <p:ext uri="{D42A27DB-BD31-4B8C-83A1-F6EECF244321}">
                <p14:modId xmlns:p14="http://schemas.microsoft.com/office/powerpoint/2010/main" val="2991872181"/>
              </p:ext>
            </p:extLst>
          </p:nvPr>
        </p:nvGraphicFramePr>
        <p:xfrm>
          <a:off x="548640" y="1645920"/>
          <a:ext cx="42976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120640" y="1645920"/>
            <a:ext cx="6492240"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أبرز الملاحظات ذات الأولوية</a:t>
            </a:r>
            <a:endParaRPr lang="en-US" sz="1400" b="1" dirty="0"/>
          </a:p>
        </p:txBody>
      </p:sp>
      <p:sp>
        <p:nvSpPr>
          <p:cNvPr id="6" name="Shape 3"/>
          <p:cNvSpPr/>
          <p:nvPr/>
        </p:nvSpPr>
        <p:spPr>
          <a:xfrm>
            <a:off x="5120640" y="2103120"/>
            <a:ext cx="6492240" cy="658368"/>
          </a:xfrm>
          <a:prstGeom prst="roundRect">
            <a:avLst>
              <a:gd name="adj" fmla="val 11111"/>
            </a:avLst>
          </a:prstGeom>
          <a:solidFill>
            <a:srgbClr val="FFFFFF"/>
          </a:solidFill>
          <a:ln w="12700">
            <a:solidFill>
              <a:srgbClr val="E3E7EE"/>
            </a:solidFill>
            <a:prstDash val="solid"/>
          </a:ln>
        </p:spPr>
      </p:sp>
      <p:sp>
        <p:nvSpPr>
          <p:cNvPr id="7" name="Shape 4"/>
          <p:cNvSpPr/>
          <p:nvPr/>
        </p:nvSpPr>
        <p:spPr>
          <a:xfrm>
            <a:off x="5257800" y="2221992"/>
            <a:ext cx="868680" cy="420624"/>
          </a:xfrm>
          <a:prstGeom prst="roundRect">
            <a:avLst>
              <a:gd name="adj" fmla="val 17391"/>
            </a:avLst>
          </a:prstGeom>
          <a:solidFill>
            <a:srgbClr val="1F3B57"/>
          </a:solidFill>
          <a:ln/>
        </p:spPr>
      </p:sp>
      <p:sp>
        <p:nvSpPr>
          <p:cNvPr id="8" name="Text 5"/>
          <p:cNvSpPr txBox="1"/>
          <p:nvPr/>
        </p:nvSpPr>
        <p:spPr>
          <a:xfrm>
            <a:off x="5257800" y="2221992"/>
            <a:ext cx="8686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A.5.23</a:t>
            </a:r>
            <a:endParaRPr lang="en-US" sz="1100" b="1" dirty="0"/>
          </a:p>
        </p:txBody>
      </p:sp>
      <p:sp>
        <p:nvSpPr>
          <p:cNvPr id="9" name="Text 6"/>
          <p:cNvSpPr txBox="1"/>
          <p:nvPr/>
        </p:nvSpPr>
        <p:spPr>
          <a:xfrm>
            <a:off x="6263640" y="2157984"/>
            <a:ext cx="5120640" cy="32004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غياب سياسة أمن الحوسبة السحابية</a:t>
            </a:r>
            <a:endParaRPr lang="en-US" sz="1100" b="1" dirty="0"/>
          </a:p>
        </p:txBody>
      </p:sp>
      <p:sp>
        <p:nvSpPr>
          <p:cNvPr id="10" name="Text 7"/>
          <p:cNvSpPr txBox="1"/>
          <p:nvPr/>
        </p:nvSpPr>
        <p:spPr>
          <a:xfrm>
            <a:off x="6263640" y="2468880"/>
            <a:ext cx="5120640" cy="256032"/>
          </a:xfrm>
          <a:prstGeom prst="rect">
            <a:avLst/>
          </a:prstGeom>
          <a:noFill/>
          <a:ln/>
        </p:spPr>
        <p:txBody>
          <a:bodyPr wrap="square" lIns="0" tIns="0" rIns="0" bIns="0" rtlCol="0" anchor="ctr"/>
          <a:lstStyle/>
          <a:p>
            <a:pPr marL="0" indent="0" algn="r">
              <a:buNone/>
            </a:pPr>
            <a:r>
              <a:rPr lang="en-US" sz="950" b="1" dirty="0">
                <a:solidFill>
                  <a:srgbClr val="B08D27"/>
                </a:solidFill>
                <a:latin typeface="Arial" pitchFamily="34" charset="0"/>
                <a:ea typeface="Arial" pitchFamily="34" charset="-122"/>
                <a:cs typeface="Arial" pitchFamily="34" charset="-120"/>
              </a:rPr>
              <a:t>المهلة: 60 يوماً</a:t>
            </a:r>
            <a:endParaRPr lang="en-US" sz="950" b="1" dirty="0"/>
          </a:p>
        </p:txBody>
      </p:sp>
      <p:sp>
        <p:nvSpPr>
          <p:cNvPr id="11" name="Shape 8"/>
          <p:cNvSpPr/>
          <p:nvPr/>
        </p:nvSpPr>
        <p:spPr>
          <a:xfrm>
            <a:off x="5120640" y="2880360"/>
            <a:ext cx="6492240" cy="658368"/>
          </a:xfrm>
          <a:prstGeom prst="roundRect">
            <a:avLst>
              <a:gd name="adj" fmla="val 11111"/>
            </a:avLst>
          </a:prstGeom>
          <a:solidFill>
            <a:srgbClr val="FFFFFF"/>
          </a:solidFill>
          <a:ln w="12700">
            <a:solidFill>
              <a:srgbClr val="E3E7EE"/>
            </a:solidFill>
            <a:prstDash val="solid"/>
          </a:ln>
        </p:spPr>
      </p:sp>
      <p:sp>
        <p:nvSpPr>
          <p:cNvPr id="12" name="Shape 9"/>
          <p:cNvSpPr/>
          <p:nvPr/>
        </p:nvSpPr>
        <p:spPr>
          <a:xfrm>
            <a:off x="5257800" y="2999232"/>
            <a:ext cx="868680" cy="420624"/>
          </a:xfrm>
          <a:prstGeom prst="roundRect">
            <a:avLst>
              <a:gd name="adj" fmla="val 17391"/>
            </a:avLst>
          </a:prstGeom>
          <a:solidFill>
            <a:srgbClr val="1F3B57"/>
          </a:solidFill>
          <a:ln/>
        </p:spPr>
      </p:sp>
      <p:sp>
        <p:nvSpPr>
          <p:cNvPr id="13" name="Text 10"/>
          <p:cNvSpPr txBox="1"/>
          <p:nvPr/>
        </p:nvSpPr>
        <p:spPr>
          <a:xfrm>
            <a:off x="5257800" y="2999232"/>
            <a:ext cx="8686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A.5.34</a:t>
            </a:r>
            <a:endParaRPr lang="en-US" sz="1100" b="1" dirty="0"/>
          </a:p>
        </p:txBody>
      </p:sp>
      <p:sp>
        <p:nvSpPr>
          <p:cNvPr id="14" name="Text 11"/>
          <p:cNvSpPr txBox="1"/>
          <p:nvPr/>
        </p:nvSpPr>
        <p:spPr>
          <a:xfrm>
            <a:off x="6263640" y="2935224"/>
            <a:ext cx="5120640" cy="32004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تأخر الاستجابة لطلبات أصحاب بيانات PII</a:t>
            </a:r>
            <a:endParaRPr lang="en-US" sz="1100" b="1" dirty="0"/>
          </a:p>
        </p:txBody>
      </p:sp>
      <p:sp>
        <p:nvSpPr>
          <p:cNvPr id="15" name="Text 12"/>
          <p:cNvSpPr txBox="1"/>
          <p:nvPr/>
        </p:nvSpPr>
        <p:spPr>
          <a:xfrm>
            <a:off x="6263640" y="3246120"/>
            <a:ext cx="5120640" cy="256032"/>
          </a:xfrm>
          <a:prstGeom prst="rect">
            <a:avLst/>
          </a:prstGeom>
          <a:noFill/>
          <a:ln/>
        </p:spPr>
        <p:txBody>
          <a:bodyPr wrap="square" lIns="0" tIns="0" rIns="0" bIns="0" rtlCol="0" anchor="ctr"/>
          <a:lstStyle/>
          <a:p>
            <a:pPr marL="0" indent="0" algn="r">
              <a:buNone/>
            </a:pPr>
            <a:r>
              <a:rPr lang="en-US" sz="950" b="1" dirty="0">
                <a:solidFill>
                  <a:srgbClr val="B08D27"/>
                </a:solidFill>
                <a:latin typeface="Arial" pitchFamily="34" charset="0"/>
                <a:ea typeface="Arial" pitchFamily="34" charset="-122"/>
                <a:cs typeface="Arial" pitchFamily="34" charset="-120"/>
              </a:rPr>
              <a:t>المهلة: 90 يوماً</a:t>
            </a:r>
            <a:endParaRPr lang="en-US" sz="950" b="1" dirty="0"/>
          </a:p>
        </p:txBody>
      </p:sp>
      <p:sp>
        <p:nvSpPr>
          <p:cNvPr id="16" name="Shape 13"/>
          <p:cNvSpPr/>
          <p:nvPr/>
        </p:nvSpPr>
        <p:spPr>
          <a:xfrm>
            <a:off x="5120640" y="3657600"/>
            <a:ext cx="6492240" cy="658368"/>
          </a:xfrm>
          <a:prstGeom prst="roundRect">
            <a:avLst>
              <a:gd name="adj" fmla="val 11111"/>
            </a:avLst>
          </a:prstGeom>
          <a:solidFill>
            <a:srgbClr val="FFFFFF"/>
          </a:solidFill>
          <a:ln w="12700">
            <a:solidFill>
              <a:srgbClr val="E3E7EE"/>
            </a:solidFill>
            <a:prstDash val="solid"/>
          </a:ln>
        </p:spPr>
      </p:sp>
      <p:sp>
        <p:nvSpPr>
          <p:cNvPr id="17" name="Shape 14"/>
          <p:cNvSpPr/>
          <p:nvPr/>
        </p:nvSpPr>
        <p:spPr>
          <a:xfrm>
            <a:off x="5257800" y="3776472"/>
            <a:ext cx="868680" cy="420624"/>
          </a:xfrm>
          <a:prstGeom prst="roundRect">
            <a:avLst>
              <a:gd name="adj" fmla="val 17391"/>
            </a:avLst>
          </a:prstGeom>
          <a:solidFill>
            <a:srgbClr val="1F3B57"/>
          </a:solidFill>
          <a:ln/>
        </p:spPr>
      </p:sp>
      <p:sp>
        <p:nvSpPr>
          <p:cNvPr id="18" name="Text 15"/>
          <p:cNvSpPr txBox="1"/>
          <p:nvPr/>
        </p:nvSpPr>
        <p:spPr>
          <a:xfrm>
            <a:off x="5257800" y="3776472"/>
            <a:ext cx="8686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A.8.32</a:t>
            </a:r>
            <a:endParaRPr lang="en-US" sz="1100" b="1" dirty="0"/>
          </a:p>
        </p:txBody>
      </p:sp>
      <p:sp>
        <p:nvSpPr>
          <p:cNvPr id="19" name="Text 16"/>
          <p:cNvSpPr txBox="1"/>
          <p:nvPr/>
        </p:nvSpPr>
        <p:spPr>
          <a:xfrm>
            <a:off x="6263640" y="3712464"/>
            <a:ext cx="5120640" cy="32004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غياب إجراء إدارة تغيير موثق ومراجعة ثنائية</a:t>
            </a:r>
            <a:endParaRPr lang="en-US" sz="1100" b="1" dirty="0"/>
          </a:p>
        </p:txBody>
      </p:sp>
      <p:sp>
        <p:nvSpPr>
          <p:cNvPr id="20" name="Text 17"/>
          <p:cNvSpPr txBox="1"/>
          <p:nvPr/>
        </p:nvSpPr>
        <p:spPr>
          <a:xfrm>
            <a:off x="6263640" y="4023360"/>
            <a:ext cx="5120640" cy="256032"/>
          </a:xfrm>
          <a:prstGeom prst="rect">
            <a:avLst/>
          </a:prstGeom>
          <a:noFill/>
          <a:ln/>
        </p:spPr>
        <p:txBody>
          <a:bodyPr wrap="square" lIns="0" tIns="0" rIns="0" bIns="0" rtlCol="0" anchor="ctr"/>
          <a:lstStyle/>
          <a:p>
            <a:pPr marL="0" indent="0" algn="r">
              <a:buNone/>
            </a:pPr>
            <a:r>
              <a:rPr lang="en-US" sz="950" b="1" dirty="0">
                <a:solidFill>
                  <a:srgbClr val="B08D27"/>
                </a:solidFill>
                <a:latin typeface="Arial" pitchFamily="34" charset="0"/>
                <a:ea typeface="Arial" pitchFamily="34" charset="-122"/>
                <a:cs typeface="Arial" pitchFamily="34" charset="-120"/>
              </a:rPr>
              <a:t>المهلة: 45 يوماً</a:t>
            </a:r>
            <a:endParaRPr lang="en-US" sz="950" b="1" dirty="0"/>
          </a:p>
        </p:txBody>
      </p:sp>
      <p:sp>
        <p:nvSpPr>
          <p:cNvPr id="21" name="Shape 18"/>
          <p:cNvSpPr/>
          <p:nvPr/>
        </p:nvSpPr>
        <p:spPr>
          <a:xfrm>
            <a:off x="5120640" y="4434840"/>
            <a:ext cx="6492240" cy="658368"/>
          </a:xfrm>
          <a:prstGeom prst="roundRect">
            <a:avLst>
              <a:gd name="adj" fmla="val 11111"/>
            </a:avLst>
          </a:prstGeom>
          <a:solidFill>
            <a:srgbClr val="FFFFFF"/>
          </a:solidFill>
          <a:ln w="12700">
            <a:solidFill>
              <a:srgbClr val="E3E7EE"/>
            </a:solidFill>
            <a:prstDash val="solid"/>
          </a:ln>
        </p:spPr>
      </p:sp>
      <p:sp>
        <p:nvSpPr>
          <p:cNvPr id="22" name="Shape 19"/>
          <p:cNvSpPr/>
          <p:nvPr/>
        </p:nvSpPr>
        <p:spPr>
          <a:xfrm>
            <a:off x="5257800" y="4553712"/>
            <a:ext cx="868680" cy="420624"/>
          </a:xfrm>
          <a:prstGeom prst="roundRect">
            <a:avLst>
              <a:gd name="adj" fmla="val 17391"/>
            </a:avLst>
          </a:prstGeom>
          <a:solidFill>
            <a:srgbClr val="1F3B57"/>
          </a:solidFill>
          <a:ln/>
        </p:spPr>
      </p:sp>
      <p:sp>
        <p:nvSpPr>
          <p:cNvPr id="23" name="Text 20"/>
          <p:cNvSpPr txBox="1"/>
          <p:nvPr/>
        </p:nvSpPr>
        <p:spPr>
          <a:xfrm>
            <a:off x="5257800" y="4553712"/>
            <a:ext cx="8686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A.6.3</a:t>
            </a:r>
            <a:endParaRPr lang="en-US" sz="1100" b="1" dirty="0"/>
          </a:p>
        </p:txBody>
      </p:sp>
      <p:sp>
        <p:nvSpPr>
          <p:cNvPr id="24" name="Text 21"/>
          <p:cNvSpPr txBox="1"/>
          <p:nvPr/>
        </p:nvSpPr>
        <p:spPr>
          <a:xfrm>
            <a:off x="6263640" y="4489704"/>
            <a:ext cx="5120640" cy="320040"/>
          </a:xfrm>
          <a:prstGeom prst="rect">
            <a:avLst/>
          </a:prstGeom>
          <a:noFill/>
          <a:ln/>
        </p:spPr>
        <p:txBody>
          <a:bodyPr wrap="square" lIns="0" tIns="0" rIns="0" bIns="0" rtlCol="0" anchor="ctr"/>
          <a:lstStyle/>
          <a:p>
            <a:pPr marL="0" indent="0" algn="r">
              <a:buNone/>
            </a:pPr>
            <a:r>
              <a:rPr lang="en-US" sz="1100" b="1" dirty="0">
                <a:solidFill>
                  <a:srgbClr val="1F2937"/>
                </a:solidFill>
                <a:latin typeface="Arial" pitchFamily="34" charset="0"/>
                <a:ea typeface="Arial" pitchFamily="34" charset="-122"/>
                <a:cs typeface="Arial" pitchFamily="34" charset="-120"/>
              </a:rPr>
              <a:t>ضعف فعالية برنامج التوعية الأمنية</a:t>
            </a:r>
            <a:endParaRPr lang="en-US" sz="1100" b="1" dirty="0"/>
          </a:p>
        </p:txBody>
      </p:sp>
      <p:sp>
        <p:nvSpPr>
          <p:cNvPr id="25" name="Text 22"/>
          <p:cNvSpPr txBox="1"/>
          <p:nvPr/>
        </p:nvSpPr>
        <p:spPr>
          <a:xfrm>
            <a:off x="6263640" y="4800600"/>
            <a:ext cx="5120640" cy="256032"/>
          </a:xfrm>
          <a:prstGeom prst="rect">
            <a:avLst/>
          </a:prstGeom>
          <a:noFill/>
          <a:ln/>
        </p:spPr>
        <p:txBody>
          <a:bodyPr wrap="square" lIns="0" tIns="0" rIns="0" bIns="0" rtlCol="0" anchor="ctr"/>
          <a:lstStyle/>
          <a:p>
            <a:pPr marL="0" indent="0" algn="r">
              <a:buNone/>
            </a:pPr>
            <a:r>
              <a:rPr lang="en-US" sz="950" b="1" dirty="0">
                <a:solidFill>
                  <a:srgbClr val="B08D27"/>
                </a:solidFill>
                <a:latin typeface="Arial" pitchFamily="34" charset="0"/>
                <a:ea typeface="Arial" pitchFamily="34" charset="-122"/>
                <a:cs typeface="Arial" pitchFamily="34" charset="-120"/>
              </a:rPr>
              <a:t>المهلة: 90 يوماً</a:t>
            </a:r>
            <a:endParaRPr lang="en-US" sz="950" b="1" dirty="0"/>
          </a:p>
        </p:txBody>
      </p:sp>
      <p:sp>
        <p:nvSpPr>
          <p:cNvPr id="26" name="Text 23"/>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27" name="Text 24"/>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23</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الجاهزية للاعتماد</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مدى استعداد البنك لتدقيق شهادة ISO/IEC 27001:2022</a:t>
            </a:r>
            <a:endParaRPr lang="en-US" sz="2800" b="1" dirty="0"/>
          </a:p>
        </p:txBody>
      </p:sp>
      <p:sp>
        <p:nvSpPr>
          <p:cNvPr id="4" name="Shape 2"/>
          <p:cNvSpPr/>
          <p:nvPr/>
        </p:nvSpPr>
        <p:spPr>
          <a:xfrm>
            <a:off x="548640" y="1691640"/>
            <a:ext cx="3520440" cy="1371600"/>
          </a:xfrm>
          <a:prstGeom prst="roundRect">
            <a:avLst>
              <a:gd name="adj" fmla="val 5333"/>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5" name="Text 3"/>
          <p:cNvSpPr txBox="1"/>
          <p:nvPr/>
        </p:nvSpPr>
        <p:spPr>
          <a:xfrm>
            <a:off x="548640" y="1801368"/>
            <a:ext cx="3520440" cy="754380"/>
          </a:xfrm>
          <a:prstGeom prst="rect">
            <a:avLst/>
          </a:prstGeom>
          <a:noFill/>
          <a:ln/>
        </p:spPr>
        <p:txBody>
          <a:bodyPr wrap="square" lIns="0" tIns="0" rIns="0" bIns="0" rtlCol="0" anchor="ctr"/>
          <a:lstStyle/>
          <a:p>
            <a:pPr marL="0" indent="0" algn="ctr">
              <a:buNone/>
            </a:pPr>
            <a:r>
              <a:rPr lang="en-US" sz="3000" b="1" dirty="0">
                <a:solidFill>
                  <a:srgbClr val="3A7D44"/>
                </a:solidFill>
                <a:latin typeface="Arial" pitchFamily="34" charset="0"/>
                <a:ea typeface="Arial" pitchFamily="34" charset="-122"/>
                <a:cs typeface="Arial" pitchFamily="34" charset="-120"/>
              </a:rPr>
              <a:t>16/16</a:t>
            </a:r>
            <a:endParaRPr lang="en-US" sz="3000" b="1" dirty="0"/>
          </a:p>
        </p:txBody>
      </p:sp>
      <p:sp>
        <p:nvSpPr>
          <p:cNvPr id="6" name="Text 4"/>
          <p:cNvSpPr txBox="1"/>
          <p:nvPr/>
        </p:nvSpPr>
        <p:spPr>
          <a:xfrm>
            <a:off x="640080" y="2514600"/>
            <a:ext cx="3337560" cy="480060"/>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وثيقة إلزامية مكتملة</a:t>
            </a:r>
            <a:endParaRPr lang="en-US" sz="1100" b="1" dirty="0"/>
          </a:p>
        </p:txBody>
      </p:sp>
      <p:sp>
        <p:nvSpPr>
          <p:cNvPr id="7" name="Shape 5"/>
          <p:cNvSpPr/>
          <p:nvPr/>
        </p:nvSpPr>
        <p:spPr>
          <a:xfrm>
            <a:off x="4251960" y="1691640"/>
            <a:ext cx="3520440" cy="1371600"/>
          </a:xfrm>
          <a:prstGeom prst="roundRect">
            <a:avLst>
              <a:gd name="adj" fmla="val 5333"/>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8" name="Text 6"/>
          <p:cNvSpPr txBox="1"/>
          <p:nvPr/>
        </p:nvSpPr>
        <p:spPr>
          <a:xfrm>
            <a:off x="4251960" y="1801368"/>
            <a:ext cx="3520440" cy="754380"/>
          </a:xfrm>
          <a:prstGeom prst="rect">
            <a:avLst/>
          </a:prstGeom>
          <a:noFill/>
          <a:ln/>
        </p:spPr>
        <p:txBody>
          <a:bodyPr wrap="square" lIns="0" tIns="0" rIns="0" bIns="0" rtlCol="0" anchor="ctr"/>
          <a:lstStyle/>
          <a:p>
            <a:pPr marL="0" indent="0" algn="ctr">
              <a:buNone/>
            </a:pPr>
            <a:r>
              <a:rPr lang="en-US" sz="3000" b="1" dirty="0">
                <a:solidFill>
                  <a:srgbClr val="B08D27"/>
                </a:solidFill>
                <a:latin typeface="Arial" pitchFamily="34" charset="0"/>
                <a:ea typeface="Arial" pitchFamily="34" charset="-122"/>
                <a:cs typeface="Arial" pitchFamily="34" charset="-120"/>
              </a:rPr>
              <a:t>5</a:t>
            </a:r>
            <a:endParaRPr lang="en-US" sz="3000" b="1" dirty="0"/>
          </a:p>
        </p:txBody>
      </p:sp>
      <p:sp>
        <p:nvSpPr>
          <p:cNvPr id="9" name="Text 7"/>
          <p:cNvSpPr txBox="1"/>
          <p:nvPr/>
        </p:nvSpPr>
        <p:spPr>
          <a:xfrm>
            <a:off x="4343400" y="2514600"/>
            <a:ext cx="3337560" cy="480060"/>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ضوابط حرجة قيد التطبيق الفعلي</a:t>
            </a:r>
            <a:endParaRPr lang="en-US" sz="1100" b="1" dirty="0"/>
          </a:p>
        </p:txBody>
      </p:sp>
      <p:sp>
        <p:nvSpPr>
          <p:cNvPr id="10" name="Shape 8"/>
          <p:cNvSpPr/>
          <p:nvPr/>
        </p:nvSpPr>
        <p:spPr>
          <a:xfrm>
            <a:off x="7955280" y="1691640"/>
            <a:ext cx="3520440" cy="1371600"/>
          </a:xfrm>
          <a:prstGeom prst="roundRect">
            <a:avLst>
              <a:gd name="adj" fmla="val 5333"/>
            </a:avLst>
          </a:prstGeom>
          <a:solidFill>
            <a:srgbClr val="FFFFFF"/>
          </a:solidFill>
          <a:ln w="12700">
            <a:solidFill>
              <a:srgbClr val="E3E7EE"/>
            </a:solidFill>
            <a:prstDash val="solid"/>
          </a:ln>
          <a:effectLst>
            <a:outerShdw blurRad="76200" dist="25400" dir="5400000" algn="bl" rotWithShape="0">
              <a:srgbClr val="888888">
                <a:alpha val="18000"/>
              </a:srgbClr>
            </a:outerShdw>
          </a:effectLst>
        </p:spPr>
      </p:sp>
      <p:sp>
        <p:nvSpPr>
          <p:cNvPr id="11" name="Text 9"/>
          <p:cNvSpPr txBox="1"/>
          <p:nvPr/>
        </p:nvSpPr>
        <p:spPr>
          <a:xfrm>
            <a:off x="7955280" y="1801368"/>
            <a:ext cx="3520440" cy="754380"/>
          </a:xfrm>
          <a:prstGeom prst="rect">
            <a:avLst/>
          </a:prstGeom>
          <a:noFill/>
          <a:ln/>
        </p:spPr>
        <p:txBody>
          <a:bodyPr wrap="square" lIns="0" tIns="0" rIns="0" bIns="0" rtlCol="0" anchor="ctr"/>
          <a:lstStyle/>
          <a:p>
            <a:pPr marL="0" indent="0" algn="ctr">
              <a:buNone/>
            </a:pPr>
            <a:r>
              <a:rPr lang="en-US" sz="3000" b="1" dirty="0">
                <a:solidFill>
                  <a:srgbClr val="B3261E"/>
                </a:solidFill>
                <a:latin typeface="Arial" pitchFamily="34" charset="0"/>
                <a:ea typeface="Arial" pitchFamily="34" charset="-122"/>
                <a:cs typeface="Arial" pitchFamily="34" charset="-120"/>
              </a:rPr>
              <a:t>‏3 إلى 4</a:t>
            </a:r>
            <a:endParaRPr lang="en-US" sz="3000" b="1" dirty="0"/>
          </a:p>
        </p:txBody>
      </p:sp>
      <p:sp>
        <p:nvSpPr>
          <p:cNvPr id="12" name="Text 10"/>
          <p:cNvSpPr txBox="1"/>
          <p:nvPr/>
        </p:nvSpPr>
        <p:spPr>
          <a:xfrm>
            <a:off x="8046720" y="2514600"/>
            <a:ext cx="3337560" cy="480060"/>
          </a:xfrm>
          <a:prstGeom prst="rect">
            <a:avLst/>
          </a:prstGeom>
          <a:noFill/>
          <a:ln/>
        </p:spPr>
        <p:txBody>
          <a:bodyPr wrap="square" lIns="0" tIns="0" rIns="0" bIns="0" rtlCol="0" anchor="ctr"/>
          <a:lstStyle/>
          <a:p>
            <a:pPr marL="0" indent="0" algn="ctr">
              <a:buNone/>
            </a:pPr>
            <a:r>
              <a:rPr lang="en-US" sz="1100" b="1" dirty="0">
                <a:solidFill>
                  <a:srgbClr val="6B7280"/>
                </a:solidFill>
                <a:latin typeface="Arial" pitchFamily="34" charset="0"/>
                <a:ea typeface="Arial" pitchFamily="34" charset="-122"/>
                <a:cs typeface="Arial" pitchFamily="34" charset="-120"/>
              </a:rPr>
              <a:t>أشهر مقترحة قبل تدقيق Stage 1</a:t>
            </a:r>
            <a:endParaRPr lang="en-US" sz="1100" b="1" dirty="0"/>
          </a:p>
        </p:txBody>
      </p:sp>
      <p:sp>
        <p:nvSpPr>
          <p:cNvPr id="13" name="Text 11"/>
          <p:cNvSpPr txBox="1"/>
          <p:nvPr/>
        </p:nvSpPr>
        <p:spPr>
          <a:xfrm>
            <a:off x="548640" y="3383280"/>
            <a:ext cx="11094415" cy="320040"/>
          </a:xfrm>
          <a:prstGeom prst="rect">
            <a:avLst/>
          </a:prstGeom>
          <a:noFill/>
          <a:ln/>
        </p:spPr>
        <p:txBody>
          <a:bodyPr wrap="square" lIns="0" tIns="0" rIns="0" bIns="0" rtlCol="0" anchor="ctr"/>
          <a:lstStyle/>
          <a:p>
            <a:pPr marL="0" indent="0" algn="r">
              <a:buNone/>
            </a:pPr>
            <a:r>
              <a:rPr lang="en-US" sz="1400" b="1" dirty="0">
                <a:solidFill>
                  <a:srgbClr val="1F3B57"/>
                </a:solidFill>
                <a:latin typeface="Arial" pitchFamily="34" charset="0"/>
                <a:ea typeface="Arial" pitchFamily="34" charset="-122"/>
                <a:cs typeface="Arial" pitchFamily="34" charset="-120"/>
              </a:rPr>
              <a:t>التوصية النهائية</a:t>
            </a:r>
            <a:endParaRPr lang="en-US" sz="1400" b="1" dirty="0"/>
          </a:p>
        </p:txBody>
      </p:sp>
      <p:sp>
        <p:nvSpPr>
          <p:cNvPr id="14" name="Shape 12"/>
          <p:cNvSpPr/>
          <p:nvPr/>
        </p:nvSpPr>
        <p:spPr>
          <a:xfrm>
            <a:off x="548640" y="3749040"/>
            <a:ext cx="11094415" cy="1737360"/>
          </a:xfrm>
          <a:prstGeom prst="roundRect">
            <a:avLst>
              <a:gd name="adj" fmla="val 4211"/>
            </a:avLst>
          </a:prstGeom>
          <a:solidFill>
            <a:srgbClr val="1F3B57"/>
          </a:solidFill>
          <a:ln/>
        </p:spPr>
      </p:sp>
      <p:sp>
        <p:nvSpPr>
          <p:cNvPr id="15" name="Text 13"/>
          <p:cNvSpPr txBox="1"/>
          <p:nvPr/>
        </p:nvSpPr>
        <p:spPr>
          <a:xfrm>
            <a:off x="822960" y="3886200"/>
            <a:ext cx="10545775" cy="1463040"/>
          </a:xfrm>
          <a:prstGeom prst="rect">
            <a:avLst/>
          </a:prstGeom>
          <a:noFill/>
          <a:ln/>
        </p:spPr>
        <p:txBody>
          <a:bodyPr wrap="square" lIns="0" tIns="0" rIns="0" bIns="0" rtlCol="0" anchor="ctr"/>
          <a:lstStyle/>
          <a:p>
            <a:pPr marL="0" indent="0" algn="r">
              <a:buNone/>
            </a:pPr>
            <a:r>
              <a:rPr lang="en-US" sz="1300" b="1" dirty="0">
                <a:solidFill>
                  <a:srgbClr val="FFFFFF"/>
                </a:solidFill>
                <a:latin typeface="Arial" pitchFamily="34" charset="0"/>
                <a:ea typeface="Arial" pitchFamily="34" charset="-122"/>
                <a:cs typeface="Arial" pitchFamily="34" charset="-120"/>
              </a:rPr>
              <a:t>استكملت حزمة الوثائق جميع المتطلبات الإلزامية للمواصفة، إلا أن الضوابط حديثة الاعتماد (إدارة التغيير، أمن الحوسبة السحابية، التوعية الأمنية، إدارة الثغرات) تحتاج فترة تشغيل فعلية لا تقل عن ‏3 إلى 4 أشهر لإثبات فعاليتها أمام المدقق الخارجي، مع ضرورة تنفيذ تدقيق داخلي متابعة وتوثيق اجتماع مراجعة إدارة رسمي قبل التقدم لتدقيق المرحلة الأولى (Stage 1).</a:t>
            </a:r>
            <a:endParaRPr lang="en-US" sz="1300" b="1" dirty="0"/>
          </a:p>
        </p:txBody>
      </p:sp>
      <p:sp>
        <p:nvSpPr>
          <p:cNvPr id="16" name="Text 14"/>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17" name="Text 15"/>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24</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دليل ترابط الوثائق</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من تحليل الفجوات إلى الجاهزية للاعتماد</a:t>
            </a:r>
            <a:endParaRPr lang="en-US" sz="2800" dirty="0"/>
          </a:p>
        </p:txBody>
      </p:sp>
      <p:sp>
        <p:nvSpPr>
          <p:cNvPr id="4" name="Shape 2"/>
          <p:cNvSpPr/>
          <p:nvPr/>
        </p:nvSpPr>
        <p:spPr>
          <a:xfrm>
            <a:off x="10168128" y="2880360"/>
            <a:ext cx="1298448" cy="1051560"/>
          </a:xfrm>
          <a:prstGeom prst="roundRect">
            <a:avLst>
              <a:gd name="adj" fmla="val 6957"/>
            </a:avLst>
          </a:prstGeom>
          <a:solidFill>
            <a:srgbClr val="1F3B57"/>
          </a:solidFill>
          <a:ln/>
          <a:effectLst>
            <a:outerShdw blurRad="50800" dist="25400" dir="5400000" algn="bl" rotWithShape="0">
              <a:srgbClr val="888888">
                <a:alpha val="15000"/>
              </a:srgbClr>
            </a:outerShdw>
          </a:effectLst>
        </p:spPr>
      </p:sp>
      <p:sp>
        <p:nvSpPr>
          <p:cNvPr id="5" name="Text 3"/>
          <p:cNvSpPr txBox="1"/>
          <p:nvPr/>
        </p:nvSpPr>
        <p:spPr>
          <a:xfrm>
            <a:off x="10168128"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0213848"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تحليل الفجوات</a:t>
            </a:r>
            <a:endParaRPr lang="en-US" sz="950" dirty="0"/>
          </a:p>
        </p:txBody>
      </p:sp>
      <p:sp>
        <p:nvSpPr>
          <p:cNvPr id="7" name="Shape 5"/>
          <p:cNvSpPr/>
          <p:nvPr/>
        </p:nvSpPr>
        <p:spPr>
          <a:xfrm>
            <a:off x="10094976" y="3291840"/>
            <a:ext cx="64008" cy="228600"/>
          </a:xfrm>
          <a:prstGeom prst="leftArrow">
            <a:avLst/>
          </a:prstGeom>
          <a:solidFill>
            <a:srgbClr val="6B7280"/>
          </a:solidFill>
          <a:ln/>
        </p:spPr>
      </p:sp>
      <p:sp>
        <p:nvSpPr>
          <p:cNvPr id="8" name="Shape 6"/>
          <p:cNvSpPr/>
          <p:nvPr/>
        </p:nvSpPr>
        <p:spPr>
          <a:xfrm>
            <a:off x="8787384" y="2880360"/>
            <a:ext cx="1298448" cy="1051560"/>
          </a:xfrm>
          <a:prstGeom prst="roundRect">
            <a:avLst>
              <a:gd name="adj" fmla="val 6957"/>
            </a:avLst>
          </a:prstGeom>
          <a:solidFill>
            <a:srgbClr val="B08D27"/>
          </a:solidFill>
          <a:ln/>
          <a:effectLst>
            <a:outerShdw blurRad="50800" dist="25400" dir="5400000" algn="bl" rotWithShape="0">
              <a:srgbClr val="888888">
                <a:alpha val="15000"/>
              </a:srgbClr>
            </a:outerShdw>
          </a:effectLst>
        </p:spPr>
      </p:sp>
      <p:sp>
        <p:nvSpPr>
          <p:cNvPr id="9" name="Text 7"/>
          <p:cNvSpPr txBox="1"/>
          <p:nvPr/>
        </p:nvSpPr>
        <p:spPr>
          <a:xfrm>
            <a:off x="8787384"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8833104"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السياق والنطاق</a:t>
            </a:r>
            <a:endParaRPr lang="en-US" sz="950" dirty="0"/>
          </a:p>
        </p:txBody>
      </p:sp>
      <p:sp>
        <p:nvSpPr>
          <p:cNvPr id="11" name="Shape 9"/>
          <p:cNvSpPr/>
          <p:nvPr/>
        </p:nvSpPr>
        <p:spPr>
          <a:xfrm>
            <a:off x="8714232" y="3291840"/>
            <a:ext cx="64008" cy="228600"/>
          </a:xfrm>
          <a:prstGeom prst="leftArrow">
            <a:avLst/>
          </a:prstGeom>
          <a:solidFill>
            <a:srgbClr val="6B7280"/>
          </a:solidFill>
          <a:ln/>
        </p:spPr>
      </p:sp>
      <p:sp>
        <p:nvSpPr>
          <p:cNvPr id="12" name="Shape 10"/>
          <p:cNvSpPr/>
          <p:nvPr/>
        </p:nvSpPr>
        <p:spPr>
          <a:xfrm>
            <a:off x="7406640" y="2880360"/>
            <a:ext cx="1298448" cy="1051560"/>
          </a:xfrm>
          <a:prstGeom prst="roundRect">
            <a:avLst>
              <a:gd name="adj" fmla="val 6957"/>
            </a:avLst>
          </a:prstGeom>
          <a:solidFill>
            <a:srgbClr val="1F3B57"/>
          </a:solidFill>
          <a:ln/>
          <a:effectLst>
            <a:outerShdw blurRad="50800" dist="25400" dir="5400000" algn="bl" rotWithShape="0">
              <a:srgbClr val="888888">
                <a:alpha val="15000"/>
              </a:srgbClr>
            </a:outerShdw>
          </a:effectLst>
        </p:spPr>
      </p:sp>
      <p:sp>
        <p:nvSpPr>
          <p:cNvPr id="13" name="Text 11"/>
          <p:cNvSpPr txBox="1"/>
          <p:nvPr/>
        </p:nvSpPr>
        <p:spPr>
          <a:xfrm>
            <a:off x="7406640"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7452360"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السياسة والأهداف</a:t>
            </a:r>
            <a:endParaRPr lang="en-US" sz="950" dirty="0"/>
          </a:p>
        </p:txBody>
      </p:sp>
      <p:sp>
        <p:nvSpPr>
          <p:cNvPr id="15" name="Shape 13"/>
          <p:cNvSpPr/>
          <p:nvPr/>
        </p:nvSpPr>
        <p:spPr>
          <a:xfrm>
            <a:off x="7333488" y="3291840"/>
            <a:ext cx="64008" cy="228600"/>
          </a:xfrm>
          <a:prstGeom prst="leftArrow">
            <a:avLst/>
          </a:prstGeom>
          <a:solidFill>
            <a:srgbClr val="6B7280"/>
          </a:solidFill>
          <a:ln/>
        </p:spPr>
      </p:sp>
      <p:sp>
        <p:nvSpPr>
          <p:cNvPr id="16" name="Shape 14"/>
          <p:cNvSpPr/>
          <p:nvPr/>
        </p:nvSpPr>
        <p:spPr>
          <a:xfrm>
            <a:off x="6025896" y="2880360"/>
            <a:ext cx="1298448" cy="1051560"/>
          </a:xfrm>
          <a:prstGeom prst="roundRect">
            <a:avLst>
              <a:gd name="adj" fmla="val 6957"/>
            </a:avLst>
          </a:prstGeom>
          <a:solidFill>
            <a:srgbClr val="B08D27"/>
          </a:solidFill>
          <a:ln/>
          <a:effectLst>
            <a:outerShdw blurRad="50800" dist="25400" dir="5400000" algn="bl" rotWithShape="0">
              <a:srgbClr val="888888">
                <a:alpha val="15000"/>
              </a:srgbClr>
            </a:outerShdw>
          </a:effectLst>
        </p:spPr>
      </p:sp>
      <p:sp>
        <p:nvSpPr>
          <p:cNvPr id="17" name="Text 15"/>
          <p:cNvSpPr txBox="1"/>
          <p:nvPr/>
        </p:nvSpPr>
        <p:spPr>
          <a:xfrm>
            <a:off x="6025896"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6071616"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سجل الأصول</a:t>
            </a:r>
            <a:endParaRPr lang="en-US" sz="950" dirty="0"/>
          </a:p>
        </p:txBody>
      </p:sp>
      <p:sp>
        <p:nvSpPr>
          <p:cNvPr id="19" name="Shape 17"/>
          <p:cNvSpPr/>
          <p:nvPr/>
        </p:nvSpPr>
        <p:spPr>
          <a:xfrm>
            <a:off x="5952744" y="3291840"/>
            <a:ext cx="64008" cy="228600"/>
          </a:xfrm>
          <a:prstGeom prst="leftArrow">
            <a:avLst/>
          </a:prstGeom>
          <a:solidFill>
            <a:srgbClr val="6B7280"/>
          </a:solidFill>
          <a:ln/>
        </p:spPr>
      </p:sp>
      <p:sp>
        <p:nvSpPr>
          <p:cNvPr id="20" name="Shape 18"/>
          <p:cNvSpPr/>
          <p:nvPr/>
        </p:nvSpPr>
        <p:spPr>
          <a:xfrm>
            <a:off x="4645152" y="2880360"/>
            <a:ext cx="1298448" cy="1051560"/>
          </a:xfrm>
          <a:prstGeom prst="roundRect">
            <a:avLst>
              <a:gd name="adj" fmla="val 6957"/>
            </a:avLst>
          </a:prstGeom>
          <a:solidFill>
            <a:srgbClr val="1F3B57"/>
          </a:solidFill>
          <a:ln/>
          <a:effectLst>
            <a:outerShdw blurRad="50800" dist="25400" dir="5400000" algn="bl" rotWithShape="0">
              <a:srgbClr val="888888">
                <a:alpha val="15000"/>
              </a:srgbClr>
            </a:outerShdw>
          </a:effectLst>
        </p:spPr>
      </p:sp>
      <p:sp>
        <p:nvSpPr>
          <p:cNvPr id="21" name="Text 19"/>
          <p:cNvSpPr txBox="1"/>
          <p:nvPr/>
        </p:nvSpPr>
        <p:spPr>
          <a:xfrm>
            <a:off x="4645152"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4690872"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تقييم المخاطر</a:t>
            </a:r>
            <a:endParaRPr lang="en-US" sz="950" dirty="0"/>
          </a:p>
        </p:txBody>
      </p:sp>
      <p:sp>
        <p:nvSpPr>
          <p:cNvPr id="23" name="Shape 21"/>
          <p:cNvSpPr/>
          <p:nvPr/>
        </p:nvSpPr>
        <p:spPr>
          <a:xfrm>
            <a:off x="4572000" y="3291840"/>
            <a:ext cx="64008" cy="228600"/>
          </a:xfrm>
          <a:prstGeom prst="leftArrow">
            <a:avLst/>
          </a:prstGeom>
          <a:solidFill>
            <a:srgbClr val="6B7280"/>
          </a:solidFill>
          <a:ln/>
        </p:spPr>
      </p:sp>
      <p:sp>
        <p:nvSpPr>
          <p:cNvPr id="24" name="Shape 22"/>
          <p:cNvSpPr/>
          <p:nvPr/>
        </p:nvSpPr>
        <p:spPr>
          <a:xfrm>
            <a:off x="3264408" y="2880360"/>
            <a:ext cx="1298448" cy="1051560"/>
          </a:xfrm>
          <a:prstGeom prst="roundRect">
            <a:avLst>
              <a:gd name="adj" fmla="val 6957"/>
            </a:avLst>
          </a:prstGeom>
          <a:solidFill>
            <a:srgbClr val="B08D27"/>
          </a:solidFill>
          <a:ln/>
          <a:effectLst>
            <a:outerShdw blurRad="50800" dist="25400" dir="5400000" algn="bl" rotWithShape="0">
              <a:srgbClr val="888888">
                <a:alpha val="15000"/>
              </a:srgbClr>
            </a:outerShdw>
          </a:effectLst>
        </p:spPr>
      </p:sp>
      <p:sp>
        <p:nvSpPr>
          <p:cNvPr id="25" name="Text 23"/>
          <p:cNvSpPr txBox="1"/>
          <p:nvPr/>
        </p:nvSpPr>
        <p:spPr>
          <a:xfrm>
            <a:off x="3264408"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3310128"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SoA والسياسات</a:t>
            </a:r>
            <a:endParaRPr lang="en-US" sz="950" dirty="0"/>
          </a:p>
        </p:txBody>
      </p:sp>
      <p:sp>
        <p:nvSpPr>
          <p:cNvPr id="27" name="Shape 25"/>
          <p:cNvSpPr/>
          <p:nvPr/>
        </p:nvSpPr>
        <p:spPr>
          <a:xfrm>
            <a:off x="3191256" y="3291840"/>
            <a:ext cx="64008" cy="228600"/>
          </a:xfrm>
          <a:prstGeom prst="leftArrow">
            <a:avLst/>
          </a:prstGeom>
          <a:solidFill>
            <a:srgbClr val="6B7280"/>
          </a:solidFill>
          <a:ln/>
        </p:spPr>
      </p:sp>
      <p:sp>
        <p:nvSpPr>
          <p:cNvPr id="28" name="Shape 26"/>
          <p:cNvSpPr/>
          <p:nvPr/>
        </p:nvSpPr>
        <p:spPr>
          <a:xfrm>
            <a:off x="1883664" y="2880360"/>
            <a:ext cx="1298448" cy="1051560"/>
          </a:xfrm>
          <a:prstGeom prst="roundRect">
            <a:avLst>
              <a:gd name="adj" fmla="val 6957"/>
            </a:avLst>
          </a:prstGeom>
          <a:solidFill>
            <a:srgbClr val="1F3B57"/>
          </a:solidFill>
          <a:ln/>
          <a:effectLst>
            <a:outerShdw blurRad="50800" dist="25400" dir="5400000" algn="bl" rotWithShape="0">
              <a:srgbClr val="888888">
                <a:alpha val="15000"/>
              </a:srgbClr>
            </a:outerShdw>
          </a:effectLst>
        </p:spPr>
      </p:sp>
      <p:sp>
        <p:nvSpPr>
          <p:cNvPr id="29" name="Text 27"/>
          <p:cNvSpPr txBox="1"/>
          <p:nvPr/>
        </p:nvSpPr>
        <p:spPr>
          <a:xfrm>
            <a:off x="1883664"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0" name="Text 28"/>
          <p:cNvSpPr txBox="1"/>
          <p:nvPr/>
        </p:nvSpPr>
        <p:spPr>
          <a:xfrm>
            <a:off x="1929384"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المراقبة والتدقيق</a:t>
            </a:r>
            <a:endParaRPr lang="en-US" sz="950" dirty="0"/>
          </a:p>
        </p:txBody>
      </p:sp>
      <p:sp>
        <p:nvSpPr>
          <p:cNvPr id="31" name="Shape 29"/>
          <p:cNvSpPr/>
          <p:nvPr/>
        </p:nvSpPr>
        <p:spPr>
          <a:xfrm>
            <a:off x="1810512" y="3291840"/>
            <a:ext cx="64008" cy="228600"/>
          </a:xfrm>
          <a:prstGeom prst="leftArrow">
            <a:avLst/>
          </a:prstGeom>
          <a:solidFill>
            <a:srgbClr val="6B7280"/>
          </a:solidFill>
          <a:ln/>
        </p:spPr>
      </p:sp>
      <p:sp>
        <p:nvSpPr>
          <p:cNvPr id="32" name="Shape 30"/>
          <p:cNvSpPr/>
          <p:nvPr/>
        </p:nvSpPr>
        <p:spPr>
          <a:xfrm>
            <a:off x="502920" y="2880360"/>
            <a:ext cx="1298448" cy="1051560"/>
          </a:xfrm>
          <a:prstGeom prst="roundRect">
            <a:avLst>
              <a:gd name="adj" fmla="val 6957"/>
            </a:avLst>
          </a:prstGeom>
          <a:solidFill>
            <a:srgbClr val="B08D27"/>
          </a:solidFill>
          <a:ln/>
          <a:effectLst>
            <a:outerShdw blurRad="50800" dist="25400" dir="5400000" algn="bl" rotWithShape="0">
              <a:srgbClr val="888888">
                <a:alpha val="15000"/>
              </a:srgbClr>
            </a:outerShdw>
          </a:effectLst>
        </p:spPr>
      </p:sp>
      <p:sp>
        <p:nvSpPr>
          <p:cNvPr id="33" name="Text 31"/>
          <p:cNvSpPr txBox="1"/>
          <p:nvPr/>
        </p:nvSpPr>
        <p:spPr>
          <a:xfrm>
            <a:off x="502920" y="2953512"/>
            <a:ext cx="1298448"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34" name="Text 32"/>
          <p:cNvSpPr txBox="1"/>
          <p:nvPr/>
        </p:nvSpPr>
        <p:spPr>
          <a:xfrm>
            <a:off x="548640" y="3264408"/>
            <a:ext cx="1207008" cy="621792"/>
          </a:xfrm>
          <a:prstGeom prst="rect">
            <a:avLst/>
          </a:prstGeom>
          <a:noFill/>
          <a:ln/>
        </p:spPr>
        <p:txBody>
          <a:bodyPr wrap="square" lIns="0" tIns="0" rIns="0" bIns="0" rtlCol="0" anchor="t"/>
          <a:lstStyle/>
          <a:p>
            <a:pPr marL="0" indent="0" algn="ctr">
              <a:buNone/>
            </a:pPr>
            <a:r>
              <a:rPr lang="en-US" sz="950" b="1" dirty="0">
                <a:solidFill>
                  <a:srgbClr val="FFFFFF"/>
                </a:solidFill>
                <a:latin typeface="Arial" pitchFamily="34" charset="0"/>
                <a:ea typeface="Arial" pitchFamily="34" charset="-122"/>
                <a:cs typeface="Arial" pitchFamily="34" charset="-120"/>
              </a:rPr>
              <a:t>الجاهزية للاعتماد</a:t>
            </a:r>
            <a:endParaRPr lang="en-US" sz="950" dirty="0"/>
          </a:p>
        </p:txBody>
      </p:sp>
      <p:sp>
        <p:nvSpPr>
          <p:cNvPr id="35" name="Text 33"/>
          <p:cNvSpPr txBox="1"/>
          <p:nvPr/>
        </p:nvSpPr>
        <p:spPr>
          <a:xfrm>
            <a:off x="548640" y="1554480"/>
            <a:ext cx="11094415" cy="1188720"/>
          </a:xfrm>
          <a:prstGeom prst="rect">
            <a:avLst/>
          </a:prstGeom>
          <a:noFill/>
          <a:ln/>
        </p:spPr>
        <p:txBody>
          <a:bodyPr wrap="square" lIns="0" tIns="0" rIns="0" bIns="0" rtlCol="0" anchor="t"/>
          <a:lstStyle/>
          <a:p>
            <a:pPr marL="0" indent="0" algn="r" rtl="1">
              <a:buNone/>
            </a:pPr>
            <a:r>
              <a:rPr lang="en-US" sz="1300" dirty="0">
                <a:solidFill>
                  <a:srgbClr val="1F2937"/>
                </a:solidFill>
                <a:latin typeface="Arial" pitchFamily="34" charset="0"/>
                <a:ea typeface="Arial" pitchFamily="34" charset="-122"/>
                <a:cs typeface="Arial" pitchFamily="34" charset="-120"/>
              </a:rPr>
              <a:t>تُشكّل هذه السلسلة </a:t>
            </a:r>
            <a:r>
              <a:rPr lang="en-US" sz="1300" dirty="0" err="1">
                <a:solidFill>
                  <a:srgbClr val="1F2937"/>
                </a:solidFill>
                <a:latin typeface="Arial" pitchFamily="34" charset="0"/>
                <a:ea typeface="Arial" pitchFamily="34" charset="-122"/>
                <a:cs typeface="Arial" pitchFamily="34" charset="-120"/>
              </a:rPr>
              <a:t>دورة</a:t>
            </a:r>
            <a:r>
              <a:rPr lang="en-US" sz="1300" dirty="0">
                <a:solidFill>
                  <a:srgbClr val="1F2937"/>
                </a:solidFill>
                <a:latin typeface="Arial" pitchFamily="34" charset="0"/>
                <a:ea typeface="Arial" pitchFamily="34" charset="-122"/>
                <a:cs typeface="Arial" pitchFamily="34" charset="-120"/>
              </a:rPr>
              <a:t> </a:t>
            </a:r>
            <a:r>
              <a:rPr lang="en-US" sz="1300" dirty="0" err="1">
                <a:solidFill>
                  <a:srgbClr val="1F2937"/>
                </a:solidFill>
                <a:latin typeface="Arial" pitchFamily="34" charset="0"/>
                <a:ea typeface="Arial" pitchFamily="34" charset="-122"/>
                <a:cs typeface="Arial" pitchFamily="34" charset="-120"/>
              </a:rPr>
              <a:t>متكاملة</a:t>
            </a:r>
            <a:r>
              <a:rPr lang="en-US" sz="1300" dirty="0">
                <a:solidFill>
                  <a:srgbClr val="1F2937"/>
                </a:solidFill>
                <a:latin typeface="Arial" pitchFamily="34" charset="0"/>
                <a:ea typeface="Arial" pitchFamily="34" charset="-122"/>
                <a:cs typeface="Arial" pitchFamily="34" charset="-120"/>
              </a:rPr>
              <a:t>: يحدد تحليل الفجوات نقطة البداية، ويبني السياق والنطاق حدود العمل، وتترجم السياسة والأهداف التزام الإدارة، ويؤسس سجل الأصول لتقييم المخاطر، الذي يُحدد بدوره الضوابط الواجب تطبيقها ضمن SoA والسياسات التنفيذية، وتتحقق المراقبة والتدقيق من فعالية كل ذلك، تمهيداً لتقييم الجاهزية النهائية للاعتماد.</a:t>
            </a:r>
            <a:endParaRPr lang="en-US" sz="1300" dirty="0"/>
          </a:p>
        </p:txBody>
      </p:sp>
      <p:sp>
        <p:nvSpPr>
          <p:cNvPr id="36" name="Text 34"/>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37" name="Text 35"/>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25</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التحديات والدروس المستفادة</a:t>
            </a:r>
            <a:endParaRPr lang="en-US" sz="1300" b="1"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أهم ما واجهناه أثناء تنفيذ المشروع</a:t>
            </a:r>
            <a:endParaRPr lang="en-US" sz="2800" b="1" dirty="0"/>
          </a:p>
        </p:txBody>
      </p:sp>
      <p:sp>
        <p:nvSpPr>
          <p:cNvPr id="4" name="Shape 2"/>
          <p:cNvSpPr/>
          <p:nvPr/>
        </p:nvSpPr>
        <p:spPr>
          <a:xfrm>
            <a:off x="548640" y="1737360"/>
            <a:ext cx="2697480" cy="2286000"/>
          </a:xfrm>
          <a:prstGeom prst="roundRect">
            <a:avLst>
              <a:gd name="adj" fmla="val 3200"/>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5" name="Shape 3"/>
          <p:cNvSpPr/>
          <p:nvPr/>
        </p:nvSpPr>
        <p:spPr>
          <a:xfrm>
            <a:off x="1641348" y="1920240"/>
            <a:ext cx="512064" cy="512064"/>
          </a:xfrm>
          <a:prstGeom prst="ellipse">
            <a:avLst/>
          </a:prstGeom>
          <a:solidFill>
            <a:srgbClr val="B08D27"/>
          </a:solidFill>
          <a:ln/>
        </p:spPr>
      </p:sp>
      <p:sp>
        <p:nvSpPr>
          <p:cNvPr id="6" name="Text 4"/>
          <p:cNvSpPr txBox="1"/>
          <p:nvPr/>
        </p:nvSpPr>
        <p:spPr>
          <a:xfrm>
            <a:off x="1641348" y="1920240"/>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b="1" dirty="0"/>
          </a:p>
        </p:txBody>
      </p:sp>
      <p:sp>
        <p:nvSpPr>
          <p:cNvPr id="7" name="Text 5"/>
          <p:cNvSpPr txBox="1"/>
          <p:nvPr/>
        </p:nvSpPr>
        <p:spPr>
          <a:xfrm>
            <a:off x="658368" y="2606040"/>
            <a:ext cx="2478024" cy="36576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فجوة التوثيق</a:t>
            </a:r>
            <a:endParaRPr lang="en-US" sz="1250" b="1" dirty="0"/>
          </a:p>
        </p:txBody>
      </p:sp>
      <p:sp>
        <p:nvSpPr>
          <p:cNvPr id="8" name="Text 6"/>
          <p:cNvSpPr txBox="1"/>
          <p:nvPr/>
        </p:nvSpPr>
        <p:spPr>
          <a:xfrm>
            <a:off x="658368" y="3017520"/>
            <a:ext cx="2478024" cy="914400"/>
          </a:xfrm>
          <a:prstGeom prst="rect">
            <a:avLst/>
          </a:prstGeom>
          <a:noFill/>
          <a:ln/>
        </p:spPr>
        <p:txBody>
          <a:bodyPr wrap="square" lIns="0" tIns="0" rIns="0" bIns="0" rtlCol="0" anchor="t"/>
          <a:lstStyle/>
          <a:p>
            <a:pPr marL="0" indent="0" algn="ctr">
              <a:buNone/>
            </a:pPr>
            <a:r>
              <a:rPr lang="en-US" sz="1000" b="1" dirty="0">
                <a:solidFill>
                  <a:srgbClr val="1F2937"/>
                </a:solidFill>
                <a:latin typeface="Arial" pitchFamily="34" charset="0"/>
                <a:ea typeface="Arial" pitchFamily="34" charset="-122"/>
                <a:cs typeface="Arial" pitchFamily="34" charset="-120"/>
              </a:rPr>
              <a:t>غياب توثيق رسمي لمعظم الممارسات الأمنية القائمة رغم وجودها فعلياً</a:t>
            </a:r>
            <a:endParaRPr lang="en-US" sz="1000" b="1" dirty="0"/>
          </a:p>
        </p:txBody>
      </p:sp>
      <p:sp>
        <p:nvSpPr>
          <p:cNvPr id="9" name="Shape 7"/>
          <p:cNvSpPr/>
          <p:nvPr/>
        </p:nvSpPr>
        <p:spPr>
          <a:xfrm>
            <a:off x="3429000" y="1737360"/>
            <a:ext cx="2697480" cy="2286000"/>
          </a:xfrm>
          <a:prstGeom prst="roundRect">
            <a:avLst>
              <a:gd name="adj" fmla="val 3200"/>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10" name="Shape 8"/>
          <p:cNvSpPr/>
          <p:nvPr/>
        </p:nvSpPr>
        <p:spPr>
          <a:xfrm>
            <a:off x="4521708" y="1920240"/>
            <a:ext cx="512064" cy="512064"/>
          </a:xfrm>
          <a:prstGeom prst="ellipse">
            <a:avLst/>
          </a:prstGeom>
          <a:solidFill>
            <a:srgbClr val="B08D27"/>
          </a:solidFill>
          <a:ln/>
        </p:spPr>
      </p:sp>
      <p:sp>
        <p:nvSpPr>
          <p:cNvPr id="11" name="Text 9"/>
          <p:cNvSpPr txBox="1"/>
          <p:nvPr/>
        </p:nvSpPr>
        <p:spPr>
          <a:xfrm>
            <a:off x="4521708" y="1920240"/>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b="1" dirty="0"/>
          </a:p>
        </p:txBody>
      </p:sp>
      <p:sp>
        <p:nvSpPr>
          <p:cNvPr id="12" name="Text 10"/>
          <p:cNvSpPr txBox="1"/>
          <p:nvPr/>
        </p:nvSpPr>
        <p:spPr>
          <a:xfrm>
            <a:off x="3538728" y="2606040"/>
            <a:ext cx="2478024" cy="36576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مقاومة التغيير الثقافي</a:t>
            </a:r>
            <a:endParaRPr lang="en-US" sz="1250" b="1" dirty="0"/>
          </a:p>
        </p:txBody>
      </p:sp>
      <p:sp>
        <p:nvSpPr>
          <p:cNvPr id="13" name="Text 11"/>
          <p:cNvSpPr txBox="1"/>
          <p:nvPr/>
        </p:nvSpPr>
        <p:spPr>
          <a:xfrm>
            <a:off x="3538728" y="3017520"/>
            <a:ext cx="2478024" cy="914400"/>
          </a:xfrm>
          <a:prstGeom prst="rect">
            <a:avLst/>
          </a:prstGeom>
          <a:noFill/>
          <a:ln/>
        </p:spPr>
        <p:txBody>
          <a:bodyPr wrap="square" lIns="0" tIns="0" rIns="0" bIns="0" rtlCol="0" anchor="t"/>
          <a:lstStyle/>
          <a:p>
            <a:pPr marL="0" indent="0" algn="ctr">
              <a:buNone/>
            </a:pPr>
            <a:r>
              <a:rPr lang="en-US" sz="1000" b="1" dirty="0">
                <a:solidFill>
                  <a:srgbClr val="1F2937"/>
                </a:solidFill>
                <a:latin typeface="Arial" pitchFamily="34" charset="0"/>
                <a:ea typeface="Arial" pitchFamily="34" charset="-122"/>
                <a:cs typeface="Arial" pitchFamily="34" charset="-120"/>
              </a:rPr>
              <a:t>تحدي ترسيخ ثقافة الأمن أولاً لدى بعض الموظفين القدامى</a:t>
            </a:r>
            <a:endParaRPr lang="en-US" sz="1000" b="1" dirty="0"/>
          </a:p>
        </p:txBody>
      </p:sp>
      <p:sp>
        <p:nvSpPr>
          <p:cNvPr id="14" name="Shape 12"/>
          <p:cNvSpPr/>
          <p:nvPr/>
        </p:nvSpPr>
        <p:spPr>
          <a:xfrm>
            <a:off x="6309360" y="1737360"/>
            <a:ext cx="2697480" cy="2286000"/>
          </a:xfrm>
          <a:prstGeom prst="roundRect">
            <a:avLst>
              <a:gd name="adj" fmla="val 3200"/>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15" name="Shape 13"/>
          <p:cNvSpPr/>
          <p:nvPr/>
        </p:nvSpPr>
        <p:spPr>
          <a:xfrm>
            <a:off x="7402068" y="1920240"/>
            <a:ext cx="512064" cy="512064"/>
          </a:xfrm>
          <a:prstGeom prst="ellipse">
            <a:avLst/>
          </a:prstGeom>
          <a:solidFill>
            <a:srgbClr val="B08D27"/>
          </a:solidFill>
          <a:ln/>
        </p:spPr>
      </p:sp>
      <p:sp>
        <p:nvSpPr>
          <p:cNvPr id="16" name="Text 14"/>
          <p:cNvSpPr txBox="1"/>
          <p:nvPr/>
        </p:nvSpPr>
        <p:spPr>
          <a:xfrm>
            <a:off x="7402068" y="1920240"/>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b="1" dirty="0"/>
          </a:p>
        </p:txBody>
      </p:sp>
      <p:sp>
        <p:nvSpPr>
          <p:cNvPr id="17" name="Text 15"/>
          <p:cNvSpPr txBox="1"/>
          <p:nvPr/>
        </p:nvSpPr>
        <p:spPr>
          <a:xfrm>
            <a:off x="6419088" y="2606040"/>
            <a:ext cx="2478024" cy="36576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حجم الأصول والمخاطر</a:t>
            </a:r>
            <a:endParaRPr lang="en-US" sz="1250" b="1" dirty="0"/>
          </a:p>
        </p:txBody>
      </p:sp>
      <p:sp>
        <p:nvSpPr>
          <p:cNvPr id="18" name="Text 16"/>
          <p:cNvSpPr txBox="1"/>
          <p:nvPr/>
        </p:nvSpPr>
        <p:spPr>
          <a:xfrm>
            <a:off x="6419088" y="3017520"/>
            <a:ext cx="2478024" cy="914400"/>
          </a:xfrm>
          <a:prstGeom prst="rect">
            <a:avLst/>
          </a:prstGeom>
          <a:noFill/>
          <a:ln/>
        </p:spPr>
        <p:txBody>
          <a:bodyPr wrap="square" lIns="0" tIns="0" rIns="0" bIns="0" rtlCol="0" anchor="t"/>
          <a:lstStyle/>
          <a:p>
            <a:pPr marL="0" indent="0" algn="ctr">
              <a:buNone/>
            </a:pPr>
            <a:r>
              <a:rPr lang="en-US" sz="1000" b="1" dirty="0">
                <a:solidFill>
                  <a:srgbClr val="1F2937"/>
                </a:solidFill>
                <a:latin typeface="Arial" pitchFamily="34" charset="0"/>
                <a:ea typeface="Arial" pitchFamily="34" charset="-122"/>
                <a:cs typeface="Arial" pitchFamily="34" charset="-120"/>
              </a:rPr>
              <a:t>تعقيد حصر وتصنيف عشرات الأصول الحرجة عبر إدارات متعددة</a:t>
            </a:r>
            <a:endParaRPr lang="en-US" sz="1000" b="1" dirty="0"/>
          </a:p>
        </p:txBody>
      </p:sp>
      <p:sp>
        <p:nvSpPr>
          <p:cNvPr id="19" name="Shape 17"/>
          <p:cNvSpPr/>
          <p:nvPr/>
        </p:nvSpPr>
        <p:spPr>
          <a:xfrm>
            <a:off x="9189720" y="1737360"/>
            <a:ext cx="2697480" cy="2286000"/>
          </a:xfrm>
          <a:prstGeom prst="roundRect">
            <a:avLst>
              <a:gd name="adj" fmla="val 3200"/>
            </a:avLst>
          </a:prstGeom>
          <a:solidFill>
            <a:srgbClr val="FFFFFF"/>
          </a:solidFill>
          <a:ln w="12700">
            <a:solidFill>
              <a:srgbClr val="E3E7EE"/>
            </a:solidFill>
            <a:prstDash val="solid"/>
          </a:ln>
          <a:effectLst>
            <a:outerShdw blurRad="50800" dist="25400" dir="5400000" algn="bl" rotWithShape="0">
              <a:srgbClr val="888888">
                <a:alpha val="15000"/>
              </a:srgbClr>
            </a:outerShdw>
          </a:effectLst>
        </p:spPr>
      </p:sp>
      <p:sp>
        <p:nvSpPr>
          <p:cNvPr id="20" name="Shape 18"/>
          <p:cNvSpPr/>
          <p:nvPr/>
        </p:nvSpPr>
        <p:spPr>
          <a:xfrm>
            <a:off x="10282428" y="1920240"/>
            <a:ext cx="512064" cy="512064"/>
          </a:xfrm>
          <a:prstGeom prst="ellipse">
            <a:avLst/>
          </a:prstGeom>
          <a:solidFill>
            <a:srgbClr val="B08D27"/>
          </a:solidFill>
          <a:ln/>
        </p:spPr>
      </p:sp>
      <p:sp>
        <p:nvSpPr>
          <p:cNvPr id="21" name="Text 19"/>
          <p:cNvSpPr txBox="1"/>
          <p:nvPr/>
        </p:nvSpPr>
        <p:spPr>
          <a:xfrm>
            <a:off x="10282428" y="1920240"/>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b="1" dirty="0"/>
          </a:p>
        </p:txBody>
      </p:sp>
      <p:sp>
        <p:nvSpPr>
          <p:cNvPr id="22" name="Text 20"/>
          <p:cNvSpPr txBox="1"/>
          <p:nvPr/>
        </p:nvSpPr>
        <p:spPr>
          <a:xfrm>
            <a:off x="9299448" y="2606040"/>
            <a:ext cx="2478024" cy="365760"/>
          </a:xfrm>
          <a:prstGeom prst="rect">
            <a:avLst/>
          </a:prstGeom>
          <a:noFill/>
          <a:ln/>
        </p:spPr>
        <p:txBody>
          <a:bodyPr wrap="square" lIns="0" tIns="0" rIns="0" bIns="0" rtlCol="0" anchor="ctr"/>
          <a:lstStyle/>
          <a:p>
            <a:pPr marL="0" indent="0" algn="ctr">
              <a:buNone/>
            </a:pPr>
            <a:r>
              <a:rPr lang="en-US" sz="1250" b="1" dirty="0">
                <a:solidFill>
                  <a:srgbClr val="1F3B57"/>
                </a:solidFill>
                <a:latin typeface="Arial" pitchFamily="34" charset="0"/>
                <a:ea typeface="Arial" pitchFamily="34" charset="-122"/>
                <a:cs typeface="Arial" pitchFamily="34" charset="-120"/>
              </a:rPr>
              <a:t>الموازنة بين الأمن والتشغيل</a:t>
            </a:r>
            <a:endParaRPr lang="en-US" sz="1250" b="1" dirty="0"/>
          </a:p>
        </p:txBody>
      </p:sp>
      <p:sp>
        <p:nvSpPr>
          <p:cNvPr id="23" name="Text 21"/>
          <p:cNvSpPr txBox="1"/>
          <p:nvPr/>
        </p:nvSpPr>
        <p:spPr>
          <a:xfrm>
            <a:off x="9299448" y="3017520"/>
            <a:ext cx="2478024" cy="914400"/>
          </a:xfrm>
          <a:prstGeom prst="rect">
            <a:avLst/>
          </a:prstGeom>
          <a:noFill/>
          <a:ln/>
        </p:spPr>
        <p:txBody>
          <a:bodyPr wrap="square" lIns="0" tIns="0" rIns="0" bIns="0" rtlCol="0" anchor="t"/>
          <a:lstStyle/>
          <a:p>
            <a:pPr marL="0" indent="0" algn="ctr">
              <a:buNone/>
            </a:pPr>
            <a:r>
              <a:rPr lang="en-US" sz="1000" b="1" dirty="0">
                <a:solidFill>
                  <a:srgbClr val="1F2937"/>
                </a:solidFill>
                <a:latin typeface="Arial" pitchFamily="34" charset="0"/>
                <a:ea typeface="Arial" pitchFamily="34" charset="-122"/>
                <a:cs typeface="Arial" pitchFamily="34" charset="-120"/>
              </a:rPr>
              <a:t>ضمان عدم تعطيل العمليات المصرفية أثناء تطبيق الضوابط الجديدة</a:t>
            </a:r>
            <a:endParaRPr lang="en-US" sz="1000" b="1" dirty="0"/>
          </a:p>
        </p:txBody>
      </p:sp>
      <p:sp>
        <p:nvSpPr>
          <p:cNvPr id="24" name="Text 22"/>
          <p:cNvSpPr txBox="1"/>
          <p:nvPr/>
        </p:nvSpPr>
        <p:spPr>
          <a:xfrm>
            <a:off x="548640" y="4343400"/>
            <a:ext cx="11094415" cy="548640"/>
          </a:xfrm>
          <a:prstGeom prst="rect">
            <a:avLst/>
          </a:prstGeom>
          <a:noFill/>
          <a:ln/>
        </p:spPr>
        <p:txBody>
          <a:bodyPr wrap="square" lIns="0" tIns="0" rIns="0" bIns="0" rtlCol="0" anchor="ctr"/>
          <a:lstStyle/>
          <a:p>
            <a:pPr marL="0" indent="0" algn="ctr">
              <a:buNone/>
            </a:pPr>
            <a:r>
              <a:rPr lang="en-US" sz="1300" b="1" i="1" dirty="0">
                <a:solidFill>
                  <a:srgbClr val="1F3B57"/>
                </a:solidFill>
                <a:latin typeface="Arial" pitchFamily="34" charset="0"/>
                <a:ea typeface="Arial" pitchFamily="34" charset="-122"/>
                <a:cs typeface="Arial" pitchFamily="34" charset="-120"/>
              </a:rPr>
              <a:t>الدرس الأهم: نضج نظام إدارة أمن المعلومات لا يُقاس بعدد الوثائق، بل بمدى ترسّخ الضوابط في السلوك اليومي للمؤسسة.</a:t>
            </a:r>
            <a:endParaRPr lang="en-US" sz="1300" b="1" dirty="0"/>
          </a:p>
        </p:txBody>
      </p:sp>
      <p:sp>
        <p:nvSpPr>
          <p:cNvPr id="25" name="Text 23"/>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b="1" dirty="0"/>
          </a:p>
        </p:txBody>
      </p:sp>
      <p:sp>
        <p:nvSpPr>
          <p:cNvPr id="26" name="Text 24"/>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b="1" dirty="0">
                <a:solidFill>
                  <a:srgbClr val="6B7280"/>
                </a:solidFill>
                <a:latin typeface="Arial" pitchFamily="34" charset="0"/>
                <a:ea typeface="Arial" pitchFamily="34" charset="-122"/>
                <a:cs typeface="Arial" pitchFamily="34" charset="-120"/>
              </a:rPr>
              <a:t>26</a:t>
            </a:r>
            <a:endParaRPr lang="en-US" sz="9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4415" cy="320040"/>
          </a:xfrm>
          <a:prstGeom prst="rect">
            <a:avLst/>
          </a:prstGeom>
          <a:noFill/>
          <a:ln/>
        </p:spPr>
        <p:txBody>
          <a:bodyPr wrap="square" lIns="0" tIns="0" rIns="0" bIns="0" rtlCol="0" anchor="ctr"/>
          <a:lstStyle/>
          <a:p>
            <a:pPr marL="0" indent="0" algn="r">
              <a:buNone/>
            </a:pPr>
            <a:r>
              <a:rPr lang="en-US" sz="1300" b="1" kern="0" spc="100" dirty="0">
                <a:solidFill>
                  <a:srgbClr val="B08D27"/>
                </a:solidFill>
                <a:latin typeface="Arial" pitchFamily="34" charset="0"/>
                <a:ea typeface="Arial" pitchFamily="34" charset="-122"/>
                <a:cs typeface="Arial" pitchFamily="34" charset="-120"/>
              </a:rPr>
              <a:t>التوصيات والخاتمة</a:t>
            </a:r>
            <a:endParaRPr lang="en-US" sz="13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marL="0" indent="0" algn="r">
              <a:buNone/>
            </a:pPr>
            <a:r>
              <a:rPr lang="en-US" sz="2800" b="1" dirty="0">
                <a:solidFill>
                  <a:srgbClr val="1F3B57"/>
                </a:solidFill>
                <a:latin typeface="Arial" pitchFamily="34" charset="0"/>
                <a:ea typeface="Arial" pitchFamily="34" charset="-122"/>
                <a:cs typeface="Arial" pitchFamily="34" charset="-120"/>
              </a:rPr>
              <a:t>الخطوات القادمة نحو الاعتماد الكامل</a:t>
            </a:r>
            <a:endParaRPr lang="en-US" sz="2800" dirty="0"/>
          </a:p>
        </p:txBody>
      </p:sp>
      <p:sp>
        <p:nvSpPr>
          <p:cNvPr id="4" name="Shape 2"/>
          <p:cNvSpPr/>
          <p:nvPr/>
        </p:nvSpPr>
        <p:spPr>
          <a:xfrm>
            <a:off x="548640" y="1691640"/>
            <a:ext cx="11094415" cy="640080"/>
          </a:xfrm>
          <a:prstGeom prst="roundRect">
            <a:avLst>
              <a:gd name="adj" fmla="val 11429"/>
            </a:avLst>
          </a:prstGeom>
          <a:solidFill>
            <a:srgbClr val="FFFFFF"/>
          </a:solidFill>
          <a:ln w="12700">
            <a:solidFill>
              <a:srgbClr val="E3E7EE"/>
            </a:solidFill>
            <a:prstDash val="solid"/>
          </a:ln>
        </p:spPr>
      </p:sp>
      <p:sp>
        <p:nvSpPr>
          <p:cNvPr id="5" name="Shape 3"/>
          <p:cNvSpPr/>
          <p:nvPr/>
        </p:nvSpPr>
        <p:spPr>
          <a:xfrm>
            <a:off x="11231575" y="1783080"/>
            <a:ext cx="457200" cy="457200"/>
          </a:xfrm>
          <a:prstGeom prst="ellipse">
            <a:avLst/>
          </a:prstGeom>
          <a:solidFill>
            <a:srgbClr val="1F3B57"/>
          </a:solidFill>
          <a:ln/>
        </p:spPr>
      </p:sp>
      <p:sp>
        <p:nvSpPr>
          <p:cNvPr id="6" name="Text 4"/>
          <p:cNvSpPr txBox="1"/>
          <p:nvPr/>
        </p:nvSpPr>
        <p:spPr>
          <a:xfrm>
            <a:off x="11231575" y="1783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777240" y="1764792"/>
            <a:ext cx="9997135" cy="502920"/>
          </a:xfrm>
          <a:prstGeom prst="rect">
            <a:avLst/>
          </a:prstGeom>
          <a:noFill/>
          <a:ln/>
        </p:spPr>
        <p:txBody>
          <a:bodyPr wrap="square" lIns="0" tIns="0" rIns="0" bIns="0" rtlCol="0" anchor="ctr"/>
          <a:lstStyle/>
          <a:p>
            <a:pPr marL="0" indent="0" algn="r">
              <a:buNone/>
            </a:pPr>
            <a:r>
              <a:rPr lang="en-US" sz="1300" b="1" dirty="0">
                <a:solidFill>
                  <a:srgbClr val="1F2937"/>
                </a:solidFill>
                <a:latin typeface="Arial" pitchFamily="34" charset="0"/>
                <a:ea typeface="Arial" pitchFamily="34" charset="-122"/>
                <a:cs typeface="Arial" pitchFamily="34" charset="-120"/>
              </a:rPr>
              <a:t>تسريع معالجة الثغرات عالية ومتوسطة الخطورة المتبقية</a:t>
            </a:r>
            <a:endParaRPr lang="en-US" sz="1300" dirty="0"/>
          </a:p>
        </p:txBody>
      </p:sp>
      <p:sp>
        <p:nvSpPr>
          <p:cNvPr id="8" name="Shape 6"/>
          <p:cNvSpPr/>
          <p:nvPr/>
        </p:nvSpPr>
        <p:spPr>
          <a:xfrm>
            <a:off x="548640" y="2468880"/>
            <a:ext cx="11094415" cy="640080"/>
          </a:xfrm>
          <a:prstGeom prst="roundRect">
            <a:avLst>
              <a:gd name="adj" fmla="val 11429"/>
            </a:avLst>
          </a:prstGeom>
          <a:solidFill>
            <a:srgbClr val="FFFFFF"/>
          </a:solidFill>
          <a:ln w="12700">
            <a:solidFill>
              <a:srgbClr val="E3E7EE"/>
            </a:solidFill>
            <a:prstDash val="solid"/>
          </a:ln>
        </p:spPr>
      </p:sp>
      <p:sp>
        <p:nvSpPr>
          <p:cNvPr id="9" name="Shape 7"/>
          <p:cNvSpPr/>
          <p:nvPr/>
        </p:nvSpPr>
        <p:spPr>
          <a:xfrm>
            <a:off x="11231575" y="2560320"/>
            <a:ext cx="457200" cy="457200"/>
          </a:xfrm>
          <a:prstGeom prst="ellipse">
            <a:avLst/>
          </a:prstGeom>
          <a:solidFill>
            <a:srgbClr val="1F3B57"/>
          </a:solidFill>
          <a:ln/>
        </p:spPr>
      </p:sp>
      <p:sp>
        <p:nvSpPr>
          <p:cNvPr id="10" name="Text 8"/>
          <p:cNvSpPr txBox="1"/>
          <p:nvPr/>
        </p:nvSpPr>
        <p:spPr>
          <a:xfrm>
            <a:off x="11231575" y="2560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777240" y="2542032"/>
            <a:ext cx="9997135" cy="502920"/>
          </a:xfrm>
          <a:prstGeom prst="rect">
            <a:avLst/>
          </a:prstGeom>
          <a:noFill/>
          <a:ln/>
        </p:spPr>
        <p:txBody>
          <a:bodyPr wrap="square" lIns="0" tIns="0" rIns="0" bIns="0" rtlCol="0" anchor="ctr"/>
          <a:lstStyle/>
          <a:p>
            <a:pPr marL="0" indent="0" algn="r">
              <a:buNone/>
            </a:pPr>
            <a:r>
              <a:rPr lang="en-US" sz="1300" b="1" dirty="0">
                <a:solidFill>
                  <a:srgbClr val="1F2937"/>
                </a:solidFill>
                <a:latin typeface="Arial" pitchFamily="34" charset="0"/>
                <a:ea typeface="Arial" pitchFamily="34" charset="-122"/>
                <a:cs typeface="Arial" pitchFamily="34" charset="-120"/>
              </a:rPr>
              <a:t>إطلاق حملة توعية مكثفة موجهة للإدارات الأعلى خطورة</a:t>
            </a:r>
            <a:endParaRPr lang="en-US" sz="1300" dirty="0"/>
          </a:p>
        </p:txBody>
      </p:sp>
      <p:sp>
        <p:nvSpPr>
          <p:cNvPr id="12" name="Shape 10"/>
          <p:cNvSpPr/>
          <p:nvPr/>
        </p:nvSpPr>
        <p:spPr>
          <a:xfrm>
            <a:off x="548640" y="3246120"/>
            <a:ext cx="11094415" cy="640080"/>
          </a:xfrm>
          <a:prstGeom prst="roundRect">
            <a:avLst>
              <a:gd name="adj" fmla="val 11429"/>
            </a:avLst>
          </a:prstGeom>
          <a:solidFill>
            <a:srgbClr val="FFFFFF"/>
          </a:solidFill>
          <a:ln w="12700">
            <a:solidFill>
              <a:srgbClr val="E3E7EE"/>
            </a:solidFill>
            <a:prstDash val="solid"/>
          </a:ln>
        </p:spPr>
      </p:sp>
      <p:sp>
        <p:nvSpPr>
          <p:cNvPr id="13" name="Shape 11"/>
          <p:cNvSpPr/>
          <p:nvPr/>
        </p:nvSpPr>
        <p:spPr>
          <a:xfrm>
            <a:off x="11231575" y="3337560"/>
            <a:ext cx="457200" cy="457200"/>
          </a:xfrm>
          <a:prstGeom prst="ellipse">
            <a:avLst/>
          </a:prstGeom>
          <a:solidFill>
            <a:srgbClr val="1F3B57"/>
          </a:solidFill>
          <a:ln/>
        </p:spPr>
      </p:sp>
      <p:sp>
        <p:nvSpPr>
          <p:cNvPr id="14" name="Text 12"/>
          <p:cNvSpPr txBox="1"/>
          <p:nvPr/>
        </p:nvSpPr>
        <p:spPr>
          <a:xfrm>
            <a:off x="11231575" y="3337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777240" y="3319272"/>
            <a:ext cx="9997135" cy="502920"/>
          </a:xfrm>
          <a:prstGeom prst="rect">
            <a:avLst/>
          </a:prstGeom>
          <a:noFill/>
          <a:ln/>
        </p:spPr>
        <p:txBody>
          <a:bodyPr wrap="square" lIns="0" tIns="0" rIns="0" bIns="0" rtlCol="0" anchor="ctr"/>
          <a:lstStyle/>
          <a:p>
            <a:pPr marL="0" indent="0" algn="r">
              <a:buNone/>
            </a:pPr>
            <a:r>
              <a:rPr lang="en-US" sz="1300" b="1" dirty="0">
                <a:solidFill>
                  <a:srgbClr val="1F2937"/>
                </a:solidFill>
                <a:latin typeface="Arial" pitchFamily="34" charset="0"/>
                <a:ea typeface="Arial" pitchFamily="34" charset="-122"/>
                <a:cs typeface="Arial" pitchFamily="34" charset="-120"/>
              </a:rPr>
              <a:t>استكمال السياسات الناقصة (الحوسبة السحابية، حذف المعلومات، مزامنة الساعة)</a:t>
            </a:r>
            <a:endParaRPr lang="en-US" sz="1300" dirty="0"/>
          </a:p>
        </p:txBody>
      </p:sp>
      <p:sp>
        <p:nvSpPr>
          <p:cNvPr id="16" name="Shape 14"/>
          <p:cNvSpPr/>
          <p:nvPr/>
        </p:nvSpPr>
        <p:spPr>
          <a:xfrm>
            <a:off x="548640" y="4023360"/>
            <a:ext cx="11094415" cy="640080"/>
          </a:xfrm>
          <a:prstGeom prst="roundRect">
            <a:avLst>
              <a:gd name="adj" fmla="val 11429"/>
            </a:avLst>
          </a:prstGeom>
          <a:solidFill>
            <a:srgbClr val="FFFFFF"/>
          </a:solidFill>
          <a:ln w="12700">
            <a:solidFill>
              <a:srgbClr val="E3E7EE"/>
            </a:solidFill>
            <a:prstDash val="solid"/>
          </a:ln>
        </p:spPr>
      </p:sp>
      <p:sp>
        <p:nvSpPr>
          <p:cNvPr id="17" name="Shape 15"/>
          <p:cNvSpPr/>
          <p:nvPr/>
        </p:nvSpPr>
        <p:spPr>
          <a:xfrm>
            <a:off x="11231575" y="4114800"/>
            <a:ext cx="457200" cy="457200"/>
          </a:xfrm>
          <a:prstGeom prst="ellipse">
            <a:avLst/>
          </a:prstGeom>
          <a:solidFill>
            <a:srgbClr val="1F3B57"/>
          </a:solidFill>
          <a:ln/>
        </p:spPr>
      </p:sp>
      <p:sp>
        <p:nvSpPr>
          <p:cNvPr id="18" name="Text 16"/>
          <p:cNvSpPr txBox="1"/>
          <p:nvPr/>
        </p:nvSpPr>
        <p:spPr>
          <a:xfrm>
            <a:off x="11231575" y="4114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777240" y="4096512"/>
            <a:ext cx="9997135" cy="502920"/>
          </a:xfrm>
          <a:prstGeom prst="rect">
            <a:avLst/>
          </a:prstGeom>
          <a:noFill/>
          <a:ln/>
        </p:spPr>
        <p:txBody>
          <a:bodyPr wrap="square" lIns="0" tIns="0" rIns="0" bIns="0" rtlCol="0" anchor="ctr"/>
          <a:lstStyle/>
          <a:p>
            <a:pPr marL="0" indent="0" algn="r">
              <a:buNone/>
            </a:pPr>
            <a:r>
              <a:rPr lang="en-US" sz="1300" b="1" dirty="0">
                <a:solidFill>
                  <a:srgbClr val="1F2937"/>
                </a:solidFill>
                <a:latin typeface="Arial" pitchFamily="34" charset="0"/>
                <a:ea typeface="Arial" pitchFamily="34" charset="-122"/>
                <a:cs typeface="Arial" pitchFamily="34" charset="-120"/>
              </a:rPr>
              <a:t>تنفيذ تدقيق داخلي متابعة خلال 90 يوماً والتحقق من إغلاق الملاحظات</a:t>
            </a:r>
            <a:endParaRPr lang="en-US" sz="1300" dirty="0"/>
          </a:p>
        </p:txBody>
      </p:sp>
      <p:sp>
        <p:nvSpPr>
          <p:cNvPr id="20" name="Shape 18"/>
          <p:cNvSpPr/>
          <p:nvPr/>
        </p:nvSpPr>
        <p:spPr>
          <a:xfrm>
            <a:off x="548640" y="4800600"/>
            <a:ext cx="11094415" cy="640080"/>
          </a:xfrm>
          <a:prstGeom prst="roundRect">
            <a:avLst>
              <a:gd name="adj" fmla="val 11429"/>
            </a:avLst>
          </a:prstGeom>
          <a:solidFill>
            <a:srgbClr val="FFFFFF"/>
          </a:solidFill>
          <a:ln w="12700">
            <a:solidFill>
              <a:srgbClr val="E3E7EE"/>
            </a:solidFill>
            <a:prstDash val="solid"/>
          </a:ln>
        </p:spPr>
      </p:sp>
      <p:sp>
        <p:nvSpPr>
          <p:cNvPr id="21" name="Shape 19"/>
          <p:cNvSpPr/>
          <p:nvPr/>
        </p:nvSpPr>
        <p:spPr>
          <a:xfrm>
            <a:off x="11231575" y="4892040"/>
            <a:ext cx="457200" cy="457200"/>
          </a:xfrm>
          <a:prstGeom prst="ellipse">
            <a:avLst/>
          </a:prstGeom>
          <a:solidFill>
            <a:srgbClr val="1F3B57"/>
          </a:solidFill>
          <a:ln/>
        </p:spPr>
      </p:sp>
      <p:sp>
        <p:nvSpPr>
          <p:cNvPr id="22" name="Text 20"/>
          <p:cNvSpPr txBox="1"/>
          <p:nvPr/>
        </p:nvSpPr>
        <p:spPr>
          <a:xfrm>
            <a:off x="11231575" y="4892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txBox="1"/>
          <p:nvPr/>
        </p:nvSpPr>
        <p:spPr>
          <a:xfrm>
            <a:off x="777240" y="4873752"/>
            <a:ext cx="9997135" cy="502920"/>
          </a:xfrm>
          <a:prstGeom prst="rect">
            <a:avLst/>
          </a:prstGeom>
          <a:noFill/>
          <a:ln/>
        </p:spPr>
        <p:txBody>
          <a:bodyPr wrap="square" lIns="0" tIns="0" rIns="0" bIns="0" rtlCol="0" anchor="ctr"/>
          <a:lstStyle/>
          <a:p>
            <a:pPr marL="0" indent="0" algn="r">
              <a:buNone/>
            </a:pPr>
            <a:r>
              <a:rPr lang="en-US" sz="1300" b="1" dirty="0">
                <a:solidFill>
                  <a:srgbClr val="1F2937"/>
                </a:solidFill>
                <a:latin typeface="Arial" pitchFamily="34" charset="0"/>
                <a:ea typeface="Arial" pitchFamily="34" charset="-122"/>
                <a:cs typeface="Arial" pitchFamily="34" charset="-120"/>
              </a:rPr>
              <a:t>توثيق اجتماع مراجعة إدارة رسمي قبل التقدم لتدقيق الاعتماد الخارجي</a:t>
            </a:r>
            <a:endParaRPr lang="en-US" sz="1300" dirty="0"/>
          </a:p>
        </p:txBody>
      </p:sp>
      <p:sp>
        <p:nvSpPr>
          <p:cNvPr id="24" name="Text 22"/>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25" name="Text 23"/>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27</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63B"/>
        </a:solidFill>
        <a:effectLst/>
      </p:bgPr>
    </p:bg>
    <p:spTree>
      <p:nvGrpSpPr>
        <p:cNvPr id="1" name=""/>
        <p:cNvGrpSpPr/>
        <p:nvPr/>
      </p:nvGrpSpPr>
      <p:grpSpPr>
        <a:xfrm>
          <a:off x="0" y="0"/>
          <a:ext cx="0" cy="0"/>
          <a:chOff x="0" y="0"/>
          <a:chExt cx="0" cy="0"/>
        </a:xfrm>
      </p:grpSpPr>
      <p:sp>
        <p:nvSpPr>
          <p:cNvPr id="2" name="Shape 0"/>
          <p:cNvSpPr/>
          <p:nvPr/>
        </p:nvSpPr>
        <p:spPr>
          <a:xfrm>
            <a:off x="9448495" y="-1371600"/>
            <a:ext cx="3840480" cy="3840480"/>
          </a:xfrm>
          <a:prstGeom prst="ellipse">
            <a:avLst/>
          </a:prstGeom>
          <a:solidFill>
            <a:srgbClr val="1F3B57"/>
          </a:solidFill>
          <a:ln/>
        </p:spPr>
      </p:sp>
      <p:sp>
        <p:nvSpPr>
          <p:cNvPr id="3" name="Shape 1"/>
          <p:cNvSpPr/>
          <p:nvPr/>
        </p:nvSpPr>
        <p:spPr>
          <a:xfrm>
            <a:off x="-1463040" y="4663440"/>
            <a:ext cx="3474720" cy="3474720"/>
          </a:xfrm>
          <a:prstGeom prst="ellipse">
            <a:avLst/>
          </a:prstGeom>
          <a:solidFill>
            <a:srgbClr val="1F3B57"/>
          </a:solidFill>
          <a:ln/>
        </p:spPr>
      </p:sp>
      <p:sp>
        <p:nvSpPr>
          <p:cNvPr id="4" name="Text 2"/>
          <p:cNvSpPr txBox="1"/>
          <p:nvPr/>
        </p:nvSpPr>
        <p:spPr>
          <a:xfrm>
            <a:off x="914400" y="2103120"/>
            <a:ext cx="10362895"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شكراً لحسن استماعكم</a:t>
            </a:r>
            <a:endParaRPr lang="en-US" sz="4000" dirty="0"/>
          </a:p>
        </p:txBody>
      </p:sp>
      <p:sp>
        <p:nvSpPr>
          <p:cNvPr id="5" name="Text 3"/>
          <p:cNvSpPr txBox="1"/>
          <p:nvPr/>
        </p:nvSpPr>
        <p:spPr>
          <a:xfrm>
            <a:off x="914400" y="3017520"/>
            <a:ext cx="10362895" cy="548640"/>
          </a:xfrm>
          <a:prstGeom prst="rect">
            <a:avLst/>
          </a:prstGeom>
          <a:noFill/>
          <a:ln/>
        </p:spPr>
        <p:txBody>
          <a:bodyPr wrap="square" lIns="0" tIns="0" rIns="0" bIns="0" rtlCol="0" anchor="ctr"/>
          <a:lstStyle/>
          <a:p>
            <a:pPr marL="0" indent="0" algn="ctr">
              <a:buNone/>
            </a:pPr>
            <a:r>
              <a:rPr lang="en-US" sz="1800" dirty="0">
                <a:solidFill>
                  <a:srgbClr val="D9BE6E"/>
                </a:solidFill>
                <a:latin typeface="Arial" pitchFamily="34" charset="0"/>
                <a:ea typeface="Arial" pitchFamily="34" charset="-122"/>
                <a:cs typeface="Arial" pitchFamily="34" charset="-120"/>
              </a:rPr>
              <a:t>الأسئلة والنقاش</a:t>
            </a:r>
            <a:endParaRPr lang="en-US" sz="1800" dirty="0"/>
          </a:p>
        </p:txBody>
      </p:sp>
      <p:sp>
        <p:nvSpPr>
          <p:cNvPr id="6" name="Shape 4"/>
          <p:cNvSpPr/>
          <p:nvPr/>
        </p:nvSpPr>
        <p:spPr>
          <a:xfrm>
            <a:off x="4724248" y="3794760"/>
            <a:ext cx="2743200" cy="0"/>
          </a:xfrm>
          <a:prstGeom prst="line">
            <a:avLst/>
          </a:prstGeom>
          <a:noFill/>
          <a:ln w="19050">
            <a:solidFill>
              <a:srgbClr val="B08D27"/>
            </a:solidFill>
            <a:prstDash val="solid"/>
          </a:ln>
        </p:spPr>
      </p:sp>
      <p:sp>
        <p:nvSpPr>
          <p:cNvPr id="7" name="Text 5"/>
          <p:cNvSpPr txBox="1"/>
          <p:nvPr/>
        </p:nvSpPr>
        <p:spPr>
          <a:xfrm>
            <a:off x="457200" y="4114800"/>
            <a:ext cx="11277295" cy="45720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محمد عبدالله السوادي   •   أسامة الصامت   •   محمد نبيل   •   همام أسعد   •   محمد الدعوس</a:t>
            </a:r>
            <a:endParaRPr lang="en-US" sz="1400" dirty="0"/>
          </a:p>
        </p:txBody>
      </p:sp>
      <p:sp>
        <p:nvSpPr>
          <p:cNvPr id="8" name="Text 6"/>
          <p:cNvSpPr txBox="1"/>
          <p:nvPr/>
        </p:nvSpPr>
        <p:spPr>
          <a:xfrm>
            <a:off x="914400" y="4617720"/>
            <a:ext cx="10362895" cy="365760"/>
          </a:xfrm>
          <a:prstGeom prst="rect">
            <a:avLst/>
          </a:prstGeom>
          <a:noFill/>
          <a:ln/>
        </p:spPr>
        <p:txBody>
          <a:bodyPr wrap="square" lIns="0" tIns="0" rIns="0" bIns="0" rtlCol="0" anchor="ctr"/>
          <a:lstStyle/>
          <a:p>
            <a:pPr marL="0" indent="0" algn="ctr">
              <a:buNone/>
            </a:pPr>
            <a:r>
              <a:rPr lang="en-US" sz="1400" b="1" dirty="0">
                <a:solidFill>
                  <a:srgbClr val="B08D27"/>
                </a:solidFill>
                <a:latin typeface="Arial" pitchFamily="34" charset="0"/>
                <a:ea typeface="Arial" pitchFamily="34" charset="-122"/>
                <a:cs typeface="Arial" pitchFamily="34" charset="-120"/>
              </a:rPr>
              <a:t>تحت إشراف: الدكتور أيمن العنسي</a:t>
            </a:r>
            <a:endParaRPr lang="en-US" sz="1400" dirty="0"/>
          </a:p>
        </p:txBody>
      </p:sp>
      <p:sp>
        <p:nvSpPr>
          <p:cNvPr id="9" name="Text 7"/>
          <p:cNvSpPr txBox="1"/>
          <p:nvPr/>
        </p:nvSpPr>
        <p:spPr>
          <a:xfrm>
            <a:off x="457200" y="6473952"/>
            <a:ext cx="7772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بنك الآفاق الرقمية  |  نظام إدارة أمن المعلومات ISO/IEC 27001:2022</a:t>
            </a:r>
            <a:endParaRPr lang="en-US" sz="900" dirty="0"/>
          </a:p>
        </p:txBody>
      </p:sp>
      <p:sp>
        <p:nvSpPr>
          <p:cNvPr id="10" name="Text 8"/>
          <p:cNvSpPr txBox="1"/>
          <p:nvPr/>
        </p:nvSpPr>
        <p:spPr>
          <a:xfrm>
            <a:off x="11277295" y="6473952"/>
            <a:ext cx="457200" cy="274320"/>
          </a:xfrm>
          <a:prstGeom prst="rect">
            <a:avLst/>
          </a:prstGeom>
          <a:noFill/>
          <a:ln/>
        </p:spPr>
        <p:txBody>
          <a:bodyPr wrap="square" lIns="0" tIns="0" rIns="0" bIns="0" rtlCol="0" anchor="ctr"/>
          <a:lstStyle/>
          <a:p>
            <a:pPr marL="0" indent="0" algn="l">
              <a:buNone/>
            </a:pPr>
            <a:r>
              <a:rPr lang="en-US" sz="900" dirty="0">
                <a:solidFill>
                  <a:srgbClr val="6B7280"/>
                </a:solidFill>
                <a:latin typeface="Arial" pitchFamily="34" charset="0"/>
                <a:ea typeface="Arial" pitchFamily="34" charset="-122"/>
                <a:cs typeface="Arial" pitchFamily="34" charset="-120"/>
              </a:rPr>
              <a:t>28</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2556</Words>
  <Application>Microsoft Office PowerPoint</Application>
  <PresentationFormat>شاشة عريضة</PresentationFormat>
  <Paragraphs>550</Paragraphs>
  <Slides>29</Slides>
  <Notes>29</Notes>
  <HiddenSlides>0</HiddenSlides>
  <MMClips>0</MMClips>
  <ScaleCrop>false</ScaleCrop>
  <HeadingPairs>
    <vt:vector size="6" baseType="variant">
      <vt:variant>
        <vt:lpstr>الخطوط المستخدمة</vt:lpstr>
      </vt:variant>
      <vt:variant>
        <vt:i4>1</vt:i4>
      </vt:variant>
      <vt:variant>
        <vt:lpstr>نسق</vt:lpstr>
      </vt:variant>
      <vt:variant>
        <vt:i4>1</vt:i4>
      </vt:variant>
      <vt:variant>
        <vt:lpstr>عناوين الشرائح</vt:lpstr>
      </vt:variant>
      <vt:variant>
        <vt:i4>29</vt:i4>
      </vt:variant>
    </vt:vector>
  </HeadingPairs>
  <TitlesOfParts>
    <vt:vector size="31" baseType="lpstr">
      <vt:lpstr>Arial</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cp:lastModifiedBy>
  <cp:revision>3</cp:revision>
  <dcterms:created xsi:type="dcterms:W3CDTF">2026-09-13T21:56:54Z</dcterms:created>
  <dcterms:modified xsi:type="dcterms:W3CDTF">2026-09-14T09:11:34Z</dcterms:modified>
</cp:coreProperties>
</file>